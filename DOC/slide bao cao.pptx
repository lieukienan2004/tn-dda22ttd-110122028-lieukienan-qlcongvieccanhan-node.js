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7"/>
  </p:notesMasterIdLst>
  <p:sldIdLst>
    <p:sldId id="303" r:id="rId2"/>
    <p:sldId id="257" r:id="rId3"/>
    <p:sldId id="272" r:id="rId4"/>
    <p:sldId id="304" r:id="rId5"/>
    <p:sldId id="274" r:id="rId6"/>
    <p:sldId id="297" r:id="rId7"/>
    <p:sldId id="259" r:id="rId8"/>
    <p:sldId id="264" r:id="rId9"/>
    <p:sldId id="298" r:id="rId10"/>
    <p:sldId id="284" r:id="rId11"/>
    <p:sldId id="299" r:id="rId12"/>
    <p:sldId id="300" r:id="rId13"/>
    <p:sldId id="301" r:id="rId14"/>
    <p:sldId id="302" r:id="rId15"/>
    <p:sldId id="268" r:id="rId16"/>
  </p:sldIdLst>
  <p:sldSz cx="18288000" cy="10287000"/>
  <p:notesSz cx="6858000" cy="9144000"/>
  <p:embeddedFontLst>
    <p:embeddedFont>
      <p:font typeface="Anton" pitchFamily="2" charset="0"/>
      <p:regular r:id="rId18"/>
    </p:embeddedFont>
    <p:embeddedFont>
      <p:font typeface="Arial Bold" panose="020B0704020202020204" pitchFamily="34" charset="0"/>
      <p:bold r:id="rId19"/>
    </p:embeddedFont>
    <p:embeddedFont>
      <p:font typeface="Cabin Semi-Bold" panose="020B0604020202020204" charset="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3240">
          <p15:clr>
            <a:srgbClr val="A4A3A4"/>
          </p15:clr>
        </p15:guide>
        <p15:guide id="4" pos="5760">
          <p15:clr>
            <a:srgbClr val="A4A3A4"/>
          </p15:clr>
        </p15:guide>
        <p15:guide id="5" pos="192">
          <p15:clr>
            <a:srgbClr val="A4A3A4"/>
          </p15:clr>
        </p15:guide>
        <p15:guide id="6" pos="1132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76545" autoAdjust="0"/>
  </p:normalViewPr>
  <p:slideViewPr>
    <p:cSldViewPr>
      <p:cViewPr varScale="1">
        <p:scale>
          <a:sx n="57" d="100"/>
          <a:sy n="57" d="100"/>
        </p:scale>
        <p:origin x="1554" y="102"/>
      </p:cViewPr>
      <p:guideLst>
        <p:guide orient="horz" pos="2160"/>
        <p:guide pos="2880"/>
        <p:guide orient="horz" pos="3240"/>
        <p:guide pos="5760"/>
        <p:guide pos="192"/>
        <p:guide pos="11328"/>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3:11:14.030"/>
    </inkml:context>
    <inkml:brush xml:id="br0">
      <inkml:brushProperty name="width" value="0.05" units="cm"/>
      <inkml:brushProperty name="height" value="0.05" units="cm"/>
      <inkml:brushProperty name="color" value="#AE198D"/>
      <inkml:brushProperty name="inkEffects" value="galaxy"/>
      <inkml:brushProperty name="anchorX" value="-1270"/>
      <inkml:brushProperty name="anchorY" value="-1270"/>
      <inkml:brushProperty name="scaleFactor" value="0.5"/>
    </inkml:brush>
  </inkml:definitions>
  <inkml:trace contextRef="#ctx0" brushRef="#br0">0 1 24575,'0'0'0,"7"0"0,2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02912E-00AE-4786-AC6F-4A1B66F33840}" type="datetimeFigureOut">
              <a:rPr lang="vi-VN" smtClean="0"/>
              <a:t>29/06/2026</a:t>
            </a:fld>
            <a:endParaRPr lang="vi-V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45001A3-7A71-4A49-9F67-C8CCD4B362B2}" type="slidenum">
              <a:rPr lang="vi-VN" smtClean="0"/>
              <a:t>‹#›</a:t>
            </a:fld>
            <a:endParaRPr lang="vi-VN"/>
          </a:p>
        </p:txBody>
      </p:sp>
    </p:spTree>
    <p:extLst>
      <p:ext uri="{BB962C8B-B14F-4D97-AF65-F5344CB8AC3E}">
        <p14:creationId xmlns:p14="http://schemas.microsoft.com/office/powerpoint/2010/main" val="31776656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sz="1400" dirty="0"/>
          </a:p>
        </p:txBody>
      </p:sp>
      <p:sp>
        <p:nvSpPr>
          <p:cNvPr id="4" name="Slide Number Placeholder 3"/>
          <p:cNvSpPr>
            <a:spLocks noGrp="1"/>
          </p:cNvSpPr>
          <p:nvPr>
            <p:ph type="sldNum" sz="quarter" idx="10"/>
          </p:nvPr>
        </p:nvSpPr>
        <p:spPr/>
        <p:txBody>
          <a:bodyPr/>
          <a:lstStyle/>
          <a:p>
            <a:fld id="{645001A3-7A71-4A49-9F67-C8CCD4B362B2}" type="slidenum">
              <a:rPr lang="vi-VN" smtClean="0"/>
              <a:t>2</a:t>
            </a:fld>
            <a:endParaRPr lang="vi-VN"/>
          </a:p>
        </p:txBody>
      </p:sp>
    </p:spTree>
    <p:extLst>
      <p:ext uri="{BB962C8B-B14F-4D97-AF65-F5344CB8AC3E}">
        <p14:creationId xmlns:p14="http://schemas.microsoft.com/office/powerpoint/2010/main" val="1570313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b="0" dirty="0"/>
          </a:p>
        </p:txBody>
      </p:sp>
      <p:sp>
        <p:nvSpPr>
          <p:cNvPr id="4" name="Slide Number Placeholder 3"/>
          <p:cNvSpPr>
            <a:spLocks noGrp="1"/>
          </p:cNvSpPr>
          <p:nvPr>
            <p:ph type="sldNum" sz="quarter" idx="10"/>
          </p:nvPr>
        </p:nvSpPr>
        <p:spPr/>
        <p:txBody>
          <a:bodyPr/>
          <a:lstStyle/>
          <a:p>
            <a:fld id="{645001A3-7A71-4A49-9F67-C8CCD4B362B2}" type="slidenum">
              <a:rPr lang="vi-VN" smtClean="0"/>
              <a:t>3</a:t>
            </a:fld>
            <a:endParaRPr lang="vi-VN"/>
          </a:p>
        </p:txBody>
      </p:sp>
    </p:spTree>
    <p:extLst>
      <p:ext uri="{BB962C8B-B14F-4D97-AF65-F5344CB8AC3E}">
        <p14:creationId xmlns:p14="http://schemas.microsoft.com/office/powerpoint/2010/main" val="16449383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45001A3-7A71-4A49-9F67-C8CCD4B362B2}" type="slidenum">
              <a:rPr lang="vi-VN" smtClean="0"/>
              <a:t>4</a:t>
            </a:fld>
            <a:endParaRPr lang="vi-VN"/>
          </a:p>
        </p:txBody>
      </p:sp>
    </p:spTree>
    <p:extLst>
      <p:ext uri="{BB962C8B-B14F-4D97-AF65-F5344CB8AC3E}">
        <p14:creationId xmlns:p14="http://schemas.microsoft.com/office/powerpoint/2010/main" val="10905518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645001A3-7A71-4A49-9F67-C8CCD4B362B2}" type="slidenum">
              <a:rPr lang="vi-VN" smtClean="0"/>
              <a:t>5</a:t>
            </a:fld>
            <a:endParaRPr lang="vi-VN"/>
          </a:p>
        </p:txBody>
      </p:sp>
    </p:spTree>
    <p:extLst>
      <p:ext uri="{BB962C8B-B14F-4D97-AF65-F5344CB8AC3E}">
        <p14:creationId xmlns:p14="http://schemas.microsoft.com/office/powerpoint/2010/main" val="9153118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645001A3-7A71-4A49-9F67-C8CCD4B362B2}" type="slidenum">
              <a:rPr lang="vi-VN" smtClean="0"/>
              <a:t>6</a:t>
            </a:fld>
            <a:endParaRPr lang="vi-VN"/>
          </a:p>
        </p:txBody>
      </p:sp>
    </p:spTree>
    <p:extLst>
      <p:ext uri="{BB962C8B-B14F-4D97-AF65-F5344CB8AC3E}">
        <p14:creationId xmlns:p14="http://schemas.microsoft.com/office/powerpoint/2010/main" val="16449383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645001A3-7A71-4A49-9F67-C8CCD4B362B2}" type="slidenum">
              <a:rPr lang="vi-VN" smtClean="0"/>
              <a:t>7</a:t>
            </a:fld>
            <a:endParaRPr lang="vi-VN"/>
          </a:p>
        </p:txBody>
      </p:sp>
    </p:spTree>
    <p:extLst>
      <p:ext uri="{BB962C8B-B14F-4D97-AF65-F5344CB8AC3E}">
        <p14:creationId xmlns:p14="http://schemas.microsoft.com/office/powerpoint/2010/main" val="2219498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645001A3-7A71-4A49-9F67-C8CCD4B362B2}" type="slidenum">
              <a:rPr lang="vi-VN" smtClean="0"/>
              <a:t>8</a:t>
            </a:fld>
            <a:endParaRPr lang="vi-VN"/>
          </a:p>
        </p:txBody>
      </p:sp>
    </p:spTree>
    <p:extLst>
      <p:ext uri="{BB962C8B-B14F-4D97-AF65-F5344CB8AC3E}">
        <p14:creationId xmlns:p14="http://schemas.microsoft.com/office/powerpoint/2010/main" val="4571801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645001A3-7A71-4A49-9F67-C8CCD4B362B2}" type="slidenum">
              <a:rPr lang="vi-VN" smtClean="0"/>
              <a:t>9</a:t>
            </a:fld>
            <a:endParaRPr lang="vi-VN"/>
          </a:p>
        </p:txBody>
      </p:sp>
    </p:spTree>
    <p:extLst>
      <p:ext uri="{BB962C8B-B14F-4D97-AF65-F5344CB8AC3E}">
        <p14:creationId xmlns:p14="http://schemas.microsoft.com/office/powerpoint/2010/main" val="4571801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645001A3-7A71-4A49-9F67-C8CCD4B362B2}" type="slidenum">
              <a:rPr lang="vi-VN" smtClean="0"/>
              <a:t>10</a:t>
            </a:fld>
            <a:endParaRPr lang="vi-VN"/>
          </a:p>
        </p:txBody>
      </p:sp>
    </p:spTree>
    <p:extLst>
      <p:ext uri="{BB962C8B-B14F-4D97-AF65-F5344CB8AC3E}">
        <p14:creationId xmlns:p14="http://schemas.microsoft.com/office/powerpoint/2010/main" val="39279163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645001A3-7A71-4A49-9F67-C8CCD4B362B2}" type="slidenum">
              <a:rPr lang="vi-VN" smtClean="0"/>
              <a:t>11</a:t>
            </a:fld>
            <a:endParaRPr lang="vi-VN"/>
          </a:p>
        </p:txBody>
      </p:sp>
    </p:spTree>
    <p:extLst>
      <p:ext uri="{BB962C8B-B14F-4D97-AF65-F5344CB8AC3E}">
        <p14:creationId xmlns:p14="http://schemas.microsoft.com/office/powerpoint/2010/main" val="39279163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645001A3-7A71-4A49-9F67-C8CCD4B362B2}" type="slidenum">
              <a:rPr lang="vi-VN" smtClean="0"/>
              <a:t>12</a:t>
            </a:fld>
            <a:endParaRPr lang="vi-VN"/>
          </a:p>
        </p:txBody>
      </p:sp>
    </p:spTree>
    <p:extLst>
      <p:ext uri="{BB962C8B-B14F-4D97-AF65-F5344CB8AC3E}">
        <p14:creationId xmlns:p14="http://schemas.microsoft.com/office/powerpoint/2010/main" val="39279163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645001A3-7A71-4A49-9F67-C8CCD4B362B2}" type="slidenum">
              <a:rPr lang="vi-VN" smtClean="0"/>
              <a:t>13</a:t>
            </a:fld>
            <a:endParaRPr lang="vi-VN"/>
          </a:p>
        </p:txBody>
      </p:sp>
    </p:spTree>
    <p:extLst>
      <p:ext uri="{BB962C8B-B14F-4D97-AF65-F5344CB8AC3E}">
        <p14:creationId xmlns:p14="http://schemas.microsoft.com/office/powerpoint/2010/main" val="39279163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645001A3-7A71-4A49-9F67-C8CCD4B362B2}" type="slidenum">
              <a:rPr lang="vi-VN" smtClean="0"/>
              <a:t>14</a:t>
            </a:fld>
            <a:endParaRPr lang="vi-VN"/>
          </a:p>
        </p:txBody>
      </p:sp>
    </p:spTree>
    <p:extLst>
      <p:ext uri="{BB962C8B-B14F-4D97-AF65-F5344CB8AC3E}">
        <p14:creationId xmlns:p14="http://schemas.microsoft.com/office/powerpoint/2010/main" val="42508181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645001A3-7A71-4A49-9F67-C8CCD4B362B2}" type="slidenum">
              <a:rPr lang="vi-VN" smtClean="0"/>
              <a:t>15</a:t>
            </a:fld>
            <a:endParaRPr lang="vi-VN"/>
          </a:p>
        </p:txBody>
      </p:sp>
    </p:spTree>
    <p:extLst>
      <p:ext uri="{BB962C8B-B14F-4D97-AF65-F5344CB8AC3E}">
        <p14:creationId xmlns:p14="http://schemas.microsoft.com/office/powerpoint/2010/main" val="37460833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customXml" Target="../ink/ink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slides/_rels/slide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6.sv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6.sv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6.sv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6.sv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25.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28.pn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31.png"/><Relationship Id="rId4" Type="http://schemas.openxmlformats.org/officeDocument/2006/relationships/image" Target="../media/image30.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19F9E40B-DC44-55C9-050D-12C2787D6EAE}"/>
              </a:ext>
            </a:extLst>
          </p:cNvPr>
          <p:cNvSpPr/>
          <p:nvPr/>
        </p:nvSpPr>
        <p:spPr>
          <a:xfrm>
            <a:off x="-640474" y="6452528"/>
            <a:ext cx="18928474" cy="5418276"/>
          </a:xfrm>
          <a:custGeom>
            <a:avLst/>
            <a:gdLst/>
            <a:ahLst/>
            <a:cxnLst/>
            <a:rect l="l" t="t" r="r" b="b"/>
            <a:pathLst>
              <a:path w="18928474" h="5418276">
                <a:moveTo>
                  <a:pt x="0" y="0"/>
                </a:moveTo>
                <a:lnTo>
                  <a:pt x="18928474" y="0"/>
                </a:lnTo>
                <a:lnTo>
                  <a:pt x="18928474" y="5418276"/>
                </a:lnTo>
                <a:lnTo>
                  <a:pt x="0" y="5418276"/>
                </a:lnTo>
                <a:lnTo>
                  <a:pt x="0" y="0"/>
                </a:lnTo>
                <a:close/>
              </a:path>
            </a:pathLst>
          </a:custGeom>
          <a:blipFill>
            <a:blip r:embed="rId2">
              <a:alphaModFix amt="7999"/>
              <a:extLst>
                <a:ext uri="{96DAC541-7B7A-43D3-8B79-37D633B846F1}">
                  <asvg:svgBlip xmlns:asvg="http://schemas.microsoft.com/office/drawing/2016/SVG/main" r:embed="rId3"/>
                </a:ext>
              </a:extLst>
            </a:blip>
            <a:stretch>
              <a:fillRect/>
            </a:stretch>
          </a:blipFill>
        </p:spPr>
      </p:sp>
      <p:grpSp>
        <p:nvGrpSpPr>
          <p:cNvPr id="3" name="Group 3">
            <a:extLst>
              <a:ext uri="{FF2B5EF4-FFF2-40B4-BE49-F238E27FC236}">
                <a16:creationId xmlns:a16="http://schemas.microsoft.com/office/drawing/2014/main" id="{EBC23AB1-DCE5-977D-99CA-AD229E40E347}"/>
              </a:ext>
            </a:extLst>
          </p:cNvPr>
          <p:cNvGrpSpPr/>
          <p:nvPr/>
        </p:nvGrpSpPr>
        <p:grpSpPr>
          <a:xfrm>
            <a:off x="3834227" y="9668348"/>
            <a:ext cx="15879534" cy="2314575"/>
            <a:chOff x="0" y="0"/>
            <a:chExt cx="4182264" cy="609600"/>
          </a:xfrm>
        </p:grpSpPr>
        <p:sp>
          <p:nvSpPr>
            <p:cNvPr id="4" name="Freeform 4">
              <a:extLst>
                <a:ext uri="{FF2B5EF4-FFF2-40B4-BE49-F238E27FC236}">
                  <a16:creationId xmlns:a16="http://schemas.microsoft.com/office/drawing/2014/main" id="{634C45F2-E8F0-11BE-6DEA-6CE69033B52E}"/>
                </a:ext>
              </a:extLst>
            </p:cNvPr>
            <p:cNvSpPr/>
            <p:nvPr/>
          </p:nvSpPr>
          <p:spPr>
            <a:xfrm>
              <a:off x="0" y="0"/>
              <a:ext cx="4182264" cy="609600"/>
            </a:xfrm>
            <a:custGeom>
              <a:avLst/>
              <a:gdLst/>
              <a:ahLst/>
              <a:cxnLst/>
              <a:rect l="l" t="t" r="r" b="b"/>
              <a:pathLst>
                <a:path w="4182264" h="609600">
                  <a:moveTo>
                    <a:pt x="203200" y="0"/>
                  </a:moveTo>
                  <a:lnTo>
                    <a:pt x="4182264" y="0"/>
                  </a:lnTo>
                  <a:lnTo>
                    <a:pt x="3979064" y="609600"/>
                  </a:lnTo>
                  <a:lnTo>
                    <a:pt x="0" y="609600"/>
                  </a:lnTo>
                  <a:lnTo>
                    <a:pt x="203200" y="0"/>
                  </a:lnTo>
                  <a:close/>
                </a:path>
              </a:pathLst>
            </a:custGeom>
            <a:solidFill>
              <a:srgbClr val="448DD5"/>
            </a:solidFill>
          </p:spPr>
        </p:sp>
        <p:sp>
          <p:nvSpPr>
            <p:cNvPr id="5" name="TextBox 5">
              <a:extLst>
                <a:ext uri="{FF2B5EF4-FFF2-40B4-BE49-F238E27FC236}">
                  <a16:creationId xmlns:a16="http://schemas.microsoft.com/office/drawing/2014/main" id="{6DD8F940-197C-995F-6140-4C975E9CEDC1}"/>
                </a:ext>
              </a:extLst>
            </p:cNvPr>
            <p:cNvSpPr txBox="1"/>
            <p:nvPr/>
          </p:nvSpPr>
          <p:spPr>
            <a:xfrm>
              <a:off x="101600" y="-47625"/>
              <a:ext cx="3979064" cy="657225"/>
            </a:xfrm>
            <a:prstGeom prst="rect">
              <a:avLst/>
            </a:prstGeom>
          </p:spPr>
          <p:txBody>
            <a:bodyPr lIns="50800" tIns="50800" rIns="50800" bIns="50800" rtlCol="0" anchor="ctr"/>
            <a:lstStyle/>
            <a:p>
              <a:pPr algn="ctr">
                <a:lnSpc>
                  <a:spcPts val="2659"/>
                </a:lnSpc>
              </a:pPr>
              <a:endParaRPr/>
            </a:p>
          </p:txBody>
        </p:sp>
      </p:grpSp>
      <p:grpSp>
        <p:nvGrpSpPr>
          <p:cNvPr id="6" name="Group 6">
            <a:extLst>
              <a:ext uri="{FF2B5EF4-FFF2-40B4-BE49-F238E27FC236}">
                <a16:creationId xmlns:a16="http://schemas.microsoft.com/office/drawing/2014/main" id="{2C38D5E8-7CEC-EFD1-FBA3-90793F380713}"/>
              </a:ext>
            </a:extLst>
          </p:cNvPr>
          <p:cNvGrpSpPr/>
          <p:nvPr/>
        </p:nvGrpSpPr>
        <p:grpSpPr>
          <a:xfrm>
            <a:off x="-1212172" y="9715384"/>
            <a:ext cx="6086396" cy="2314575"/>
            <a:chOff x="0" y="0"/>
            <a:chExt cx="1603002" cy="609600"/>
          </a:xfrm>
        </p:grpSpPr>
        <p:sp>
          <p:nvSpPr>
            <p:cNvPr id="7" name="Freeform 7">
              <a:extLst>
                <a:ext uri="{FF2B5EF4-FFF2-40B4-BE49-F238E27FC236}">
                  <a16:creationId xmlns:a16="http://schemas.microsoft.com/office/drawing/2014/main" id="{D2220B11-579A-6FEF-9806-7C4E77F32A8D}"/>
                </a:ext>
              </a:extLst>
            </p:cNvPr>
            <p:cNvSpPr/>
            <p:nvPr/>
          </p:nvSpPr>
          <p:spPr>
            <a:xfrm>
              <a:off x="0" y="0"/>
              <a:ext cx="1603002" cy="609600"/>
            </a:xfrm>
            <a:custGeom>
              <a:avLst/>
              <a:gdLst/>
              <a:ahLst/>
              <a:cxnLst/>
              <a:rect l="l" t="t" r="r" b="b"/>
              <a:pathLst>
                <a:path w="1603002" h="609600">
                  <a:moveTo>
                    <a:pt x="203200" y="0"/>
                  </a:moveTo>
                  <a:lnTo>
                    <a:pt x="1603002" y="0"/>
                  </a:lnTo>
                  <a:lnTo>
                    <a:pt x="1399802" y="609600"/>
                  </a:lnTo>
                  <a:lnTo>
                    <a:pt x="0" y="609600"/>
                  </a:lnTo>
                  <a:lnTo>
                    <a:pt x="203200" y="0"/>
                  </a:lnTo>
                  <a:close/>
                </a:path>
              </a:pathLst>
            </a:custGeom>
            <a:solidFill>
              <a:srgbClr val="140574"/>
            </a:solidFill>
          </p:spPr>
        </p:sp>
        <p:sp>
          <p:nvSpPr>
            <p:cNvPr id="8" name="TextBox 8">
              <a:extLst>
                <a:ext uri="{FF2B5EF4-FFF2-40B4-BE49-F238E27FC236}">
                  <a16:creationId xmlns:a16="http://schemas.microsoft.com/office/drawing/2014/main" id="{9EEC0D85-CC65-9D08-AA87-B7CCA746329E}"/>
                </a:ext>
              </a:extLst>
            </p:cNvPr>
            <p:cNvSpPr txBox="1"/>
            <p:nvPr/>
          </p:nvSpPr>
          <p:spPr>
            <a:xfrm>
              <a:off x="101600" y="-47625"/>
              <a:ext cx="1399802" cy="657225"/>
            </a:xfrm>
            <a:prstGeom prst="rect">
              <a:avLst/>
            </a:prstGeom>
          </p:spPr>
          <p:txBody>
            <a:bodyPr lIns="50800" tIns="50800" rIns="50800" bIns="50800" rtlCol="0" anchor="ctr"/>
            <a:lstStyle/>
            <a:p>
              <a:pPr algn="ctr">
                <a:lnSpc>
                  <a:spcPts val="2659"/>
                </a:lnSpc>
              </a:pPr>
              <a:endParaRPr/>
            </a:p>
          </p:txBody>
        </p:sp>
      </p:grpSp>
      <p:grpSp>
        <p:nvGrpSpPr>
          <p:cNvPr id="9" name="Group 9">
            <a:extLst>
              <a:ext uri="{FF2B5EF4-FFF2-40B4-BE49-F238E27FC236}">
                <a16:creationId xmlns:a16="http://schemas.microsoft.com/office/drawing/2014/main" id="{72367452-330C-0753-5DCE-B2B61EB32EAA}"/>
              </a:ext>
            </a:extLst>
          </p:cNvPr>
          <p:cNvGrpSpPr/>
          <p:nvPr/>
        </p:nvGrpSpPr>
        <p:grpSpPr>
          <a:xfrm>
            <a:off x="-640474" y="1230646"/>
            <a:ext cx="19194641" cy="1493104"/>
            <a:chOff x="0" y="0"/>
            <a:chExt cx="25592855" cy="1990805"/>
          </a:xfrm>
          <a:solidFill>
            <a:srgbClr val="0000CC"/>
          </a:solidFill>
        </p:grpSpPr>
        <p:grpSp>
          <p:nvGrpSpPr>
            <p:cNvPr id="10" name="Group 10">
              <a:extLst>
                <a:ext uri="{FF2B5EF4-FFF2-40B4-BE49-F238E27FC236}">
                  <a16:creationId xmlns:a16="http://schemas.microsoft.com/office/drawing/2014/main" id="{4CF0212C-826C-015B-5A61-1F53BA05595C}"/>
                </a:ext>
              </a:extLst>
            </p:cNvPr>
            <p:cNvGrpSpPr/>
            <p:nvPr/>
          </p:nvGrpSpPr>
          <p:grpSpPr>
            <a:xfrm rot="-5579263">
              <a:off x="19504410" y="1352078"/>
              <a:ext cx="521654" cy="502275"/>
              <a:chOff x="0" y="0"/>
              <a:chExt cx="766670" cy="738190"/>
            </a:xfrm>
            <a:grpFill/>
          </p:grpSpPr>
          <p:sp>
            <p:nvSpPr>
              <p:cNvPr id="26" name="Freeform 11">
                <a:extLst>
                  <a:ext uri="{FF2B5EF4-FFF2-40B4-BE49-F238E27FC236}">
                    <a16:creationId xmlns:a16="http://schemas.microsoft.com/office/drawing/2014/main" id="{7D91845B-6E79-4EEB-C3AD-B298E4A8F3E6}"/>
                  </a:ext>
                </a:extLst>
              </p:cNvPr>
              <p:cNvSpPr/>
              <p:nvPr/>
            </p:nvSpPr>
            <p:spPr>
              <a:xfrm>
                <a:off x="0" y="0"/>
                <a:ext cx="766670" cy="738190"/>
              </a:xfrm>
              <a:custGeom>
                <a:avLst/>
                <a:gdLst/>
                <a:ahLst/>
                <a:cxnLst/>
                <a:rect l="l" t="t" r="r" b="b"/>
                <a:pathLst>
                  <a:path w="766670" h="738190">
                    <a:moveTo>
                      <a:pt x="383335" y="738190"/>
                    </a:moveTo>
                    <a:lnTo>
                      <a:pt x="766670" y="0"/>
                    </a:lnTo>
                    <a:lnTo>
                      <a:pt x="0" y="0"/>
                    </a:lnTo>
                    <a:lnTo>
                      <a:pt x="383335" y="738190"/>
                    </a:lnTo>
                    <a:close/>
                  </a:path>
                </a:pathLst>
              </a:custGeom>
              <a:grpFill/>
            </p:spPr>
          </p:sp>
          <p:sp>
            <p:nvSpPr>
              <p:cNvPr id="27" name="TextBox 12">
                <a:extLst>
                  <a:ext uri="{FF2B5EF4-FFF2-40B4-BE49-F238E27FC236}">
                    <a16:creationId xmlns:a16="http://schemas.microsoft.com/office/drawing/2014/main" id="{8AD2CA86-DE40-8E3E-991F-0F40E798B395}"/>
                  </a:ext>
                </a:extLst>
              </p:cNvPr>
              <p:cNvSpPr txBox="1"/>
              <p:nvPr/>
            </p:nvSpPr>
            <p:spPr>
              <a:xfrm>
                <a:off x="119792" y="14628"/>
                <a:ext cx="527086" cy="380831"/>
              </a:xfrm>
              <a:prstGeom prst="rect">
                <a:avLst/>
              </a:prstGeom>
              <a:grpFill/>
            </p:spPr>
            <p:txBody>
              <a:bodyPr lIns="27730" tIns="27730" rIns="27730" bIns="27730" rtlCol="0" anchor="ctr"/>
              <a:lstStyle/>
              <a:p>
                <a:pPr algn="ctr">
                  <a:lnSpc>
                    <a:spcPts val="2659"/>
                  </a:lnSpc>
                </a:pPr>
                <a:endParaRPr/>
              </a:p>
            </p:txBody>
          </p:sp>
        </p:grpSp>
        <p:grpSp>
          <p:nvGrpSpPr>
            <p:cNvPr id="11" name="Group 13">
              <a:extLst>
                <a:ext uri="{FF2B5EF4-FFF2-40B4-BE49-F238E27FC236}">
                  <a16:creationId xmlns:a16="http://schemas.microsoft.com/office/drawing/2014/main" id="{6EF23790-3BE3-EF4F-CACA-4D4A75651787}"/>
                </a:ext>
              </a:extLst>
            </p:cNvPr>
            <p:cNvGrpSpPr/>
            <p:nvPr/>
          </p:nvGrpSpPr>
          <p:grpSpPr>
            <a:xfrm rot="-3652157">
              <a:off x="20268259" y="98952"/>
              <a:ext cx="521654" cy="502275"/>
              <a:chOff x="0" y="0"/>
              <a:chExt cx="766670" cy="738190"/>
            </a:xfrm>
            <a:grpFill/>
          </p:grpSpPr>
          <p:sp>
            <p:nvSpPr>
              <p:cNvPr id="24" name="Freeform 14">
                <a:extLst>
                  <a:ext uri="{FF2B5EF4-FFF2-40B4-BE49-F238E27FC236}">
                    <a16:creationId xmlns:a16="http://schemas.microsoft.com/office/drawing/2014/main" id="{EB350201-AA78-B616-F1C9-3D976FEF8442}"/>
                  </a:ext>
                </a:extLst>
              </p:cNvPr>
              <p:cNvSpPr/>
              <p:nvPr/>
            </p:nvSpPr>
            <p:spPr>
              <a:xfrm>
                <a:off x="0" y="0"/>
                <a:ext cx="766670" cy="738190"/>
              </a:xfrm>
              <a:custGeom>
                <a:avLst/>
                <a:gdLst/>
                <a:ahLst/>
                <a:cxnLst/>
                <a:rect l="l" t="t" r="r" b="b"/>
                <a:pathLst>
                  <a:path w="766670" h="738190">
                    <a:moveTo>
                      <a:pt x="383335" y="738190"/>
                    </a:moveTo>
                    <a:lnTo>
                      <a:pt x="766670" y="0"/>
                    </a:lnTo>
                    <a:lnTo>
                      <a:pt x="0" y="0"/>
                    </a:lnTo>
                    <a:lnTo>
                      <a:pt x="383335" y="738190"/>
                    </a:lnTo>
                    <a:close/>
                  </a:path>
                </a:pathLst>
              </a:custGeom>
              <a:grpFill/>
            </p:spPr>
          </p:sp>
          <p:sp>
            <p:nvSpPr>
              <p:cNvPr id="25" name="TextBox 15">
                <a:extLst>
                  <a:ext uri="{FF2B5EF4-FFF2-40B4-BE49-F238E27FC236}">
                    <a16:creationId xmlns:a16="http://schemas.microsoft.com/office/drawing/2014/main" id="{D632B9D3-D688-8BDE-216D-515462DA0AE5}"/>
                  </a:ext>
                </a:extLst>
              </p:cNvPr>
              <p:cNvSpPr txBox="1"/>
              <p:nvPr/>
            </p:nvSpPr>
            <p:spPr>
              <a:xfrm>
                <a:off x="119792" y="14628"/>
                <a:ext cx="527086" cy="380831"/>
              </a:xfrm>
              <a:prstGeom prst="rect">
                <a:avLst/>
              </a:prstGeom>
              <a:grpFill/>
            </p:spPr>
            <p:txBody>
              <a:bodyPr lIns="27730" tIns="27730" rIns="27730" bIns="27730" rtlCol="0" anchor="ctr"/>
              <a:lstStyle/>
              <a:p>
                <a:pPr algn="ctr">
                  <a:lnSpc>
                    <a:spcPts val="2659"/>
                  </a:lnSpc>
                </a:pPr>
                <a:endParaRPr/>
              </a:p>
            </p:txBody>
          </p:sp>
        </p:grpSp>
        <p:grpSp>
          <p:nvGrpSpPr>
            <p:cNvPr id="12" name="Group 16">
              <a:extLst>
                <a:ext uri="{FF2B5EF4-FFF2-40B4-BE49-F238E27FC236}">
                  <a16:creationId xmlns:a16="http://schemas.microsoft.com/office/drawing/2014/main" id="{004BA1C1-928E-8F64-D9BF-1CAFD7A49173}"/>
                </a:ext>
              </a:extLst>
            </p:cNvPr>
            <p:cNvGrpSpPr/>
            <p:nvPr/>
          </p:nvGrpSpPr>
          <p:grpSpPr>
            <a:xfrm>
              <a:off x="0" y="359404"/>
              <a:ext cx="25592855" cy="1243811"/>
              <a:chOff x="0" y="0"/>
              <a:chExt cx="4816593" cy="234086"/>
            </a:xfrm>
            <a:grpFill/>
          </p:grpSpPr>
          <p:sp>
            <p:nvSpPr>
              <p:cNvPr id="22" name="Freeform 17">
                <a:extLst>
                  <a:ext uri="{FF2B5EF4-FFF2-40B4-BE49-F238E27FC236}">
                    <a16:creationId xmlns:a16="http://schemas.microsoft.com/office/drawing/2014/main" id="{C07BA2DA-F502-EFB5-05A9-B28E1C6102BB}"/>
                  </a:ext>
                </a:extLst>
              </p:cNvPr>
              <p:cNvSpPr/>
              <p:nvPr/>
            </p:nvSpPr>
            <p:spPr>
              <a:xfrm>
                <a:off x="0" y="0"/>
                <a:ext cx="4816592" cy="234086"/>
              </a:xfrm>
              <a:custGeom>
                <a:avLst/>
                <a:gdLst/>
                <a:ahLst/>
                <a:cxnLst/>
                <a:rect l="l" t="t" r="r" b="b"/>
                <a:pathLst>
                  <a:path w="4816592" h="234086">
                    <a:moveTo>
                      <a:pt x="0" y="0"/>
                    </a:moveTo>
                    <a:lnTo>
                      <a:pt x="4816592" y="0"/>
                    </a:lnTo>
                    <a:lnTo>
                      <a:pt x="4816592" y="234086"/>
                    </a:lnTo>
                    <a:lnTo>
                      <a:pt x="0" y="234086"/>
                    </a:lnTo>
                    <a:close/>
                  </a:path>
                </a:pathLst>
              </a:custGeom>
              <a:grpFill/>
            </p:spPr>
          </p:sp>
          <p:sp>
            <p:nvSpPr>
              <p:cNvPr id="23" name="TextBox 18">
                <a:extLst>
                  <a:ext uri="{FF2B5EF4-FFF2-40B4-BE49-F238E27FC236}">
                    <a16:creationId xmlns:a16="http://schemas.microsoft.com/office/drawing/2014/main" id="{1FE47BBD-1576-B2F2-0604-F41511CF9CFC}"/>
                  </a:ext>
                </a:extLst>
              </p:cNvPr>
              <p:cNvSpPr txBox="1"/>
              <p:nvPr/>
            </p:nvSpPr>
            <p:spPr>
              <a:xfrm>
                <a:off x="0" y="-38100"/>
                <a:ext cx="4816593" cy="272186"/>
              </a:xfrm>
              <a:prstGeom prst="rect">
                <a:avLst/>
              </a:prstGeom>
              <a:grpFill/>
            </p:spPr>
            <p:txBody>
              <a:bodyPr lIns="27730" tIns="27730" rIns="27730" bIns="27730" rtlCol="0" anchor="ctr"/>
              <a:lstStyle/>
              <a:p>
                <a:pPr algn="ctr">
                  <a:lnSpc>
                    <a:spcPts val="2659"/>
                  </a:lnSpc>
                </a:pPr>
                <a:endParaRPr/>
              </a:p>
            </p:txBody>
          </p:sp>
        </p:grpSp>
        <p:grpSp>
          <p:nvGrpSpPr>
            <p:cNvPr id="13" name="Group 19">
              <a:extLst>
                <a:ext uri="{FF2B5EF4-FFF2-40B4-BE49-F238E27FC236}">
                  <a16:creationId xmlns:a16="http://schemas.microsoft.com/office/drawing/2014/main" id="{C7942684-E80A-ACE7-D30F-11E7AE2AE51C}"/>
                </a:ext>
              </a:extLst>
            </p:cNvPr>
            <p:cNvGrpSpPr/>
            <p:nvPr/>
          </p:nvGrpSpPr>
          <p:grpSpPr>
            <a:xfrm rot="-3401601">
              <a:off x="6214547" y="177754"/>
              <a:ext cx="641890" cy="561654"/>
              <a:chOff x="0" y="0"/>
              <a:chExt cx="812800" cy="711200"/>
            </a:xfrm>
            <a:grpFill/>
          </p:grpSpPr>
          <p:sp>
            <p:nvSpPr>
              <p:cNvPr id="20" name="Freeform 20">
                <a:extLst>
                  <a:ext uri="{FF2B5EF4-FFF2-40B4-BE49-F238E27FC236}">
                    <a16:creationId xmlns:a16="http://schemas.microsoft.com/office/drawing/2014/main" id="{EF17C4C5-82E5-92D2-2665-44EFB5755996}"/>
                  </a:ext>
                </a:extLst>
              </p:cNvPr>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grpFill/>
            </p:spPr>
          </p:sp>
          <p:sp>
            <p:nvSpPr>
              <p:cNvPr id="21" name="TextBox 21">
                <a:extLst>
                  <a:ext uri="{FF2B5EF4-FFF2-40B4-BE49-F238E27FC236}">
                    <a16:creationId xmlns:a16="http://schemas.microsoft.com/office/drawing/2014/main" id="{0BB72879-5F67-5156-1D6E-F365C40727C3}"/>
                  </a:ext>
                </a:extLst>
              </p:cNvPr>
              <p:cNvSpPr txBox="1"/>
              <p:nvPr/>
            </p:nvSpPr>
            <p:spPr>
              <a:xfrm>
                <a:off x="127000" y="12700"/>
                <a:ext cx="558800" cy="368300"/>
              </a:xfrm>
              <a:prstGeom prst="rect">
                <a:avLst/>
              </a:prstGeom>
              <a:grpFill/>
            </p:spPr>
            <p:txBody>
              <a:bodyPr lIns="50800" tIns="50800" rIns="50800" bIns="50800" rtlCol="0" anchor="ctr"/>
              <a:lstStyle/>
              <a:p>
                <a:pPr algn="ctr">
                  <a:lnSpc>
                    <a:spcPts val="2659"/>
                  </a:lnSpc>
                </a:pPr>
                <a:endParaRPr/>
              </a:p>
            </p:txBody>
          </p:sp>
        </p:grpSp>
        <p:grpSp>
          <p:nvGrpSpPr>
            <p:cNvPr id="14" name="Group 22">
              <a:extLst>
                <a:ext uri="{FF2B5EF4-FFF2-40B4-BE49-F238E27FC236}">
                  <a16:creationId xmlns:a16="http://schemas.microsoft.com/office/drawing/2014/main" id="{4475A166-D99C-71C3-AF2C-2EE6111D155D}"/>
                </a:ext>
              </a:extLst>
            </p:cNvPr>
            <p:cNvGrpSpPr/>
            <p:nvPr/>
          </p:nvGrpSpPr>
          <p:grpSpPr>
            <a:xfrm rot="-1692622">
              <a:off x="7022575" y="1443605"/>
              <a:ext cx="516525" cy="451959"/>
              <a:chOff x="0" y="0"/>
              <a:chExt cx="812800" cy="711200"/>
            </a:xfrm>
            <a:grpFill/>
          </p:grpSpPr>
          <p:sp>
            <p:nvSpPr>
              <p:cNvPr id="18" name="Freeform 23">
                <a:extLst>
                  <a:ext uri="{FF2B5EF4-FFF2-40B4-BE49-F238E27FC236}">
                    <a16:creationId xmlns:a16="http://schemas.microsoft.com/office/drawing/2014/main" id="{68013AE7-7A55-B60F-9DA2-459F23476ACD}"/>
                  </a:ext>
                </a:extLst>
              </p:cNvPr>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grpFill/>
            </p:spPr>
          </p:sp>
          <p:sp>
            <p:nvSpPr>
              <p:cNvPr id="19" name="TextBox 24">
                <a:extLst>
                  <a:ext uri="{FF2B5EF4-FFF2-40B4-BE49-F238E27FC236}">
                    <a16:creationId xmlns:a16="http://schemas.microsoft.com/office/drawing/2014/main" id="{D99D046E-0129-5680-71BE-BA71A37A7BA2}"/>
                  </a:ext>
                </a:extLst>
              </p:cNvPr>
              <p:cNvSpPr txBox="1"/>
              <p:nvPr/>
            </p:nvSpPr>
            <p:spPr>
              <a:xfrm>
                <a:off x="127000" y="12700"/>
                <a:ext cx="558800" cy="368300"/>
              </a:xfrm>
              <a:prstGeom prst="rect">
                <a:avLst/>
              </a:prstGeom>
              <a:grpFill/>
            </p:spPr>
            <p:txBody>
              <a:bodyPr lIns="50800" tIns="50800" rIns="50800" bIns="50800" rtlCol="0" anchor="ctr"/>
              <a:lstStyle/>
              <a:p>
                <a:pPr algn="ctr">
                  <a:lnSpc>
                    <a:spcPts val="2659"/>
                  </a:lnSpc>
                </a:pPr>
                <a:endParaRPr/>
              </a:p>
            </p:txBody>
          </p:sp>
        </p:grpSp>
        <p:grpSp>
          <p:nvGrpSpPr>
            <p:cNvPr id="15" name="Group 25">
              <a:extLst>
                <a:ext uri="{FF2B5EF4-FFF2-40B4-BE49-F238E27FC236}">
                  <a16:creationId xmlns:a16="http://schemas.microsoft.com/office/drawing/2014/main" id="{EACC58BC-D31A-6BAD-7242-D00AAE8FDB74}"/>
                </a:ext>
              </a:extLst>
            </p:cNvPr>
            <p:cNvGrpSpPr/>
            <p:nvPr/>
          </p:nvGrpSpPr>
          <p:grpSpPr>
            <a:xfrm>
              <a:off x="6455234" y="0"/>
              <a:ext cx="14027852" cy="1854752"/>
              <a:chOff x="0" y="0"/>
              <a:chExt cx="3040733" cy="402043"/>
            </a:xfrm>
            <a:grpFill/>
          </p:grpSpPr>
          <p:sp>
            <p:nvSpPr>
              <p:cNvPr id="16" name="Freeform 26">
                <a:extLst>
                  <a:ext uri="{FF2B5EF4-FFF2-40B4-BE49-F238E27FC236}">
                    <a16:creationId xmlns:a16="http://schemas.microsoft.com/office/drawing/2014/main" id="{835BFECF-4F9D-D1E6-F472-8ACD8594E51B}"/>
                  </a:ext>
                </a:extLst>
              </p:cNvPr>
              <p:cNvSpPr/>
              <p:nvPr/>
            </p:nvSpPr>
            <p:spPr>
              <a:xfrm>
                <a:off x="0" y="0"/>
                <a:ext cx="3040733" cy="402043"/>
              </a:xfrm>
              <a:custGeom>
                <a:avLst/>
                <a:gdLst/>
                <a:ahLst/>
                <a:cxnLst/>
                <a:rect l="l" t="t" r="r" b="b"/>
                <a:pathLst>
                  <a:path w="3040733" h="402043">
                    <a:moveTo>
                      <a:pt x="203200" y="402043"/>
                    </a:moveTo>
                    <a:lnTo>
                      <a:pt x="2837533" y="402043"/>
                    </a:lnTo>
                    <a:lnTo>
                      <a:pt x="3040733" y="0"/>
                    </a:lnTo>
                    <a:lnTo>
                      <a:pt x="0" y="0"/>
                    </a:lnTo>
                    <a:lnTo>
                      <a:pt x="203200" y="402043"/>
                    </a:lnTo>
                    <a:close/>
                  </a:path>
                </a:pathLst>
              </a:custGeom>
              <a:grpFill/>
            </p:spPr>
          </p:sp>
          <p:sp>
            <p:nvSpPr>
              <p:cNvPr id="17" name="TextBox 27">
                <a:extLst>
                  <a:ext uri="{FF2B5EF4-FFF2-40B4-BE49-F238E27FC236}">
                    <a16:creationId xmlns:a16="http://schemas.microsoft.com/office/drawing/2014/main" id="{FFC30060-58B8-0B5B-47A3-0CB6FBBACDA5}"/>
                  </a:ext>
                </a:extLst>
              </p:cNvPr>
              <p:cNvSpPr txBox="1"/>
              <p:nvPr/>
            </p:nvSpPr>
            <p:spPr>
              <a:xfrm>
                <a:off x="127000" y="-38100"/>
                <a:ext cx="2786733" cy="440143"/>
              </a:xfrm>
              <a:prstGeom prst="rect">
                <a:avLst/>
              </a:prstGeom>
              <a:grpFill/>
            </p:spPr>
            <p:txBody>
              <a:bodyPr lIns="27730" tIns="27730" rIns="27730" bIns="27730" rtlCol="0" anchor="ctr"/>
              <a:lstStyle/>
              <a:p>
                <a:pPr algn="ctr">
                  <a:lnSpc>
                    <a:spcPts val="2659"/>
                  </a:lnSpc>
                </a:pPr>
                <a:endParaRPr/>
              </a:p>
            </p:txBody>
          </p:sp>
        </p:grpSp>
      </p:grpSp>
      <p:grpSp>
        <p:nvGrpSpPr>
          <p:cNvPr id="28" name="Group 28">
            <a:extLst>
              <a:ext uri="{FF2B5EF4-FFF2-40B4-BE49-F238E27FC236}">
                <a16:creationId xmlns:a16="http://schemas.microsoft.com/office/drawing/2014/main" id="{C2306353-036C-4263-E42E-EB0A828CD8B7}"/>
              </a:ext>
            </a:extLst>
          </p:cNvPr>
          <p:cNvGrpSpPr/>
          <p:nvPr/>
        </p:nvGrpSpPr>
        <p:grpSpPr>
          <a:xfrm>
            <a:off x="3814341" y="7494523"/>
            <a:ext cx="12416259" cy="1815797"/>
            <a:chOff x="0" y="0"/>
            <a:chExt cx="5767600" cy="948624"/>
          </a:xfrm>
        </p:grpSpPr>
        <p:sp>
          <p:nvSpPr>
            <p:cNvPr id="29" name="Freeform 29">
              <a:extLst>
                <a:ext uri="{FF2B5EF4-FFF2-40B4-BE49-F238E27FC236}">
                  <a16:creationId xmlns:a16="http://schemas.microsoft.com/office/drawing/2014/main" id="{88744887-7BA6-A7DB-D138-270F9780C8D3}"/>
                </a:ext>
              </a:extLst>
            </p:cNvPr>
            <p:cNvSpPr/>
            <p:nvPr/>
          </p:nvSpPr>
          <p:spPr>
            <a:xfrm>
              <a:off x="0" y="0"/>
              <a:ext cx="5767600" cy="948624"/>
            </a:xfrm>
            <a:custGeom>
              <a:avLst/>
              <a:gdLst/>
              <a:ahLst/>
              <a:cxnLst/>
              <a:rect l="l" t="t" r="r" b="b"/>
              <a:pathLst>
                <a:path w="5767600" h="948624">
                  <a:moveTo>
                    <a:pt x="35764" y="0"/>
                  </a:moveTo>
                  <a:lnTo>
                    <a:pt x="5731835" y="0"/>
                  </a:lnTo>
                  <a:cubicBezTo>
                    <a:pt x="5751588" y="0"/>
                    <a:pt x="5767600" y="16012"/>
                    <a:pt x="5767600" y="35764"/>
                  </a:cubicBezTo>
                  <a:lnTo>
                    <a:pt x="5767600" y="912860"/>
                  </a:lnTo>
                  <a:cubicBezTo>
                    <a:pt x="5767600" y="922345"/>
                    <a:pt x="5763832" y="931442"/>
                    <a:pt x="5757125" y="938149"/>
                  </a:cubicBezTo>
                  <a:cubicBezTo>
                    <a:pt x="5750418" y="944856"/>
                    <a:pt x="5741321" y="948624"/>
                    <a:pt x="5731835" y="948624"/>
                  </a:cubicBezTo>
                  <a:lnTo>
                    <a:pt x="35764" y="948624"/>
                  </a:lnTo>
                  <a:cubicBezTo>
                    <a:pt x="26279" y="948624"/>
                    <a:pt x="17182" y="944856"/>
                    <a:pt x="10475" y="938149"/>
                  </a:cubicBezTo>
                  <a:cubicBezTo>
                    <a:pt x="3768" y="931442"/>
                    <a:pt x="0" y="922345"/>
                    <a:pt x="0" y="912860"/>
                  </a:cubicBezTo>
                  <a:lnTo>
                    <a:pt x="0" y="35764"/>
                  </a:lnTo>
                  <a:cubicBezTo>
                    <a:pt x="0" y="26279"/>
                    <a:pt x="3768" y="17182"/>
                    <a:pt x="10475" y="10475"/>
                  </a:cubicBezTo>
                  <a:cubicBezTo>
                    <a:pt x="17182" y="3768"/>
                    <a:pt x="26279" y="0"/>
                    <a:pt x="35764" y="0"/>
                  </a:cubicBezTo>
                  <a:close/>
                </a:path>
              </a:pathLst>
            </a:custGeom>
            <a:ln w="19050" cap="rnd">
              <a:solidFill>
                <a:srgbClr val="000000"/>
              </a:solidFill>
              <a:prstDash val="solid"/>
              <a:round/>
            </a:ln>
          </p:spPr>
        </p:sp>
        <p:sp>
          <p:nvSpPr>
            <p:cNvPr id="30" name="TextBox 30">
              <a:extLst>
                <a:ext uri="{FF2B5EF4-FFF2-40B4-BE49-F238E27FC236}">
                  <a16:creationId xmlns:a16="http://schemas.microsoft.com/office/drawing/2014/main" id="{47DCDB88-5237-27AD-9FD2-F2CB0987AC0C}"/>
                </a:ext>
              </a:extLst>
            </p:cNvPr>
            <p:cNvSpPr txBox="1"/>
            <p:nvPr/>
          </p:nvSpPr>
          <p:spPr>
            <a:xfrm>
              <a:off x="0" y="-57150"/>
              <a:ext cx="5767600" cy="1005774"/>
            </a:xfrm>
            <a:prstGeom prst="rect">
              <a:avLst/>
            </a:prstGeom>
          </p:spPr>
          <p:txBody>
            <a:bodyPr lIns="50800" tIns="50800" rIns="50800" bIns="50800" rtlCol="0" anchor="ctr"/>
            <a:lstStyle/>
            <a:p>
              <a:pPr algn="ctr">
                <a:lnSpc>
                  <a:spcPts val="3179"/>
                </a:lnSpc>
              </a:pPr>
              <a:endParaRPr/>
            </a:p>
          </p:txBody>
        </p:sp>
      </p:grpSp>
      <p:grpSp>
        <p:nvGrpSpPr>
          <p:cNvPr id="31" name="Group 31">
            <a:extLst>
              <a:ext uri="{FF2B5EF4-FFF2-40B4-BE49-F238E27FC236}">
                <a16:creationId xmlns:a16="http://schemas.microsoft.com/office/drawing/2014/main" id="{6875C502-7E03-97B9-4867-CADF62D5FB63}"/>
              </a:ext>
            </a:extLst>
          </p:cNvPr>
          <p:cNvGrpSpPr/>
          <p:nvPr/>
        </p:nvGrpSpPr>
        <p:grpSpPr>
          <a:xfrm>
            <a:off x="5705487" y="2993352"/>
            <a:ext cx="7648952" cy="845660"/>
            <a:chOff x="0" y="0"/>
            <a:chExt cx="391515" cy="43285"/>
          </a:xfrm>
        </p:grpSpPr>
        <p:sp>
          <p:nvSpPr>
            <p:cNvPr id="32" name="Freeform 32">
              <a:extLst>
                <a:ext uri="{FF2B5EF4-FFF2-40B4-BE49-F238E27FC236}">
                  <a16:creationId xmlns:a16="http://schemas.microsoft.com/office/drawing/2014/main" id="{0F4AA412-049B-9CF2-6FDA-6C5F1B279622}"/>
                </a:ext>
              </a:extLst>
            </p:cNvPr>
            <p:cNvSpPr/>
            <p:nvPr/>
          </p:nvSpPr>
          <p:spPr>
            <a:xfrm>
              <a:off x="0" y="0"/>
              <a:ext cx="391515" cy="43285"/>
            </a:xfrm>
            <a:custGeom>
              <a:avLst/>
              <a:gdLst/>
              <a:ahLst/>
              <a:cxnLst/>
              <a:rect l="l" t="t" r="r" b="b"/>
              <a:pathLst>
                <a:path w="391515" h="43285">
                  <a:moveTo>
                    <a:pt x="21643" y="0"/>
                  </a:moveTo>
                  <a:lnTo>
                    <a:pt x="369872" y="0"/>
                  </a:lnTo>
                  <a:cubicBezTo>
                    <a:pt x="375612" y="0"/>
                    <a:pt x="381117" y="2280"/>
                    <a:pt x="385176" y="6339"/>
                  </a:cubicBezTo>
                  <a:cubicBezTo>
                    <a:pt x="389234" y="10398"/>
                    <a:pt x="391515" y="15903"/>
                    <a:pt x="391515" y="21643"/>
                  </a:cubicBezTo>
                  <a:lnTo>
                    <a:pt x="391515" y="21643"/>
                  </a:lnTo>
                  <a:cubicBezTo>
                    <a:pt x="391515" y="33596"/>
                    <a:pt x="381825" y="43285"/>
                    <a:pt x="369872" y="43285"/>
                  </a:cubicBezTo>
                  <a:lnTo>
                    <a:pt x="21643" y="43285"/>
                  </a:lnTo>
                  <a:cubicBezTo>
                    <a:pt x="9690" y="43285"/>
                    <a:pt x="0" y="33596"/>
                    <a:pt x="0" y="21643"/>
                  </a:cubicBezTo>
                  <a:lnTo>
                    <a:pt x="0" y="21643"/>
                  </a:lnTo>
                  <a:cubicBezTo>
                    <a:pt x="0" y="9690"/>
                    <a:pt x="9690" y="0"/>
                    <a:pt x="21643" y="0"/>
                  </a:cubicBezTo>
                  <a:close/>
                </a:path>
              </a:pathLst>
            </a:custGeom>
            <a:solidFill>
              <a:srgbClr val="E6E6E6"/>
            </a:solidFill>
          </p:spPr>
        </p:sp>
        <p:sp>
          <p:nvSpPr>
            <p:cNvPr id="33" name="TextBox 33">
              <a:extLst>
                <a:ext uri="{FF2B5EF4-FFF2-40B4-BE49-F238E27FC236}">
                  <a16:creationId xmlns:a16="http://schemas.microsoft.com/office/drawing/2014/main" id="{42A6F664-4BE3-00AB-363E-FCE294E403D5}"/>
                </a:ext>
              </a:extLst>
            </p:cNvPr>
            <p:cNvSpPr txBox="1"/>
            <p:nvPr/>
          </p:nvSpPr>
          <p:spPr>
            <a:xfrm>
              <a:off x="0" y="-47625"/>
              <a:ext cx="391515" cy="90910"/>
            </a:xfrm>
            <a:prstGeom prst="rect">
              <a:avLst/>
            </a:prstGeom>
          </p:spPr>
          <p:txBody>
            <a:bodyPr lIns="50800" tIns="50800" rIns="50800" bIns="50800" rtlCol="0" anchor="ctr"/>
            <a:lstStyle/>
            <a:p>
              <a:pPr algn="ctr">
                <a:lnSpc>
                  <a:spcPts val="2659"/>
                </a:lnSpc>
              </a:pPr>
              <a:endParaRPr/>
            </a:p>
          </p:txBody>
        </p:sp>
      </p:grpSp>
      <p:grpSp>
        <p:nvGrpSpPr>
          <p:cNvPr id="34" name="Group 34">
            <a:extLst>
              <a:ext uri="{FF2B5EF4-FFF2-40B4-BE49-F238E27FC236}">
                <a16:creationId xmlns:a16="http://schemas.microsoft.com/office/drawing/2014/main" id="{7DB01F70-E8C9-9B48-5571-D5BB2F6BD6E6}"/>
              </a:ext>
            </a:extLst>
          </p:cNvPr>
          <p:cNvGrpSpPr/>
          <p:nvPr/>
        </p:nvGrpSpPr>
        <p:grpSpPr>
          <a:xfrm>
            <a:off x="5396529" y="2736227"/>
            <a:ext cx="7939767" cy="956527"/>
            <a:chOff x="0" y="0"/>
            <a:chExt cx="406400" cy="48960"/>
          </a:xfrm>
        </p:grpSpPr>
        <p:sp>
          <p:nvSpPr>
            <p:cNvPr id="35" name="Freeform 35">
              <a:extLst>
                <a:ext uri="{FF2B5EF4-FFF2-40B4-BE49-F238E27FC236}">
                  <a16:creationId xmlns:a16="http://schemas.microsoft.com/office/drawing/2014/main" id="{8CAF68F6-A468-FBDA-DADD-46B3580C9CA9}"/>
                </a:ext>
              </a:extLst>
            </p:cNvPr>
            <p:cNvSpPr/>
            <p:nvPr/>
          </p:nvSpPr>
          <p:spPr>
            <a:xfrm>
              <a:off x="0" y="0"/>
              <a:ext cx="406400" cy="48960"/>
            </a:xfrm>
            <a:custGeom>
              <a:avLst/>
              <a:gdLst/>
              <a:ahLst/>
              <a:cxnLst/>
              <a:rect l="l" t="t" r="r" b="b"/>
              <a:pathLst>
                <a:path w="406400" h="48960">
                  <a:moveTo>
                    <a:pt x="24480" y="0"/>
                  </a:moveTo>
                  <a:lnTo>
                    <a:pt x="381920" y="0"/>
                  </a:lnTo>
                  <a:cubicBezTo>
                    <a:pt x="388412" y="0"/>
                    <a:pt x="394639" y="2579"/>
                    <a:pt x="399230" y="7170"/>
                  </a:cubicBezTo>
                  <a:cubicBezTo>
                    <a:pt x="403821" y="11761"/>
                    <a:pt x="406400" y="17988"/>
                    <a:pt x="406400" y="24480"/>
                  </a:cubicBezTo>
                  <a:lnTo>
                    <a:pt x="406400" y="24480"/>
                  </a:lnTo>
                  <a:cubicBezTo>
                    <a:pt x="406400" y="38000"/>
                    <a:pt x="395440" y="48960"/>
                    <a:pt x="381920" y="48960"/>
                  </a:cubicBezTo>
                  <a:lnTo>
                    <a:pt x="24480" y="48960"/>
                  </a:lnTo>
                  <a:cubicBezTo>
                    <a:pt x="17988" y="48960"/>
                    <a:pt x="11761" y="46381"/>
                    <a:pt x="7170" y="41790"/>
                  </a:cubicBezTo>
                  <a:cubicBezTo>
                    <a:pt x="2579" y="37199"/>
                    <a:pt x="0" y="30973"/>
                    <a:pt x="0" y="24480"/>
                  </a:cubicBezTo>
                  <a:lnTo>
                    <a:pt x="0" y="24480"/>
                  </a:lnTo>
                  <a:cubicBezTo>
                    <a:pt x="0" y="17988"/>
                    <a:pt x="2579" y="11761"/>
                    <a:pt x="7170" y="7170"/>
                  </a:cubicBezTo>
                  <a:cubicBezTo>
                    <a:pt x="11761" y="2579"/>
                    <a:pt x="17988" y="0"/>
                    <a:pt x="24480" y="0"/>
                  </a:cubicBezTo>
                  <a:close/>
                </a:path>
              </a:pathLst>
            </a:custGeom>
            <a:solidFill>
              <a:srgbClr val="0000CC"/>
            </a:solidFill>
          </p:spPr>
          <p:txBody>
            <a:bodyPr/>
            <a:lstStyle/>
            <a:p>
              <a:endParaRPr lang="en-US" dirty="0"/>
            </a:p>
          </p:txBody>
        </p:sp>
        <p:sp>
          <p:nvSpPr>
            <p:cNvPr id="36" name="TextBox 36">
              <a:extLst>
                <a:ext uri="{FF2B5EF4-FFF2-40B4-BE49-F238E27FC236}">
                  <a16:creationId xmlns:a16="http://schemas.microsoft.com/office/drawing/2014/main" id="{C6172D93-A723-7D4A-EDCC-4F4151D91FC7}"/>
                </a:ext>
              </a:extLst>
            </p:cNvPr>
            <p:cNvSpPr txBox="1"/>
            <p:nvPr/>
          </p:nvSpPr>
          <p:spPr>
            <a:xfrm>
              <a:off x="0" y="-47625"/>
              <a:ext cx="406400" cy="96585"/>
            </a:xfrm>
            <a:prstGeom prst="rect">
              <a:avLst/>
            </a:prstGeom>
          </p:spPr>
          <p:txBody>
            <a:bodyPr lIns="50800" tIns="50800" rIns="50800" bIns="50800" rtlCol="0" anchor="ctr"/>
            <a:lstStyle/>
            <a:p>
              <a:pPr algn="ctr">
                <a:lnSpc>
                  <a:spcPts val="2659"/>
                </a:lnSpc>
              </a:pPr>
              <a:endParaRPr/>
            </a:p>
          </p:txBody>
        </p:sp>
      </p:grpSp>
      <p:sp>
        <p:nvSpPr>
          <p:cNvPr id="37" name="TextBox 45">
            <a:extLst>
              <a:ext uri="{FF2B5EF4-FFF2-40B4-BE49-F238E27FC236}">
                <a16:creationId xmlns:a16="http://schemas.microsoft.com/office/drawing/2014/main" id="{66465F91-1B73-C889-9BE4-85CD3EB0E0AD}"/>
              </a:ext>
            </a:extLst>
          </p:cNvPr>
          <p:cNvSpPr txBox="1"/>
          <p:nvPr/>
        </p:nvSpPr>
        <p:spPr>
          <a:xfrm>
            <a:off x="6021127" y="1429521"/>
            <a:ext cx="6957864" cy="976933"/>
          </a:xfrm>
          <a:prstGeom prst="rect">
            <a:avLst/>
          </a:prstGeom>
        </p:spPr>
        <p:txBody>
          <a:bodyPr lIns="0" tIns="0" rIns="0" bIns="0" rtlCol="0" anchor="t">
            <a:spAutoFit/>
          </a:bodyPr>
          <a:lstStyle/>
          <a:p>
            <a:pPr algn="ctr">
              <a:lnSpc>
                <a:spcPts val="8169"/>
              </a:lnSpc>
            </a:pPr>
            <a:r>
              <a:rPr lang="en-US" sz="5339" dirty="0">
                <a:solidFill>
                  <a:srgbClr val="F8F8F8"/>
                </a:solidFill>
                <a:latin typeface="Anton"/>
                <a:ea typeface="Anton"/>
                <a:cs typeface="Anton"/>
                <a:sym typeface="Anton"/>
              </a:rPr>
              <a:t>KHÓA LUẬN TỐT NGHIỆP</a:t>
            </a:r>
          </a:p>
        </p:txBody>
      </p:sp>
      <p:sp>
        <p:nvSpPr>
          <p:cNvPr id="38" name="TextBox 46">
            <a:extLst>
              <a:ext uri="{FF2B5EF4-FFF2-40B4-BE49-F238E27FC236}">
                <a16:creationId xmlns:a16="http://schemas.microsoft.com/office/drawing/2014/main" id="{E1B4B1BE-600A-56B5-B555-DD39420CDC78}"/>
              </a:ext>
            </a:extLst>
          </p:cNvPr>
          <p:cNvSpPr txBox="1"/>
          <p:nvPr/>
        </p:nvSpPr>
        <p:spPr>
          <a:xfrm>
            <a:off x="3440503" y="111200"/>
            <a:ext cx="11567643" cy="1031660"/>
          </a:xfrm>
          <a:prstGeom prst="rect">
            <a:avLst/>
          </a:prstGeom>
        </p:spPr>
        <p:txBody>
          <a:bodyPr lIns="0" tIns="0" rIns="0" bIns="0" rtlCol="0" anchor="t">
            <a:spAutoFit/>
          </a:bodyPr>
          <a:lstStyle/>
          <a:p>
            <a:pPr algn="ctr">
              <a:lnSpc>
                <a:spcPts val="3986"/>
              </a:lnSpc>
            </a:pPr>
            <a:r>
              <a:rPr lang="en-US" sz="3466" b="1" dirty="0">
                <a:solidFill>
                  <a:srgbClr val="004AAD"/>
                </a:solidFill>
                <a:latin typeface="Arial Bold"/>
                <a:ea typeface="Arial Bold"/>
                <a:cs typeface="Arial Bold"/>
                <a:sym typeface="Arial Bold"/>
              </a:rPr>
              <a:t>ĐẠI HỌC TRÀ VINH</a:t>
            </a:r>
          </a:p>
          <a:p>
            <a:pPr marL="0" lvl="0" indent="0" algn="ctr">
              <a:lnSpc>
                <a:spcPts val="3986"/>
              </a:lnSpc>
            </a:pPr>
            <a:r>
              <a:rPr lang="en-US" sz="3466" b="1" dirty="0">
                <a:solidFill>
                  <a:srgbClr val="004AAD"/>
                </a:solidFill>
                <a:latin typeface="Arial Bold"/>
                <a:ea typeface="Arial Bold"/>
                <a:cs typeface="Arial Bold"/>
                <a:sym typeface="Arial Bold"/>
              </a:rPr>
              <a:t>TRƯỜNG KỸ THUẬT VÀ CÔNG NGHỆ</a:t>
            </a:r>
          </a:p>
        </p:txBody>
      </p:sp>
      <p:sp>
        <p:nvSpPr>
          <p:cNvPr id="39" name="TextBox 47">
            <a:extLst>
              <a:ext uri="{FF2B5EF4-FFF2-40B4-BE49-F238E27FC236}">
                <a16:creationId xmlns:a16="http://schemas.microsoft.com/office/drawing/2014/main" id="{77BB14FF-1FAF-101F-FD28-D877D32703A7}"/>
              </a:ext>
            </a:extLst>
          </p:cNvPr>
          <p:cNvSpPr txBox="1"/>
          <p:nvPr/>
        </p:nvSpPr>
        <p:spPr>
          <a:xfrm>
            <a:off x="4997296" y="7730745"/>
            <a:ext cx="10738175" cy="1420004"/>
          </a:xfrm>
          <a:prstGeom prst="rect">
            <a:avLst/>
          </a:prstGeom>
          <a:ln>
            <a:solidFill>
              <a:schemeClr val="tx2">
                <a:lumMod val="50000"/>
              </a:schemeClr>
            </a:solidFill>
          </a:ln>
        </p:spPr>
        <p:txBody>
          <a:bodyPr wrap="square" lIns="0" tIns="0" rIns="0" bIns="0" rtlCol="0" anchor="t">
            <a:spAutoFit/>
          </a:bodyPr>
          <a:lstStyle/>
          <a:p>
            <a:pPr marL="591256" lvl="1" indent="-295628">
              <a:lnSpc>
                <a:spcPts val="3833"/>
              </a:lnSpc>
              <a:buFont typeface="Arial"/>
              <a:buChar char="•"/>
            </a:pPr>
            <a:r>
              <a:rPr lang="en-US" sz="2738" b="1" dirty="0">
                <a:solidFill>
                  <a:srgbClr val="0000CC"/>
                </a:solidFill>
                <a:latin typeface="Arial Bold"/>
                <a:ea typeface="Arial Bold"/>
                <a:cs typeface="Arial Bold"/>
                <a:sym typeface="Arial Bold"/>
              </a:rPr>
              <a:t>GIẢNG VIÊN HƯỚNG DẪN: </a:t>
            </a:r>
            <a:r>
              <a:rPr lang="vi-VN" sz="2700" b="1" dirty="0">
                <a:solidFill>
                  <a:srgbClr val="0000CC"/>
                </a:solidFill>
              </a:rPr>
              <a:t>GVC. ThS. NGUYỄN KHẮC QUỐC</a:t>
            </a:r>
            <a:endParaRPr lang="en-US" sz="2700" b="1" dirty="0">
              <a:solidFill>
                <a:srgbClr val="0000CC"/>
              </a:solidFill>
            </a:endParaRPr>
          </a:p>
          <a:p>
            <a:pPr marL="591256" lvl="1" indent="-295628">
              <a:lnSpc>
                <a:spcPts val="3833"/>
              </a:lnSpc>
              <a:buFont typeface="Arial"/>
              <a:buChar char="•"/>
            </a:pPr>
            <a:r>
              <a:rPr lang="en-US" sz="2738" b="1" dirty="0">
                <a:solidFill>
                  <a:srgbClr val="0000CC"/>
                </a:solidFill>
                <a:latin typeface="Arial Bold"/>
                <a:ea typeface="Arial Bold"/>
                <a:cs typeface="Arial Bold"/>
                <a:sym typeface="Arial Bold"/>
              </a:rPr>
              <a:t>SINH VIÊN THỰC HIỆN: LIỄU KIỆN AN</a:t>
            </a:r>
          </a:p>
          <a:p>
            <a:pPr marL="591256" lvl="1" indent="-295628">
              <a:lnSpc>
                <a:spcPts val="3833"/>
              </a:lnSpc>
              <a:buFont typeface="Arial"/>
              <a:buChar char="•"/>
            </a:pPr>
            <a:r>
              <a:rPr lang="en-US" sz="2738" b="1" dirty="0">
                <a:solidFill>
                  <a:srgbClr val="0000CC"/>
                </a:solidFill>
                <a:latin typeface="Arial Bold"/>
                <a:ea typeface="Arial Bold"/>
                <a:cs typeface="Arial Bold"/>
                <a:sym typeface="Arial Bold"/>
              </a:rPr>
              <a:t>LỚP: DA22TTD</a:t>
            </a:r>
          </a:p>
        </p:txBody>
      </p:sp>
      <p:sp>
        <p:nvSpPr>
          <p:cNvPr id="40" name="TextBox 48">
            <a:extLst>
              <a:ext uri="{FF2B5EF4-FFF2-40B4-BE49-F238E27FC236}">
                <a16:creationId xmlns:a16="http://schemas.microsoft.com/office/drawing/2014/main" id="{03116523-39F0-F25D-4FBB-55CE143A6709}"/>
              </a:ext>
            </a:extLst>
          </p:cNvPr>
          <p:cNvSpPr txBox="1"/>
          <p:nvPr/>
        </p:nvSpPr>
        <p:spPr>
          <a:xfrm>
            <a:off x="5705487" y="3002877"/>
            <a:ext cx="6884678" cy="507455"/>
          </a:xfrm>
          <a:prstGeom prst="rect">
            <a:avLst/>
          </a:prstGeom>
        </p:spPr>
        <p:txBody>
          <a:bodyPr lIns="0" tIns="0" rIns="0" bIns="0" rtlCol="0" anchor="t">
            <a:spAutoFit/>
          </a:bodyPr>
          <a:lstStyle/>
          <a:p>
            <a:pPr marL="0" lvl="0" indent="0" algn="ctr">
              <a:lnSpc>
                <a:spcPts val="3926"/>
              </a:lnSpc>
            </a:pPr>
            <a:r>
              <a:rPr lang="en-US" sz="3414" dirty="0">
                <a:solidFill>
                  <a:srgbClr val="FFFFFF"/>
                </a:solidFill>
                <a:latin typeface="Anton"/>
                <a:ea typeface="Anton"/>
                <a:cs typeface="Anton"/>
                <a:sym typeface="Anton"/>
              </a:rPr>
              <a:t>KHOA CÔNG NGHỆ THÔNG TIN</a:t>
            </a:r>
          </a:p>
        </p:txBody>
      </p:sp>
      <p:sp>
        <p:nvSpPr>
          <p:cNvPr id="41" name="TextBox 49">
            <a:extLst>
              <a:ext uri="{FF2B5EF4-FFF2-40B4-BE49-F238E27FC236}">
                <a16:creationId xmlns:a16="http://schemas.microsoft.com/office/drawing/2014/main" id="{C257477B-C984-5F9F-C583-2ABB2FF079B1}"/>
              </a:ext>
            </a:extLst>
          </p:cNvPr>
          <p:cNvSpPr txBox="1"/>
          <p:nvPr/>
        </p:nvSpPr>
        <p:spPr>
          <a:xfrm>
            <a:off x="274648" y="4210487"/>
            <a:ext cx="17676051" cy="2908489"/>
          </a:xfrm>
          <a:prstGeom prst="rect">
            <a:avLst/>
          </a:prstGeom>
        </p:spPr>
        <p:txBody>
          <a:bodyPr lIns="0" tIns="0" rIns="0" bIns="0" rtlCol="0" anchor="t">
            <a:spAutoFit/>
          </a:bodyPr>
          <a:lstStyle/>
          <a:p>
            <a:pPr algn="ctr"/>
            <a:r>
              <a:rPr lang="vi-VN" sz="6300" b="1" cap="all" dirty="0">
                <a:solidFill>
                  <a:srgbClr val="0000CC"/>
                </a:solidFill>
              </a:rPr>
              <a:t>Thiết kế và phát triển hệ thống </a:t>
            </a:r>
            <a:endParaRPr lang="en-US" sz="6300" b="1" dirty="0">
              <a:solidFill>
                <a:srgbClr val="0000CC"/>
              </a:solidFill>
            </a:endParaRPr>
          </a:p>
          <a:p>
            <a:pPr algn="ctr"/>
            <a:r>
              <a:rPr lang="vi-VN" sz="6300" b="1" cap="all" dirty="0">
                <a:solidFill>
                  <a:srgbClr val="0000CC"/>
                </a:solidFill>
              </a:rPr>
              <a:t>quản lý công việc cá nhân </a:t>
            </a:r>
            <a:endParaRPr lang="en-US" sz="6300" b="1" dirty="0">
              <a:solidFill>
                <a:srgbClr val="0000CC"/>
              </a:solidFill>
            </a:endParaRPr>
          </a:p>
          <a:p>
            <a:pPr algn="ctr"/>
            <a:r>
              <a:rPr lang="en-US" sz="6300" b="1" cap="all" dirty="0" err="1">
                <a:solidFill>
                  <a:srgbClr val="0000CC"/>
                </a:solidFill>
              </a:rPr>
              <a:t>dựa</a:t>
            </a:r>
            <a:r>
              <a:rPr lang="en-US" sz="6300" b="1" cap="all" dirty="0">
                <a:solidFill>
                  <a:srgbClr val="0000CC"/>
                </a:solidFill>
              </a:rPr>
              <a:t> </a:t>
            </a:r>
            <a:r>
              <a:rPr lang="en-US" sz="6300" b="1" cap="all" dirty="0" err="1">
                <a:solidFill>
                  <a:srgbClr val="0000CC"/>
                </a:solidFill>
              </a:rPr>
              <a:t>trên</a:t>
            </a:r>
            <a:r>
              <a:rPr lang="en-US" sz="6300" b="1" cap="all" dirty="0">
                <a:solidFill>
                  <a:srgbClr val="0000CC"/>
                </a:solidFill>
              </a:rPr>
              <a:t> </a:t>
            </a:r>
            <a:r>
              <a:rPr lang="en-US" sz="6300" b="1" cap="all" dirty="0" err="1">
                <a:solidFill>
                  <a:srgbClr val="0000CC"/>
                </a:solidFill>
              </a:rPr>
              <a:t>nền</a:t>
            </a:r>
            <a:r>
              <a:rPr lang="en-US" sz="6300" b="1" cap="all" dirty="0">
                <a:solidFill>
                  <a:srgbClr val="0000CC"/>
                </a:solidFill>
              </a:rPr>
              <a:t> </a:t>
            </a:r>
            <a:r>
              <a:rPr lang="en-US" sz="6300" b="1" cap="all" dirty="0" err="1">
                <a:solidFill>
                  <a:srgbClr val="0000CC"/>
                </a:solidFill>
              </a:rPr>
              <a:t>tảng</a:t>
            </a:r>
            <a:r>
              <a:rPr lang="en-US" sz="6300" b="1" cap="all" dirty="0">
                <a:solidFill>
                  <a:srgbClr val="0000CC"/>
                </a:solidFill>
              </a:rPr>
              <a:t> web</a:t>
            </a:r>
            <a:endParaRPr lang="en-US" sz="6300" b="1" dirty="0">
              <a:solidFill>
                <a:srgbClr val="0000CC"/>
              </a:solidFill>
              <a:latin typeface="Anton"/>
              <a:ea typeface="Anton"/>
              <a:cs typeface="Anton"/>
              <a:sym typeface="Anton"/>
            </a:endParaRPr>
          </a:p>
        </p:txBody>
      </p:sp>
      <p:pic>
        <p:nvPicPr>
          <p:cNvPr id="42" name="Picture 8" descr="Đại học Trà Vinh – Wikipedia tiếng Việt">
            <a:extLst>
              <a:ext uri="{FF2B5EF4-FFF2-40B4-BE49-F238E27FC236}">
                <a16:creationId xmlns:a16="http://schemas.microsoft.com/office/drawing/2014/main" id="{7E89D0F9-7B35-D941-B0A1-EADCD97A63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2783" y="168733"/>
            <a:ext cx="2085667" cy="208566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xmlns:aink="http://schemas.microsoft.com/office/drawing/2016/ink">
        <mc:Choice Requires="p14 aink">
          <p:contentPart p14:bwMode="auto" r:id="rId5">
            <p14:nvContentPartPr>
              <p14:cNvPr id="43" name="Ink 42">
                <a:extLst>
                  <a:ext uri="{FF2B5EF4-FFF2-40B4-BE49-F238E27FC236}">
                    <a16:creationId xmlns:a16="http://schemas.microsoft.com/office/drawing/2014/main" id="{68119827-D155-103F-0AE7-7F3E6634AB79}"/>
                  </a:ext>
                </a:extLst>
              </p14:cNvPr>
              <p14:cNvContentPartPr/>
              <p14:nvPr/>
            </p14:nvContentPartPr>
            <p14:xfrm>
              <a:off x="6313806" y="3207423"/>
              <a:ext cx="6120" cy="360"/>
            </p14:xfrm>
          </p:contentPart>
        </mc:Choice>
        <mc:Fallback xmlns="">
          <p:pic>
            <p:nvPicPr>
              <p:cNvPr id="43" name="Ink 42">
                <a:extLst>
                  <a:ext uri="{FF2B5EF4-FFF2-40B4-BE49-F238E27FC236}">
                    <a16:creationId xmlns:a16="http://schemas.microsoft.com/office/drawing/2014/main" id="{68119827-D155-103F-0AE7-7F3E6634AB79}"/>
                  </a:ext>
                </a:extLst>
              </p:cNvPr>
              <p:cNvPicPr/>
              <p:nvPr/>
            </p:nvPicPr>
            <p:blipFill>
              <a:blip r:embed="rId6"/>
              <a:stretch>
                <a:fillRect/>
              </a:stretch>
            </p:blipFill>
            <p:spPr>
              <a:xfrm>
                <a:off x="6304806" y="3198423"/>
                <a:ext cx="23760" cy="18000"/>
              </a:xfrm>
              <a:prstGeom prst="rect">
                <a:avLst/>
              </a:prstGeom>
            </p:spPr>
          </p:pic>
        </mc:Fallback>
      </mc:AlternateContent>
    </p:spTree>
    <p:extLst>
      <p:ext uri="{BB962C8B-B14F-4D97-AF65-F5344CB8AC3E}">
        <p14:creationId xmlns:p14="http://schemas.microsoft.com/office/powerpoint/2010/main" val="22402361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712562"/>
            <a:ext cx="9964391" cy="963469"/>
          </a:xfrm>
          <a:prstGeom prst="rect">
            <a:avLst/>
          </a:prstGeom>
        </p:spPr>
        <p:txBody>
          <a:bodyPr lIns="0" tIns="0" rIns="0" bIns="0" rtlCol="0" anchor="t">
            <a:spAutoFit/>
          </a:bodyPr>
          <a:lstStyle/>
          <a:p>
            <a:pPr marL="0" lvl="0" indent="0" algn="l">
              <a:lnSpc>
                <a:spcPts val="8470"/>
              </a:lnSpc>
              <a:spcBef>
                <a:spcPct val="0"/>
              </a:spcBef>
            </a:pPr>
            <a:r>
              <a:rPr lang="en-US" sz="5000" b="1">
                <a:solidFill>
                  <a:srgbClr val="1836B2"/>
                </a:solidFill>
                <a:latin typeface="+mj-lt"/>
                <a:ea typeface="Cabin Semi-Bold"/>
                <a:cs typeface="Times New Roman" panose="02020603050405020304" pitchFamily="18" charset="0"/>
                <a:sym typeface="Cabin Semi-Bold"/>
              </a:rPr>
              <a:t>Nội dung thuyết trình</a:t>
            </a:r>
          </a:p>
        </p:txBody>
      </p:sp>
      <p:grpSp>
        <p:nvGrpSpPr>
          <p:cNvPr id="3" name="Group 3"/>
          <p:cNvGrpSpPr/>
          <p:nvPr/>
        </p:nvGrpSpPr>
        <p:grpSpPr>
          <a:xfrm>
            <a:off x="13741037" y="-1217562"/>
            <a:ext cx="9852713" cy="11676274"/>
            <a:chOff x="0" y="0"/>
            <a:chExt cx="13136951" cy="15568366"/>
          </a:xfrm>
        </p:grpSpPr>
        <p:sp>
          <p:nvSpPr>
            <p:cNvPr id="4" name="Freeform 4"/>
            <p:cNvSpPr/>
            <p:nvPr/>
          </p:nvSpPr>
          <p:spPr>
            <a:xfrm flipV="1">
              <a:off x="0" y="0"/>
              <a:ext cx="10199044" cy="5823319"/>
            </a:xfrm>
            <a:custGeom>
              <a:avLst/>
              <a:gdLst/>
              <a:ahLst/>
              <a:cxnLst/>
              <a:rect l="l" t="t" r="r" b="b"/>
              <a:pathLst>
                <a:path w="10199044" h="5823319">
                  <a:moveTo>
                    <a:pt x="0" y="5823319"/>
                  </a:moveTo>
                  <a:lnTo>
                    <a:pt x="10199044" y="5823319"/>
                  </a:lnTo>
                  <a:lnTo>
                    <a:pt x="10199044" y="0"/>
                  </a:lnTo>
                  <a:lnTo>
                    <a:pt x="0" y="0"/>
                  </a:lnTo>
                  <a:lnTo>
                    <a:pt x="0" y="5823319"/>
                  </a:lnTo>
                  <a:close/>
                </a:path>
              </a:pathLst>
            </a:custGeom>
            <a:blipFill>
              <a:blip r:embed="rId3">
                <a:extLst>
                  <a:ext uri="{96DAC541-7B7A-43D3-8B79-37D633B846F1}">
                    <asvg:svgBlip xmlns:asvg="http://schemas.microsoft.com/office/drawing/2016/SVG/main" r:embed="rId4"/>
                  </a:ext>
                </a:extLst>
              </a:blip>
              <a:stretch>
                <a:fillRect t="-51576"/>
              </a:stretch>
            </a:blipFill>
          </p:spPr>
          <p:txBody>
            <a:bodyPr/>
            <a:lstStyle/>
            <a:p>
              <a:endParaRPr lang="vi-VN"/>
            </a:p>
          </p:txBody>
        </p:sp>
        <p:grpSp>
          <p:nvGrpSpPr>
            <p:cNvPr id="5" name="Group 5"/>
            <p:cNvGrpSpPr/>
            <p:nvPr/>
          </p:nvGrpSpPr>
          <p:grpSpPr>
            <a:xfrm rot="-10800000">
              <a:off x="2115666" y="3513875"/>
              <a:ext cx="11021285" cy="12054491"/>
              <a:chOff x="0" y="0"/>
              <a:chExt cx="4911651" cy="5372100"/>
            </a:xfrm>
          </p:grpSpPr>
          <p:sp>
            <p:nvSpPr>
              <p:cNvPr id="6" name="Freeform 6"/>
              <p:cNvSpPr/>
              <p:nvPr/>
            </p:nvSpPr>
            <p:spPr>
              <a:xfrm>
                <a:off x="0" y="0"/>
                <a:ext cx="4911651" cy="5372100"/>
              </a:xfrm>
              <a:custGeom>
                <a:avLst/>
                <a:gdLst/>
                <a:ahLst/>
                <a:cxnLst/>
                <a:rect l="l" t="t" r="r" b="b"/>
                <a:pathLst>
                  <a:path w="4911651" h="5372100">
                    <a:moveTo>
                      <a:pt x="3360981" y="0"/>
                    </a:moveTo>
                    <a:lnTo>
                      <a:pt x="1550670" y="0"/>
                    </a:lnTo>
                    <a:lnTo>
                      <a:pt x="0" y="2686050"/>
                    </a:lnTo>
                    <a:lnTo>
                      <a:pt x="1550670" y="5372100"/>
                    </a:lnTo>
                    <a:lnTo>
                      <a:pt x="3360981" y="5372100"/>
                    </a:lnTo>
                    <a:lnTo>
                      <a:pt x="4911651" y="2686050"/>
                    </a:lnTo>
                    <a:lnTo>
                      <a:pt x="3360981" y="0"/>
                    </a:lnTo>
                    <a:close/>
                  </a:path>
                </a:pathLst>
              </a:custGeom>
              <a:solidFill>
                <a:srgbClr val="1836B2"/>
              </a:solidFill>
            </p:spPr>
            <p:txBody>
              <a:bodyPr/>
              <a:lstStyle/>
              <a:p>
                <a:endParaRPr lang="vi-VN"/>
              </a:p>
            </p:txBody>
          </p:sp>
        </p:grpSp>
      </p:grpSp>
      <p:graphicFrame>
        <p:nvGraphicFramePr>
          <p:cNvPr id="7" name="Table 7"/>
          <p:cNvGraphicFramePr>
            <a:graphicFrameLocks noGrp="1"/>
          </p:cNvGraphicFramePr>
          <p:nvPr>
            <p:extLst>
              <p:ext uri="{D42A27DB-BD31-4B8C-83A1-F6EECF244321}">
                <p14:modId xmlns:p14="http://schemas.microsoft.com/office/powerpoint/2010/main" val="44115115"/>
              </p:ext>
            </p:extLst>
          </p:nvPr>
        </p:nvGraphicFramePr>
        <p:xfrm>
          <a:off x="1028699" y="2247900"/>
          <a:ext cx="13982701" cy="6370478"/>
        </p:xfrm>
        <a:graphic>
          <a:graphicData uri="http://schemas.openxmlformats.org/drawingml/2006/table">
            <a:tbl>
              <a:tblPr/>
              <a:tblGrid>
                <a:gridCol w="6286501">
                  <a:extLst>
                    <a:ext uri="{9D8B030D-6E8A-4147-A177-3AD203B41FA5}">
                      <a16:colId xmlns:a16="http://schemas.microsoft.com/office/drawing/2014/main" val="20000"/>
                    </a:ext>
                  </a:extLst>
                </a:gridCol>
                <a:gridCol w="7696200">
                  <a:extLst>
                    <a:ext uri="{9D8B030D-6E8A-4147-A177-3AD203B41FA5}">
                      <a16:colId xmlns:a16="http://schemas.microsoft.com/office/drawing/2014/main" val="20001"/>
                    </a:ext>
                  </a:extLst>
                </a:gridCol>
              </a:tblGrid>
              <a:tr h="1827467">
                <a:tc>
                  <a:txBody>
                    <a:bodyPr/>
                    <a:lstStyle/>
                    <a:p>
                      <a:pPr marL="0" indent="0" algn="l">
                        <a:lnSpc>
                          <a:spcPts val="5599"/>
                        </a:lnSpc>
                        <a:buFont typeface="+mj-lt"/>
                        <a:buNone/>
                        <a:defRPr/>
                      </a:pPr>
                      <a:r>
                        <a:rPr lang="en-US" sz="3999" dirty="0">
                          <a:solidFill>
                            <a:srgbClr val="000000"/>
                          </a:solidFill>
                          <a:latin typeface="Arial" panose="020B0604020202020204" pitchFamily="34" charset="0"/>
                          <a:ea typeface="Cabin"/>
                          <a:cs typeface="Arial" panose="020B0604020202020204" pitchFamily="34" charset="0"/>
                          <a:sym typeface="Cabin"/>
                        </a:rPr>
                        <a:t>1. L</a:t>
                      </a:r>
                      <a:r>
                        <a:rPr lang="vi-VN" sz="3999" dirty="0">
                          <a:solidFill>
                            <a:srgbClr val="000000"/>
                          </a:solidFill>
                          <a:latin typeface="Arial" panose="020B0604020202020204" pitchFamily="34" charset="0"/>
                          <a:ea typeface="Cabin"/>
                          <a:cs typeface="Arial" panose="020B0604020202020204" pitchFamily="34" charset="0"/>
                          <a:sym typeface="Cabin"/>
                        </a:rPr>
                        <a:t>ý do chọn </a:t>
                      </a:r>
                      <a:r>
                        <a:rPr lang="en-US" sz="3999" dirty="0" err="1">
                          <a:solidFill>
                            <a:srgbClr val="000000"/>
                          </a:solidFill>
                          <a:latin typeface="Arial" panose="020B0604020202020204" pitchFamily="34" charset="0"/>
                          <a:ea typeface="Cabin"/>
                          <a:cs typeface="Arial" panose="020B0604020202020204" pitchFamily="34" charset="0"/>
                          <a:sym typeface="Cabin"/>
                        </a:rPr>
                        <a:t>đề</a:t>
                      </a:r>
                      <a:r>
                        <a:rPr lang="en-US" sz="3999" dirty="0">
                          <a:solidFill>
                            <a:srgbClr val="000000"/>
                          </a:solidFill>
                          <a:latin typeface="Arial" panose="020B0604020202020204" pitchFamily="34" charset="0"/>
                          <a:ea typeface="Cabin"/>
                          <a:cs typeface="Arial" panose="020B0604020202020204" pitchFamily="34" charset="0"/>
                          <a:sym typeface="Cabin"/>
                        </a:rPr>
                        <a:t> </a:t>
                      </a:r>
                      <a:r>
                        <a:rPr lang="en-US" sz="3999" dirty="0" err="1">
                          <a:solidFill>
                            <a:srgbClr val="000000"/>
                          </a:solidFill>
                          <a:latin typeface="Arial" panose="020B0604020202020204" pitchFamily="34" charset="0"/>
                          <a:ea typeface="Cabin"/>
                          <a:cs typeface="Arial" panose="020B0604020202020204" pitchFamily="34" charset="0"/>
                          <a:sym typeface="Cabin"/>
                        </a:rPr>
                        <a:t>tài</a:t>
                      </a:r>
                      <a:endParaRPr lang="en-US" sz="1100" dirty="0">
                        <a:latin typeface="Arial" panose="020B0604020202020204" pitchFamily="34" charset="0"/>
                        <a:cs typeface="Arial" panose="020B0604020202020204" pitchFamily="34" charset="0"/>
                      </a:endParaRPr>
                    </a:p>
                  </a:txBody>
                  <a:tcPr marL="190500" marR="190500" marT="190500" marB="19050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a:lnSpc>
                          <a:spcPts val="5599"/>
                        </a:lnSpc>
                        <a:buFont typeface="+mj-lt"/>
                        <a:buNone/>
                        <a:defRPr/>
                      </a:pPr>
                      <a:r>
                        <a:rPr lang="en-US" sz="3999">
                          <a:solidFill>
                            <a:srgbClr val="000000"/>
                          </a:solidFill>
                          <a:latin typeface="Arial" panose="020B0604020202020204" pitchFamily="34" charset="0"/>
                          <a:ea typeface="Cabin"/>
                          <a:cs typeface="Arial" panose="020B0604020202020204" pitchFamily="34" charset="0"/>
                          <a:sym typeface="Cabin"/>
                        </a:rPr>
                        <a:t>2.</a:t>
                      </a:r>
                      <a:r>
                        <a:rPr lang="en-US" sz="3999" baseline="0">
                          <a:solidFill>
                            <a:srgbClr val="000000"/>
                          </a:solidFill>
                          <a:latin typeface="Arial" panose="020B0604020202020204" pitchFamily="34" charset="0"/>
                          <a:ea typeface="Cabin"/>
                          <a:cs typeface="Arial" panose="020B0604020202020204" pitchFamily="34" charset="0"/>
                          <a:sym typeface="Cabin"/>
                        </a:rPr>
                        <a:t> </a:t>
                      </a:r>
                      <a:r>
                        <a:rPr lang="en-US" sz="3999">
                          <a:solidFill>
                            <a:srgbClr val="000000"/>
                          </a:solidFill>
                          <a:latin typeface="Arial" panose="020B0604020202020204" pitchFamily="34" charset="0"/>
                          <a:ea typeface="Cabin"/>
                          <a:cs typeface="Arial" panose="020B0604020202020204" pitchFamily="34" charset="0"/>
                          <a:sym typeface="Cabin"/>
                        </a:rPr>
                        <a:t>Mục tiêu nghiên cứu</a:t>
                      </a:r>
                      <a:endParaRPr lang="en-US" sz="1100">
                        <a:latin typeface="Arial" panose="020B0604020202020204" pitchFamily="34" charset="0"/>
                        <a:cs typeface="Arial" panose="020B0604020202020204" pitchFamily="34" charset="0"/>
                      </a:endParaRPr>
                    </a:p>
                  </a:txBody>
                  <a:tcPr marL="190500" marR="190500" marT="190500" marB="19050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1514337">
                <a:tc>
                  <a:txBody>
                    <a:bodyPr/>
                    <a:lstStyle/>
                    <a:p>
                      <a:pPr marL="0" indent="0" algn="l">
                        <a:lnSpc>
                          <a:spcPts val="5599"/>
                        </a:lnSpc>
                        <a:buFont typeface="+mj-lt"/>
                        <a:buNone/>
                        <a:defRPr/>
                      </a:pPr>
                      <a:r>
                        <a:rPr lang="en-US" sz="3999" dirty="0">
                          <a:solidFill>
                            <a:srgbClr val="000000"/>
                          </a:solidFill>
                          <a:latin typeface="Arial" panose="020B0604020202020204" pitchFamily="34" charset="0"/>
                          <a:ea typeface="Cabin"/>
                          <a:cs typeface="Arial" panose="020B0604020202020204" pitchFamily="34" charset="0"/>
                          <a:sym typeface="Cabin"/>
                        </a:rPr>
                        <a:t>3. </a:t>
                      </a:r>
                      <a:r>
                        <a:rPr lang="en-US" sz="3999" dirty="0" err="1">
                          <a:solidFill>
                            <a:srgbClr val="000000"/>
                          </a:solidFill>
                          <a:latin typeface="Arial" panose="020B0604020202020204" pitchFamily="34" charset="0"/>
                          <a:ea typeface="Cabin"/>
                          <a:cs typeface="Arial" panose="020B0604020202020204" pitchFamily="34" charset="0"/>
                          <a:sym typeface="Cabin"/>
                        </a:rPr>
                        <a:t>Cơ</a:t>
                      </a:r>
                      <a:r>
                        <a:rPr lang="en-US" sz="3999" dirty="0">
                          <a:solidFill>
                            <a:srgbClr val="000000"/>
                          </a:solidFill>
                          <a:latin typeface="Arial" panose="020B0604020202020204" pitchFamily="34" charset="0"/>
                          <a:ea typeface="Cabin"/>
                          <a:cs typeface="Arial" panose="020B0604020202020204" pitchFamily="34" charset="0"/>
                          <a:sym typeface="Cabin"/>
                        </a:rPr>
                        <a:t> </a:t>
                      </a:r>
                      <a:r>
                        <a:rPr lang="en-US" sz="3999" dirty="0" err="1">
                          <a:solidFill>
                            <a:srgbClr val="000000"/>
                          </a:solidFill>
                          <a:latin typeface="Arial" panose="020B0604020202020204" pitchFamily="34" charset="0"/>
                          <a:ea typeface="Cabin"/>
                          <a:cs typeface="Arial" panose="020B0604020202020204" pitchFamily="34" charset="0"/>
                          <a:sym typeface="Cabin"/>
                        </a:rPr>
                        <a:t>sở</a:t>
                      </a:r>
                      <a:r>
                        <a:rPr lang="en-US" sz="3999" dirty="0">
                          <a:solidFill>
                            <a:srgbClr val="000000"/>
                          </a:solidFill>
                          <a:latin typeface="Arial" panose="020B0604020202020204" pitchFamily="34" charset="0"/>
                          <a:ea typeface="Cabin"/>
                          <a:cs typeface="Arial" panose="020B0604020202020204" pitchFamily="34" charset="0"/>
                          <a:sym typeface="Cabin"/>
                        </a:rPr>
                        <a:t> </a:t>
                      </a:r>
                      <a:r>
                        <a:rPr lang="en-US" sz="3999" dirty="0" err="1">
                          <a:solidFill>
                            <a:srgbClr val="000000"/>
                          </a:solidFill>
                          <a:latin typeface="Arial" panose="020B0604020202020204" pitchFamily="34" charset="0"/>
                          <a:ea typeface="Cabin"/>
                          <a:cs typeface="Arial" panose="020B0604020202020204" pitchFamily="34" charset="0"/>
                          <a:sym typeface="Cabin"/>
                        </a:rPr>
                        <a:t>lý</a:t>
                      </a:r>
                      <a:r>
                        <a:rPr lang="en-US" sz="3999" dirty="0">
                          <a:solidFill>
                            <a:srgbClr val="000000"/>
                          </a:solidFill>
                          <a:latin typeface="Arial" panose="020B0604020202020204" pitchFamily="34" charset="0"/>
                          <a:ea typeface="Cabin"/>
                          <a:cs typeface="Arial" panose="020B0604020202020204" pitchFamily="34" charset="0"/>
                          <a:sym typeface="Cabin"/>
                        </a:rPr>
                        <a:t> </a:t>
                      </a:r>
                      <a:r>
                        <a:rPr lang="en-US" sz="3999" dirty="0" err="1">
                          <a:solidFill>
                            <a:srgbClr val="000000"/>
                          </a:solidFill>
                          <a:latin typeface="Arial" panose="020B0604020202020204" pitchFamily="34" charset="0"/>
                          <a:ea typeface="Cabin"/>
                          <a:cs typeface="Arial" panose="020B0604020202020204" pitchFamily="34" charset="0"/>
                          <a:sym typeface="Cabin"/>
                        </a:rPr>
                        <a:t>thuyết</a:t>
                      </a:r>
                      <a:endParaRPr lang="en-US" sz="1100" dirty="0">
                        <a:latin typeface="Arial" panose="020B0604020202020204" pitchFamily="34" charset="0"/>
                        <a:cs typeface="Arial" panose="020B0604020202020204" pitchFamily="34" charset="0"/>
                      </a:endParaRPr>
                    </a:p>
                  </a:txBody>
                  <a:tcPr marL="190500" marR="190500" marT="190500" marB="19050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a:lnSpc>
                          <a:spcPts val="5599"/>
                        </a:lnSpc>
                        <a:buFont typeface="+mj-lt"/>
                        <a:buNone/>
                        <a:defRPr/>
                      </a:pPr>
                      <a:r>
                        <a:rPr lang="en-US" sz="3999">
                          <a:solidFill>
                            <a:srgbClr val="000000"/>
                          </a:solidFill>
                          <a:latin typeface="Arial" panose="020B0604020202020204" pitchFamily="34" charset="0"/>
                          <a:ea typeface="Cabin"/>
                          <a:cs typeface="Arial" panose="020B0604020202020204" pitchFamily="34" charset="0"/>
                          <a:sym typeface="Cabin"/>
                        </a:rPr>
                        <a:t>4. Mô </a:t>
                      </a:r>
                      <a:r>
                        <a:rPr lang="en-US" sz="3999" err="1">
                          <a:solidFill>
                            <a:srgbClr val="000000"/>
                          </a:solidFill>
                          <a:latin typeface="Arial" panose="020B0604020202020204" pitchFamily="34" charset="0"/>
                          <a:ea typeface="Cabin"/>
                          <a:cs typeface="Arial" panose="020B0604020202020204" pitchFamily="34" charset="0"/>
                          <a:sym typeface="Cabin"/>
                        </a:rPr>
                        <a:t>tả</a:t>
                      </a:r>
                      <a:r>
                        <a:rPr lang="en-US" sz="3999">
                          <a:solidFill>
                            <a:srgbClr val="000000"/>
                          </a:solidFill>
                          <a:latin typeface="Arial" panose="020B0604020202020204" pitchFamily="34" charset="0"/>
                          <a:ea typeface="Cabin"/>
                          <a:cs typeface="Arial" panose="020B0604020202020204" pitchFamily="34" charset="0"/>
                          <a:sym typeface="Cabin"/>
                        </a:rPr>
                        <a:t> </a:t>
                      </a:r>
                      <a:r>
                        <a:rPr lang="en-US" sz="3999" err="1">
                          <a:solidFill>
                            <a:srgbClr val="000000"/>
                          </a:solidFill>
                          <a:latin typeface="Arial" panose="020B0604020202020204" pitchFamily="34" charset="0"/>
                          <a:ea typeface="Cabin"/>
                          <a:cs typeface="Arial" panose="020B0604020202020204" pitchFamily="34" charset="0"/>
                          <a:sym typeface="Cabin"/>
                        </a:rPr>
                        <a:t>bài</a:t>
                      </a:r>
                      <a:r>
                        <a:rPr lang="en-US" sz="3999">
                          <a:solidFill>
                            <a:srgbClr val="000000"/>
                          </a:solidFill>
                          <a:latin typeface="Arial" panose="020B0604020202020204" pitchFamily="34" charset="0"/>
                          <a:ea typeface="Cabin"/>
                          <a:cs typeface="Arial" panose="020B0604020202020204" pitchFamily="34" charset="0"/>
                          <a:sym typeface="Cabin"/>
                        </a:rPr>
                        <a:t> </a:t>
                      </a:r>
                      <a:r>
                        <a:rPr lang="en-US" sz="3999" err="1">
                          <a:solidFill>
                            <a:srgbClr val="000000"/>
                          </a:solidFill>
                          <a:latin typeface="Arial" panose="020B0604020202020204" pitchFamily="34" charset="0"/>
                          <a:ea typeface="Cabin"/>
                          <a:cs typeface="Arial" panose="020B0604020202020204" pitchFamily="34" charset="0"/>
                          <a:sym typeface="Cabin"/>
                        </a:rPr>
                        <a:t>toán</a:t>
                      </a:r>
                      <a:endParaRPr lang="en-US" sz="1100">
                        <a:latin typeface="Arial" panose="020B0604020202020204" pitchFamily="34" charset="0"/>
                        <a:cs typeface="Arial" panose="020B0604020202020204" pitchFamily="34" charset="0"/>
                      </a:endParaRPr>
                    </a:p>
                  </a:txBody>
                  <a:tcPr marL="190500" marR="190500" marT="190500" marB="19050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514337">
                <a:tc>
                  <a:txBody>
                    <a:bodyPr/>
                    <a:lstStyle/>
                    <a:p>
                      <a:pPr algn="l">
                        <a:lnSpc>
                          <a:spcPts val="5599"/>
                        </a:lnSpc>
                        <a:defRPr/>
                      </a:pPr>
                      <a:r>
                        <a:rPr lang="en-US" sz="4000" dirty="0"/>
                        <a:t>5. </a:t>
                      </a:r>
                      <a:r>
                        <a:rPr lang="en-US" sz="4000" dirty="0" err="1"/>
                        <a:t>Yêu</a:t>
                      </a:r>
                      <a:r>
                        <a:rPr lang="en-US" sz="4000" baseline="0" dirty="0"/>
                        <a:t> </a:t>
                      </a:r>
                      <a:r>
                        <a:rPr lang="en-US" sz="4000" baseline="0" dirty="0" err="1"/>
                        <a:t>cầu</a:t>
                      </a:r>
                      <a:r>
                        <a:rPr lang="en-US" sz="4000" baseline="0" dirty="0"/>
                        <a:t> </a:t>
                      </a:r>
                      <a:r>
                        <a:rPr lang="vi-VN" sz="4000" dirty="0"/>
                        <a:t>hệ thống</a:t>
                      </a:r>
                      <a:endParaRPr lang="en-US" sz="1100" b="0" dirty="0">
                        <a:latin typeface="Arial" panose="020B0604020202020204" pitchFamily="34" charset="0"/>
                        <a:cs typeface="Arial" panose="020B0604020202020204" pitchFamily="34" charset="0"/>
                      </a:endParaRPr>
                    </a:p>
                  </a:txBody>
                  <a:tcPr marL="190500" marR="190500" marT="190500" marB="19050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ts val="5599"/>
                        </a:lnSpc>
                        <a:defRPr/>
                      </a:pPr>
                      <a:r>
                        <a:rPr lang="en-US" sz="4000"/>
                        <a:t>6. </a:t>
                      </a:r>
                      <a:r>
                        <a:rPr lang="vi-VN" sz="4000"/>
                        <a:t>Thiết kế hệ thống</a:t>
                      </a:r>
                      <a:endParaRPr lang="en-US" sz="1100">
                        <a:latin typeface="Arial" panose="020B0604020202020204" pitchFamily="34" charset="0"/>
                        <a:cs typeface="Arial" panose="020B0604020202020204" pitchFamily="34" charset="0"/>
                      </a:endParaRPr>
                    </a:p>
                  </a:txBody>
                  <a:tcPr marL="190500" marR="190500" marT="190500" marB="19050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1514337">
                <a:tc>
                  <a:txBody>
                    <a:bodyPr/>
                    <a:lstStyle/>
                    <a:p>
                      <a:pPr algn="l">
                        <a:lnSpc>
                          <a:spcPts val="5599"/>
                        </a:lnSpc>
                        <a:defRPr/>
                      </a:pPr>
                      <a:r>
                        <a:rPr lang="en-US" sz="4000">
                          <a:latin typeface="Arial" panose="020B0604020202020204" pitchFamily="34" charset="0"/>
                          <a:cs typeface="Arial" panose="020B0604020202020204" pitchFamily="34" charset="0"/>
                        </a:rPr>
                        <a:t>7. </a:t>
                      </a:r>
                      <a:r>
                        <a:rPr lang="vi-VN" sz="4000">
                          <a:latin typeface="Arial" panose="020B0604020202020204" pitchFamily="34" charset="0"/>
                          <a:cs typeface="Arial" panose="020B0604020202020204" pitchFamily="34" charset="0"/>
                        </a:rPr>
                        <a:t>Kết quả nghiên cứu</a:t>
                      </a:r>
                      <a:endParaRPr lang="en-US" sz="4000">
                        <a:latin typeface="Arial" panose="020B0604020202020204" pitchFamily="34" charset="0"/>
                        <a:cs typeface="Arial" panose="020B0604020202020204" pitchFamily="34" charset="0"/>
                      </a:endParaRPr>
                    </a:p>
                  </a:txBody>
                  <a:tcPr marL="190500" marR="190500" marT="190500" marB="19050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ts val="5599"/>
                        </a:lnSpc>
                        <a:defRPr/>
                      </a:pPr>
                      <a:r>
                        <a:rPr lang="en-US" sz="4000" dirty="0">
                          <a:latin typeface="Arial" panose="020B0604020202020204" pitchFamily="34" charset="0"/>
                          <a:cs typeface="Arial" panose="020B0604020202020204" pitchFamily="34" charset="0"/>
                        </a:rPr>
                        <a:t>8. </a:t>
                      </a:r>
                      <a:r>
                        <a:rPr lang="vi-VN" sz="4000" dirty="0">
                          <a:latin typeface="Arial" panose="020B0604020202020204" pitchFamily="34" charset="0"/>
                          <a:cs typeface="Arial" panose="020B0604020202020204" pitchFamily="34" charset="0"/>
                        </a:rPr>
                        <a:t>Kết</a:t>
                      </a:r>
                      <a:r>
                        <a:rPr lang="en-US" sz="4000" baseline="0" dirty="0">
                          <a:latin typeface="Arial" panose="020B0604020202020204" pitchFamily="34" charset="0"/>
                          <a:cs typeface="Arial" panose="020B0604020202020204" pitchFamily="34" charset="0"/>
                        </a:rPr>
                        <a:t> </a:t>
                      </a:r>
                      <a:r>
                        <a:rPr lang="vi-VN" sz="4000" dirty="0">
                          <a:latin typeface="Arial" panose="020B0604020202020204" pitchFamily="34" charset="0"/>
                          <a:cs typeface="Arial" panose="020B0604020202020204" pitchFamily="34" charset="0"/>
                        </a:rPr>
                        <a:t>luận và hướng phát triển</a:t>
                      </a:r>
                      <a:endParaRPr lang="en-US" sz="4000" dirty="0">
                        <a:latin typeface="Arial" panose="020B0604020202020204" pitchFamily="34" charset="0"/>
                        <a:cs typeface="Arial" panose="020B0604020202020204" pitchFamily="34" charset="0"/>
                      </a:endParaRPr>
                    </a:p>
                  </a:txBody>
                  <a:tcPr marL="190500" marR="190500" marT="190500" marB="19050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bl>
          </a:graphicData>
        </a:graphic>
      </p:graphicFrame>
      <p:sp>
        <p:nvSpPr>
          <p:cNvPr id="8" name="AutoShape 9">
            <a:extLst>
              <a:ext uri="{FF2B5EF4-FFF2-40B4-BE49-F238E27FC236}">
                <a16:creationId xmlns:a16="http://schemas.microsoft.com/office/drawing/2014/main" id="{3A6ED9E7-6693-AB95-E0AA-DDE68ECA7E42}"/>
              </a:ext>
            </a:extLst>
          </p:cNvPr>
          <p:cNvSpPr/>
          <p:nvPr/>
        </p:nvSpPr>
        <p:spPr>
          <a:xfrm>
            <a:off x="1926844" y="3632001"/>
            <a:ext cx="2754945" cy="0"/>
          </a:xfrm>
          <a:prstGeom prst="line">
            <a:avLst/>
          </a:prstGeom>
          <a:ln w="28575" cap="flat">
            <a:solidFill>
              <a:srgbClr val="394B80"/>
            </a:solidFill>
            <a:prstDash val="solid"/>
            <a:headEnd type="none" w="sm" len="sm"/>
            <a:tailEnd type="none" w="sm" len="sm"/>
          </a:ln>
        </p:spPr>
      </p:sp>
      <p:sp>
        <p:nvSpPr>
          <p:cNvPr id="12" name="AutoShape 9">
            <a:extLst>
              <a:ext uri="{FF2B5EF4-FFF2-40B4-BE49-F238E27FC236}">
                <a16:creationId xmlns:a16="http://schemas.microsoft.com/office/drawing/2014/main" id="{8D5A91C1-F725-402B-16CA-4A62F500B7B1}"/>
              </a:ext>
            </a:extLst>
          </p:cNvPr>
          <p:cNvSpPr/>
          <p:nvPr/>
        </p:nvSpPr>
        <p:spPr>
          <a:xfrm>
            <a:off x="1930381" y="5215703"/>
            <a:ext cx="2754945" cy="0"/>
          </a:xfrm>
          <a:prstGeom prst="line">
            <a:avLst/>
          </a:prstGeom>
          <a:ln w="28575" cap="flat">
            <a:solidFill>
              <a:srgbClr val="394B80"/>
            </a:solidFill>
            <a:prstDash val="solid"/>
            <a:headEnd type="none" w="sm" len="sm"/>
            <a:tailEnd type="none" w="sm" len="sm"/>
          </a:ln>
        </p:spPr>
      </p:sp>
      <p:sp>
        <p:nvSpPr>
          <p:cNvPr id="16" name="AutoShape 9">
            <a:extLst>
              <a:ext uri="{FF2B5EF4-FFF2-40B4-BE49-F238E27FC236}">
                <a16:creationId xmlns:a16="http://schemas.microsoft.com/office/drawing/2014/main" id="{17BA673D-3D49-F0AC-0490-85E4061D3537}"/>
              </a:ext>
            </a:extLst>
          </p:cNvPr>
          <p:cNvSpPr/>
          <p:nvPr/>
        </p:nvSpPr>
        <p:spPr>
          <a:xfrm>
            <a:off x="1996336" y="6730577"/>
            <a:ext cx="2754945" cy="0"/>
          </a:xfrm>
          <a:prstGeom prst="line">
            <a:avLst/>
          </a:prstGeom>
          <a:ln w="28575" cap="flat">
            <a:solidFill>
              <a:srgbClr val="394B80"/>
            </a:solidFill>
            <a:prstDash val="solid"/>
            <a:headEnd type="none" w="sm" len="sm"/>
            <a:tailEnd type="none" w="sm" len="sm"/>
          </a:ln>
        </p:spPr>
      </p:sp>
      <p:sp>
        <p:nvSpPr>
          <p:cNvPr id="20" name="AutoShape 9">
            <a:extLst>
              <a:ext uri="{FF2B5EF4-FFF2-40B4-BE49-F238E27FC236}">
                <a16:creationId xmlns:a16="http://schemas.microsoft.com/office/drawing/2014/main" id="{D712CF2D-7421-FBCD-46D2-38C522AC8A39}"/>
              </a:ext>
            </a:extLst>
          </p:cNvPr>
          <p:cNvSpPr/>
          <p:nvPr/>
        </p:nvSpPr>
        <p:spPr>
          <a:xfrm>
            <a:off x="1828800" y="8267700"/>
            <a:ext cx="2754945" cy="0"/>
          </a:xfrm>
          <a:prstGeom prst="line">
            <a:avLst/>
          </a:prstGeom>
          <a:ln w="28575" cap="flat">
            <a:solidFill>
              <a:srgbClr val="394B80"/>
            </a:solidFill>
            <a:prstDash val="solid"/>
            <a:headEnd type="none" w="sm" len="sm"/>
            <a:tailEnd type="none" w="sm" len="sm"/>
          </a:ln>
        </p:spPr>
      </p:sp>
      <p:sp>
        <p:nvSpPr>
          <p:cNvPr id="21" name="AutoShape 9">
            <a:extLst>
              <a:ext uri="{FF2B5EF4-FFF2-40B4-BE49-F238E27FC236}">
                <a16:creationId xmlns:a16="http://schemas.microsoft.com/office/drawing/2014/main" id="{D8F0396A-F3FD-C719-EF22-54B7EB1497D8}"/>
              </a:ext>
            </a:extLst>
          </p:cNvPr>
          <p:cNvSpPr/>
          <p:nvPr/>
        </p:nvSpPr>
        <p:spPr>
          <a:xfrm>
            <a:off x="8238146" y="3632001"/>
            <a:ext cx="2754945" cy="0"/>
          </a:xfrm>
          <a:prstGeom prst="line">
            <a:avLst/>
          </a:prstGeom>
          <a:ln w="28575" cap="flat">
            <a:solidFill>
              <a:srgbClr val="394B80"/>
            </a:solidFill>
            <a:prstDash val="solid"/>
            <a:headEnd type="none" w="sm" len="sm"/>
            <a:tailEnd type="none" w="sm" len="sm"/>
          </a:ln>
        </p:spPr>
      </p:sp>
      <p:sp>
        <p:nvSpPr>
          <p:cNvPr id="22" name="AutoShape 9">
            <a:extLst>
              <a:ext uri="{FF2B5EF4-FFF2-40B4-BE49-F238E27FC236}">
                <a16:creationId xmlns:a16="http://schemas.microsoft.com/office/drawing/2014/main" id="{B1BA34E8-914E-E70A-BC8B-6FCBDC2DE917}"/>
              </a:ext>
            </a:extLst>
          </p:cNvPr>
          <p:cNvSpPr/>
          <p:nvPr/>
        </p:nvSpPr>
        <p:spPr>
          <a:xfrm>
            <a:off x="8077200" y="5257613"/>
            <a:ext cx="2754945" cy="0"/>
          </a:xfrm>
          <a:prstGeom prst="line">
            <a:avLst/>
          </a:prstGeom>
          <a:ln w="28575" cap="flat">
            <a:solidFill>
              <a:srgbClr val="394B80"/>
            </a:solidFill>
            <a:prstDash val="solid"/>
            <a:headEnd type="none" w="sm" len="sm"/>
            <a:tailEnd type="none" w="sm" len="sm"/>
          </a:ln>
        </p:spPr>
      </p:sp>
      <p:sp>
        <p:nvSpPr>
          <p:cNvPr id="23" name="AutoShape 9">
            <a:extLst>
              <a:ext uri="{FF2B5EF4-FFF2-40B4-BE49-F238E27FC236}">
                <a16:creationId xmlns:a16="http://schemas.microsoft.com/office/drawing/2014/main" id="{23DF087D-8F85-D0CA-B114-05E0FE64ECC2}"/>
              </a:ext>
            </a:extLst>
          </p:cNvPr>
          <p:cNvSpPr/>
          <p:nvPr/>
        </p:nvSpPr>
        <p:spPr>
          <a:xfrm>
            <a:off x="8238146" y="6730577"/>
            <a:ext cx="2754945" cy="0"/>
          </a:xfrm>
          <a:prstGeom prst="line">
            <a:avLst/>
          </a:prstGeom>
          <a:ln w="28575" cap="flat">
            <a:solidFill>
              <a:srgbClr val="394B80"/>
            </a:solidFill>
            <a:prstDash val="solid"/>
            <a:headEnd type="none" w="sm" len="sm"/>
            <a:tailEnd type="none" w="sm" len="sm"/>
          </a:ln>
        </p:spPr>
      </p:sp>
      <p:sp>
        <p:nvSpPr>
          <p:cNvPr id="24" name="AutoShape 9">
            <a:extLst>
              <a:ext uri="{FF2B5EF4-FFF2-40B4-BE49-F238E27FC236}">
                <a16:creationId xmlns:a16="http://schemas.microsoft.com/office/drawing/2014/main" id="{09602E09-15DF-76E0-950E-104E5582A8CB}"/>
              </a:ext>
            </a:extLst>
          </p:cNvPr>
          <p:cNvSpPr/>
          <p:nvPr/>
        </p:nvSpPr>
        <p:spPr>
          <a:xfrm>
            <a:off x="8077200" y="8267700"/>
            <a:ext cx="2754945" cy="0"/>
          </a:xfrm>
          <a:prstGeom prst="line">
            <a:avLst/>
          </a:prstGeom>
          <a:ln w="28575" cap="flat">
            <a:solidFill>
              <a:srgbClr val="394B80"/>
            </a:solidFill>
            <a:prstDash val="solid"/>
            <a:headEnd type="none" w="sm" len="sm"/>
            <a:tailEnd type="none" w="sm" len="sm"/>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E803A-EB2D-0CB4-B30F-4307E0952C32}"/>
            </a:ext>
          </a:extLst>
        </p:cNvPr>
        <p:cNvGrpSpPr/>
        <p:nvPr/>
      </p:nvGrpSpPr>
      <p:grpSpPr>
        <a:xfrm>
          <a:off x="0" y="0"/>
          <a:ext cx="0" cy="0"/>
          <a:chOff x="0" y="0"/>
          <a:chExt cx="0" cy="0"/>
        </a:xfrm>
      </p:grpSpPr>
      <p:grpSp>
        <p:nvGrpSpPr>
          <p:cNvPr id="7" name="Group 30">
            <a:extLst>
              <a:ext uri="{FF2B5EF4-FFF2-40B4-BE49-F238E27FC236}">
                <a16:creationId xmlns:a16="http://schemas.microsoft.com/office/drawing/2014/main" id="{0AC3FE88-F93A-8601-3F93-2DFDC9A54F8E}"/>
              </a:ext>
            </a:extLst>
          </p:cNvPr>
          <p:cNvGrpSpPr/>
          <p:nvPr/>
        </p:nvGrpSpPr>
        <p:grpSpPr>
          <a:xfrm>
            <a:off x="228599" y="4191293"/>
            <a:ext cx="5761801" cy="5156919"/>
            <a:chOff x="0" y="0"/>
            <a:chExt cx="1889826" cy="1515256"/>
          </a:xfrm>
        </p:grpSpPr>
        <p:sp>
          <p:nvSpPr>
            <p:cNvPr id="9" name="Freeform 31">
              <a:extLst>
                <a:ext uri="{FF2B5EF4-FFF2-40B4-BE49-F238E27FC236}">
                  <a16:creationId xmlns:a16="http://schemas.microsoft.com/office/drawing/2014/main" id="{39705660-09B7-3A9A-21FC-BF965F2566ED}"/>
                </a:ext>
              </a:extLst>
            </p:cNvPr>
            <p:cNvSpPr/>
            <p:nvPr/>
          </p:nvSpPr>
          <p:spPr>
            <a:xfrm>
              <a:off x="0" y="0"/>
              <a:ext cx="1889826" cy="1515256"/>
            </a:xfrm>
            <a:custGeom>
              <a:avLst/>
              <a:gdLst/>
              <a:ahLst/>
              <a:cxnLst/>
              <a:rect l="l" t="t" r="r" b="b"/>
              <a:pathLst>
                <a:path w="1889826" h="1515256">
                  <a:moveTo>
                    <a:pt x="16930" y="0"/>
                  </a:moveTo>
                  <a:lnTo>
                    <a:pt x="1872896" y="0"/>
                  </a:lnTo>
                  <a:cubicBezTo>
                    <a:pt x="1877386" y="0"/>
                    <a:pt x="1881692" y="1784"/>
                    <a:pt x="1884867" y="4959"/>
                  </a:cubicBezTo>
                  <a:cubicBezTo>
                    <a:pt x="1888042" y="8134"/>
                    <a:pt x="1889826" y="12440"/>
                    <a:pt x="1889826" y="16930"/>
                  </a:cubicBezTo>
                  <a:lnTo>
                    <a:pt x="1889826" y="1498326"/>
                  </a:lnTo>
                  <a:cubicBezTo>
                    <a:pt x="1889826" y="1502816"/>
                    <a:pt x="1888042" y="1507122"/>
                    <a:pt x="1884867" y="1510298"/>
                  </a:cubicBezTo>
                  <a:cubicBezTo>
                    <a:pt x="1881692" y="1513473"/>
                    <a:pt x="1877386" y="1515256"/>
                    <a:pt x="1872896" y="1515256"/>
                  </a:cubicBezTo>
                  <a:lnTo>
                    <a:pt x="16930" y="1515256"/>
                  </a:lnTo>
                  <a:cubicBezTo>
                    <a:pt x="7580" y="1515256"/>
                    <a:pt x="0" y="1507676"/>
                    <a:pt x="0" y="1498326"/>
                  </a:cubicBezTo>
                  <a:lnTo>
                    <a:pt x="0" y="16930"/>
                  </a:lnTo>
                  <a:cubicBezTo>
                    <a:pt x="0" y="12440"/>
                    <a:pt x="1784" y="8134"/>
                    <a:pt x="4959" y="4959"/>
                  </a:cubicBezTo>
                  <a:cubicBezTo>
                    <a:pt x="8134" y="1784"/>
                    <a:pt x="12440" y="0"/>
                    <a:pt x="16930" y="0"/>
                  </a:cubicBezTo>
                  <a:close/>
                </a:path>
              </a:pathLst>
            </a:custGeom>
            <a:solidFill>
              <a:srgbClr val="FFFFFF"/>
            </a:solidFill>
            <a:ln w="19050" cap="rnd">
              <a:solidFill>
                <a:srgbClr val="4383D1"/>
              </a:solidFill>
              <a:prstDash val="solid"/>
              <a:round/>
            </a:ln>
          </p:spPr>
        </p:sp>
        <p:sp>
          <p:nvSpPr>
            <p:cNvPr id="10" name="TextBox 32">
              <a:extLst>
                <a:ext uri="{FF2B5EF4-FFF2-40B4-BE49-F238E27FC236}">
                  <a16:creationId xmlns:a16="http://schemas.microsoft.com/office/drawing/2014/main" id="{7C3EEC86-8B35-FA0C-4C58-37894ADE9392}"/>
                </a:ext>
              </a:extLst>
            </p:cNvPr>
            <p:cNvSpPr txBox="1"/>
            <p:nvPr/>
          </p:nvSpPr>
          <p:spPr>
            <a:xfrm>
              <a:off x="0" y="-47625"/>
              <a:ext cx="1889826" cy="1562881"/>
            </a:xfrm>
            <a:prstGeom prst="rect">
              <a:avLst/>
            </a:prstGeom>
          </p:spPr>
          <p:txBody>
            <a:bodyPr lIns="50800" tIns="50800" rIns="50800" bIns="50800" rtlCol="0" anchor="ctr"/>
            <a:lstStyle/>
            <a:p>
              <a:pPr algn="ctr">
                <a:lnSpc>
                  <a:spcPts val="2240"/>
                </a:lnSpc>
              </a:pPr>
              <a:endParaRPr/>
            </a:p>
          </p:txBody>
        </p:sp>
      </p:grpSp>
      <p:grpSp>
        <p:nvGrpSpPr>
          <p:cNvPr id="3" name="Group 3">
            <a:extLst>
              <a:ext uri="{FF2B5EF4-FFF2-40B4-BE49-F238E27FC236}">
                <a16:creationId xmlns:a16="http://schemas.microsoft.com/office/drawing/2014/main" id="{65B0AC9B-DED5-DC34-E23D-97E5F9E0DD5E}"/>
              </a:ext>
            </a:extLst>
          </p:cNvPr>
          <p:cNvGrpSpPr/>
          <p:nvPr/>
        </p:nvGrpSpPr>
        <p:grpSpPr>
          <a:xfrm rot="-10800000">
            <a:off x="-2629342" y="-259279"/>
            <a:ext cx="7945947" cy="3511798"/>
            <a:chOff x="0" y="0"/>
            <a:chExt cx="12155147" cy="5372100"/>
          </a:xfrm>
        </p:grpSpPr>
        <p:sp>
          <p:nvSpPr>
            <p:cNvPr id="4" name="Freeform 4">
              <a:extLst>
                <a:ext uri="{FF2B5EF4-FFF2-40B4-BE49-F238E27FC236}">
                  <a16:creationId xmlns:a16="http://schemas.microsoft.com/office/drawing/2014/main" id="{ACA104C8-C8A3-1047-5FF1-83DF6BEC6B4B}"/>
                </a:ext>
              </a:extLst>
            </p:cNvPr>
            <p:cNvSpPr/>
            <p:nvPr/>
          </p:nvSpPr>
          <p:spPr>
            <a:xfrm>
              <a:off x="0" y="0"/>
              <a:ext cx="12155147" cy="5372100"/>
            </a:xfrm>
            <a:custGeom>
              <a:avLst/>
              <a:gdLst/>
              <a:ahLst/>
              <a:cxnLst/>
              <a:rect l="l" t="t" r="r" b="b"/>
              <a:pathLst>
                <a:path w="12155147" h="5372100">
                  <a:moveTo>
                    <a:pt x="10604477" y="0"/>
                  </a:moveTo>
                  <a:lnTo>
                    <a:pt x="1550670" y="0"/>
                  </a:lnTo>
                  <a:lnTo>
                    <a:pt x="0" y="2686050"/>
                  </a:lnTo>
                  <a:lnTo>
                    <a:pt x="1550670" y="5372100"/>
                  </a:lnTo>
                  <a:lnTo>
                    <a:pt x="10604477" y="5372100"/>
                  </a:lnTo>
                  <a:lnTo>
                    <a:pt x="12155147" y="2686050"/>
                  </a:lnTo>
                  <a:lnTo>
                    <a:pt x="10604477" y="0"/>
                  </a:lnTo>
                  <a:close/>
                </a:path>
              </a:pathLst>
            </a:custGeom>
            <a:solidFill>
              <a:srgbClr val="1836B2"/>
            </a:solidFill>
          </p:spPr>
          <p:txBody>
            <a:bodyPr/>
            <a:lstStyle/>
            <a:p>
              <a:endParaRPr lang="vi-VN"/>
            </a:p>
          </p:txBody>
        </p:sp>
      </p:grpSp>
      <p:sp>
        <p:nvSpPr>
          <p:cNvPr id="6" name="TextBox 6">
            <a:extLst>
              <a:ext uri="{FF2B5EF4-FFF2-40B4-BE49-F238E27FC236}">
                <a16:creationId xmlns:a16="http://schemas.microsoft.com/office/drawing/2014/main" id="{B4379BC2-88C7-287A-F880-0F31752D2069}"/>
              </a:ext>
            </a:extLst>
          </p:cNvPr>
          <p:cNvSpPr txBox="1"/>
          <p:nvPr/>
        </p:nvSpPr>
        <p:spPr>
          <a:xfrm>
            <a:off x="5486401" y="938775"/>
            <a:ext cx="12573000" cy="982705"/>
          </a:xfrm>
          <a:prstGeom prst="rect">
            <a:avLst/>
          </a:prstGeom>
        </p:spPr>
        <p:txBody>
          <a:bodyPr wrap="square" lIns="0" tIns="0" rIns="0" bIns="0" rtlCol="0" anchor="t">
            <a:spAutoFit/>
          </a:bodyPr>
          <a:lstStyle/>
          <a:p>
            <a:pPr marL="0" lvl="0" indent="0" algn="l">
              <a:lnSpc>
                <a:spcPts val="8717"/>
              </a:lnSpc>
              <a:spcBef>
                <a:spcPct val="0"/>
              </a:spcBef>
            </a:pPr>
            <a:r>
              <a:rPr lang="en-US" sz="5000" b="1" u="none" dirty="0">
                <a:solidFill>
                  <a:srgbClr val="1836B2"/>
                </a:solidFill>
                <a:latin typeface="+mj-lt"/>
                <a:ea typeface="Cabin Semi-Bold"/>
                <a:cs typeface="Times New Roman" panose="02020603050405020304" pitchFamily="18" charset="0"/>
                <a:sym typeface="Cabin Semi-Bold"/>
              </a:rPr>
              <a:t>L</a:t>
            </a:r>
            <a:r>
              <a:rPr lang="vi-VN" sz="5000" b="1" u="none" dirty="0">
                <a:solidFill>
                  <a:srgbClr val="1836B2"/>
                </a:solidFill>
                <a:latin typeface="+mj-lt"/>
                <a:ea typeface="Cabin Semi-Bold"/>
                <a:cs typeface="Times New Roman" panose="02020603050405020304" pitchFamily="18" charset="0"/>
                <a:sym typeface="Cabin Semi-Bold"/>
              </a:rPr>
              <a:t>ý do chọn đề tài</a:t>
            </a:r>
            <a:endParaRPr lang="en-US" sz="5000" b="1" u="none" dirty="0">
              <a:solidFill>
                <a:srgbClr val="1836B2"/>
              </a:solidFill>
              <a:latin typeface="+mj-lt"/>
              <a:ea typeface="Cabin Semi-Bold"/>
              <a:cs typeface="Times New Roman" panose="02020603050405020304" pitchFamily="18" charset="0"/>
              <a:sym typeface="Cabin Semi-Bold"/>
            </a:endParaRPr>
          </a:p>
        </p:txBody>
      </p:sp>
      <p:graphicFrame>
        <p:nvGraphicFramePr>
          <p:cNvPr id="8" name="Table 8">
            <a:extLst>
              <a:ext uri="{FF2B5EF4-FFF2-40B4-BE49-F238E27FC236}">
                <a16:creationId xmlns:a16="http://schemas.microsoft.com/office/drawing/2014/main" id="{DD08C178-38B6-594D-1656-0A7BA1A63A61}"/>
              </a:ext>
            </a:extLst>
          </p:cNvPr>
          <p:cNvGraphicFramePr>
            <a:graphicFrameLocks noGrp="1"/>
          </p:cNvGraphicFramePr>
          <p:nvPr>
            <p:extLst>
              <p:ext uri="{D42A27DB-BD31-4B8C-83A1-F6EECF244321}">
                <p14:modId xmlns:p14="http://schemas.microsoft.com/office/powerpoint/2010/main" val="467290306"/>
              </p:ext>
            </p:extLst>
          </p:nvPr>
        </p:nvGraphicFramePr>
        <p:xfrm>
          <a:off x="398215" y="4533900"/>
          <a:ext cx="5435784" cy="4498648"/>
        </p:xfrm>
        <a:graphic>
          <a:graphicData uri="http://schemas.openxmlformats.org/drawingml/2006/table">
            <a:tbl>
              <a:tblPr/>
              <a:tblGrid>
                <a:gridCol w="5435784">
                  <a:extLst>
                    <a:ext uri="{9D8B030D-6E8A-4147-A177-3AD203B41FA5}">
                      <a16:colId xmlns:a16="http://schemas.microsoft.com/office/drawing/2014/main" val="20000"/>
                    </a:ext>
                  </a:extLst>
                </a:gridCol>
              </a:tblGrid>
              <a:tr h="825808">
                <a:tc>
                  <a:txBody>
                    <a:bodyPr/>
                    <a:lstStyle/>
                    <a:p>
                      <a:pPr algn="ctr">
                        <a:lnSpc>
                          <a:spcPts val="3640"/>
                        </a:lnSpc>
                        <a:defRPr/>
                      </a:pPr>
                      <a:r>
                        <a:rPr lang="vi-VN" sz="2600" b="1" dirty="0"/>
                        <a:t>Xu hướng phát triển game 2D</a:t>
                      </a:r>
                      <a:endParaRPr lang="en-US" sz="2600" b="1" dirty="0">
                        <a:latin typeface="+mn-lt"/>
                      </a:endParaRPr>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19050" cap="flat" cmpd="sng" algn="ctr">
                      <a:solidFill>
                        <a:srgbClr val="86C7ED"/>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895168">
                <a:tc>
                  <a:txBody>
                    <a:bodyPr/>
                    <a:lstStyle/>
                    <a:p>
                      <a:pPr algn="just"/>
                      <a:r>
                        <a:rPr lang="en-US" sz="2400" b="0" i="0" kern="1200" dirty="0">
                          <a:solidFill>
                            <a:schemeClr val="tx1"/>
                          </a:solidFill>
                          <a:effectLst/>
                          <a:latin typeface="+mj-lt"/>
                          <a:ea typeface="+mn-ea"/>
                          <a:cs typeface="+mn-cs"/>
                        </a:rPr>
                        <a:t>• Sinh </a:t>
                      </a:r>
                      <a:r>
                        <a:rPr lang="en-US" sz="2400" b="0" i="0" kern="1200" dirty="0" err="1">
                          <a:solidFill>
                            <a:schemeClr val="tx1"/>
                          </a:solidFill>
                          <a:effectLst/>
                          <a:latin typeface="+mj-lt"/>
                          <a:ea typeface="+mn-ea"/>
                          <a:cs typeface="+mn-cs"/>
                        </a:rPr>
                        <a:t>viên</a:t>
                      </a:r>
                      <a:r>
                        <a:rPr 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hiện</a:t>
                      </a:r>
                      <a:r>
                        <a:rPr lang="en-US" sz="2400" b="0" i="0" kern="1200" dirty="0">
                          <a:solidFill>
                            <a:schemeClr val="tx1"/>
                          </a:solidFill>
                          <a:effectLst/>
                          <a:latin typeface="+mj-lt"/>
                          <a:ea typeface="+mn-ea"/>
                          <a:cs typeface="+mn-cs"/>
                        </a:rPr>
                        <a:t> nay </a:t>
                      </a:r>
                      <a:r>
                        <a:rPr lang="en-US" sz="2400" b="0" i="0" kern="1200" dirty="0" err="1">
                          <a:solidFill>
                            <a:schemeClr val="tx1"/>
                          </a:solidFill>
                          <a:effectLst/>
                          <a:latin typeface="+mj-lt"/>
                          <a:ea typeface="+mn-ea"/>
                          <a:cs typeface="+mn-cs"/>
                        </a:rPr>
                        <a:t>sử</a:t>
                      </a:r>
                      <a:r>
                        <a:rPr 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dụng</a:t>
                      </a:r>
                      <a:r>
                        <a:rPr 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nhiều</a:t>
                      </a:r>
                      <a:r>
                        <a:rPr 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nền</a:t>
                      </a:r>
                      <a:r>
                        <a:rPr 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tảng</a:t>
                      </a:r>
                      <a:r>
                        <a:rPr 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khác</a:t>
                      </a:r>
                      <a:r>
                        <a:rPr 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nhau</a:t>
                      </a:r>
                      <a:r>
                        <a:rPr 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Zalo</a:t>
                      </a:r>
                      <a:r>
                        <a:rPr lang="en-US" sz="2400" b="0" i="0" kern="1200" dirty="0">
                          <a:solidFill>
                            <a:schemeClr val="tx1"/>
                          </a:solidFill>
                          <a:effectLst/>
                          <a:latin typeface="+mj-lt"/>
                          <a:ea typeface="+mn-ea"/>
                          <a:cs typeface="+mn-cs"/>
                        </a:rPr>
                        <a:t>, Email, </a:t>
                      </a:r>
                      <a:r>
                        <a:rPr lang="en-US" sz="2400" b="0" i="0" kern="1200" dirty="0" err="1">
                          <a:solidFill>
                            <a:schemeClr val="tx1"/>
                          </a:solidFill>
                          <a:effectLst/>
                          <a:latin typeface="+mj-lt"/>
                          <a:ea typeface="+mn-ea"/>
                          <a:cs typeface="+mn-cs"/>
                        </a:rPr>
                        <a:t>Sổ</a:t>
                      </a:r>
                      <a:r>
                        <a:rPr 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tay</a:t>
                      </a:r>
                      <a:r>
                        <a:rPr lang="en-US" sz="2400" b="0" i="0" kern="1200" dirty="0">
                          <a:solidFill>
                            <a:schemeClr val="tx1"/>
                          </a:solidFill>
                          <a:effectLst/>
                          <a:latin typeface="+mj-lt"/>
                          <a:ea typeface="+mn-ea"/>
                          <a:cs typeface="+mn-cs"/>
                        </a:rPr>
                        <a:t>)</a:t>
                      </a:r>
                      <a:r>
                        <a:rPr lang="en-US" sz="2400" b="0" i="0" kern="1200" dirty="0" err="1">
                          <a:solidFill>
                            <a:schemeClr val="tx1"/>
                          </a:solidFill>
                          <a:effectLst/>
                          <a:latin typeface="+mj-lt"/>
                          <a:ea typeface="+mn-ea"/>
                          <a:cs typeface="+mn-cs"/>
                        </a:rPr>
                        <a:t>phân</a:t>
                      </a:r>
                      <a:r>
                        <a:rPr 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mảnh</a:t>
                      </a:r>
                      <a:r>
                        <a:rPr 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thông</a:t>
                      </a:r>
                      <a:r>
                        <a:rPr lang="en-US" sz="2400" b="0" i="0" kern="1200" dirty="0">
                          <a:solidFill>
                            <a:schemeClr val="tx1"/>
                          </a:solidFill>
                          <a:effectLst/>
                          <a:latin typeface="+mj-lt"/>
                          <a:ea typeface="+mn-ea"/>
                          <a:cs typeface="+mn-cs"/>
                        </a:rPr>
                        <a:t> tin</a:t>
                      </a:r>
                    </a:p>
                    <a:p>
                      <a:pPr algn="just"/>
                      <a:r>
                        <a:rPr 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Thiếu</a:t>
                      </a:r>
                      <a:r>
                        <a:rPr 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công</a:t>
                      </a:r>
                      <a:r>
                        <a:rPr 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cụ</a:t>
                      </a:r>
                      <a:r>
                        <a:rPr 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tích</a:t>
                      </a:r>
                      <a:r>
                        <a:rPr 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hợp</a:t>
                      </a:r>
                      <a:r>
                        <a:rPr 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đa</a:t>
                      </a:r>
                      <a:r>
                        <a:rPr 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chức</a:t>
                      </a:r>
                      <a:r>
                        <a:rPr 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năng</a:t>
                      </a:r>
                      <a:r>
                        <a:rPr 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quản</a:t>
                      </a:r>
                      <a:r>
                        <a:rPr 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lý</a:t>
                      </a:r>
                      <a:r>
                        <a:rPr 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thời</a:t>
                      </a:r>
                      <a:r>
                        <a:rPr 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gian</a:t>
                      </a:r>
                      <a:r>
                        <a:rPr 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nhắc</a:t>
                      </a:r>
                      <a:r>
                        <a:rPr lang="en-US" sz="2400" b="0" i="0" kern="1200" dirty="0">
                          <a:solidFill>
                            <a:schemeClr val="tx1"/>
                          </a:solidFill>
                          <a:effectLst/>
                          <a:latin typeface="+mj-lt"/>
                          <a:ea typeface="+mn-ea"/>
                          <a:cs typeface="+mn-cs"/>
                        </a:rPr>
                        <a:t> deadline, </a:t>
                      </a:r>
                      <a:r>
                        <a:rPr lang="en-US" sz="2400" b="0" i="0" kern="1200" dirty="0" err="1">
                          <a:solidFill>
                            <a:schemeClr val="tx1"/>
                          </a:solidFill>
                          <a:effectLst/>
                          <a:latin typeface="+mj-lt"/>
                          <a:ea typeface="+mn-ea"/>
                          <a:cs typeface="+mn-cs"/>
                        </a:rPr>
                        <a:t>theo</a:t>
                      </a:r>
                      <a:r>
                        <a:rPr 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dõi</a:t>
                      </a:r>
                      <a:r>
                        <a:rPr 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tiến</a:t>
                      </a:r>
                      <a:r>
                        <a:rPr 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độ</a:t>
                      </a:r>
                      <a:endParaRPr lang="en-US" sz="2400" b="0" i="0" kern="1200" dirty="0">
                        <a:solidFill>
                          <a:schemeClr val="tx1"/>
                        </a:solidFill>
                        <a:effectLst/>
                        <a:latin typeface="+mj-lt"/>
                        <a:ea typeface="+mn-ea"/>
                        <a:cs typeface="+mn-cs"/>
                      </a:endParaRPr>
                    </a:p>
                    <a:p>
                      <a:pPr algn="just"/>
                      <a:r>
                        <a:rPr lang="en-US" sz="2400" b="0" i="0" kern="1200" dirty="0">
                          <a:solidFill>
                            <a:schemeClr val="tx1"/>
                          </a:solidFill>
                          <a:effectLst/>
                          <a:latin typeface="+mj-lt"/>
                          <a:ea typeface="+mn-ea"/>
                          <a:cs typeface="+mn-cs"/>
                        </a:rPr>
                        <a:t>• Nhu </a:t>
                      </a:r>
                      <a:r>
                        <a:rPr lang="en-US" sz="2400" b="0" i="0" kern="1200" dirty="0" err="1">
                          <a:solidFill>
                            <a:schemeClr val="tx1"/>
                          </a:solidFill>
                          <a:effectLst/>
                          <a:latin typeface="+mj-lt"/>
                          <a:ea typeface="+mn-ea"/>
                          <a:cs typeface="+mn-cs"/>
                        </a:rPr>
                        <a:t>cầu</a:t>
                      </a:r>
                      <a:r>
                        <a:rPr 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ứng</a:t>
                      </a:r>
                      <a:r>
                        <a:rPr 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dụng</a:t>
                      </a:r>
                      <a:r>
                        <a:rPr lang="en-US" sz="2400" b="0" i="0" kern="1200" dirty="0">
                          <a:solidFill>
                            <a:schemeClr val="tx1"/>
                          </a:solidFill>
                          <a:effectLst/>
                          <a:latin typeface="+mj-lt"/>
                          <a:ea typeface="+mn-ea"/>
                          <a:cs typeface="+mn-cs"/>
                        </a:rPr>
                        <a:t> AI </a:t>
                      </a:r>
                      <a:r>
                        <a:rPr lang="en-US" sz="2400" b="0" i="0" kern="1200" dirty="0" err="1">
                          <a:solidFill>
                            <a:schemeClr val="tx1"/>
                          </a:solidFill>
                          <a:effectLst/>
                          <a:latin typeface="+mj-lt"/>
                          <a:ea typeface="+mn-ea"/>
                          <a:cs typeface="+mn-cs"/>
                        </a:rPr>
                        <a:t>và</a:t>
                      </a:r>
                      <a:r>
                        <a:rPr lang="en-US" sz="2400" b="0" i="0" kern="1200" dirty="0">
                          <a:solidFill>
                            <a:schemeClr val="tx1"/>
                          </a:solidFill>
                          <a:effectLst/>
                          <a:latin typeface="+mj-lt"/>
                          <a:ea typeface="+mn-ea"/>
                          <a:cs typeface="+mn-cs"/>
                        </a:rPr>
                        <a:t> gamification </a:t>
                      </a:r>
                      <a:r>
                        <a:rPr lang="en-US" sz="2400" b="0" i="0" kern="1200" dirty="0" err="1">
                          <a:solidFill>
                            <a:schemeClr val="tx1"/>
                          </a:solidFill>
                          <a:effectLst/>
                          <a:latin typeface="+mj-lt"/>
                          <a:ea typeface="+mn-ea"/>
                          <a:cs typeface="+mn-cs"/>
                        </a:rPr>
                        <a:t>trong</a:t>
                      </a:r>
                      <a:r>
                        <a:rPr 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quản</a:t>
                      </a:r>
                      <a:r>
                        <a:rPr 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lý</a:t>
                      </a:r>
                      <a:r>
                        <a:rPr 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cá</a:t>
                      </a:r>
                      <a:r>
                        <a:rPr 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nhân</a:t>
                      </a:r>
                      <a:r>
                        <a:rPr 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ngày</a:t>
                      </a:r>
                      <a:r>
                        <a:rPr 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càng</a:t>
                      </a:r>
                      <a:r>
                        <a:rPr 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tăng</a:t>
                      </a:r>
                      <a:endParaRPr lang="en-US" sz="2400" b="0" i="0" kern="1200" dirty="0">
                        <a:solidFill>
                          <a:schemeClr val="tx1"/>
                        </a:solidFill>
                        <a:effectLst/>
                        <a:latin typeface="+mj-lt"/>
                        <a:ea typeface="+mn-ea"/>
                        <a:cs typeface="+mn-cs"/>
                      </a:endParaRPr>
                    </a:p>
                  </a:txBody>
                  <a:tcPr marL="190500" marR="190500" marT="190500" marB="190500">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19050" cap="flat" cmpd="sng" algn="ctr">
                      <a:solidFill>
                        <a:srgbClr val="86C7ED"/>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sp>
        <p:nvSpPr>
          <p:cNvPr id="14" name="Rectangle 1">
            <a:extLst>
              <a:ext uri="{FF2B5EF4-FFF2-40B4-BE49-F238E27FC236}">
                <a16:creationId xmlns:a16="http://schemas.microsoft.com/office/drawing/2014/main" id="{C29FAD2D-3090-B0F1-9FF8-5569798F66B7}"/>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2" name="AutoShape 2" descr="Video Game Controller Wireless Gamepad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grpSp>
        <p:nvGrpSpPr>
          <p:cNvPr id="13" name="Group 30">
            <a:extLst>
              <a:ext uri="{FF2B5EF4-FFF2-40B4-BE49-F238E27FC236}">
                <a16:creationId xmlns:a16="http://schemas.microsoft.com/office/drawing/2014/main" id="{9F152C21-ED85-2EF9-2FFB-DCFEA2350259}"/>
              </a:ext>
            </a:extLst>
          </p:cNvPr>
          <p:cNvGrpSpPr/>
          <p:nvPr/>
        </p:nvGrpSpPr>
        <p:grpSpPr>
          <a:xfrm>
            <a:off x="6134616" y="4204764"/>
            <a:ext cx="5761801" cy="5156919"/>
            <a:chOff x="0" y="0"/>
            <a:chExt cx="1889826" cy="1515256"/>
          </a:xfrm>
        </p:grpSpPr>
        <p:sp>
          <p:nvSpPr>
            <p:cNvPr id="15" name="Freeform 31">
              <a:extLst>
                <a:ext uri="{FF2B5EF4-FFF2-40B4-BE49-F238E27FC236}">
                  <a16:creationId xmlns:a16="http://schemas.microsoft.com/office/drawing/2014/main" id="{5DE82B87-17DA-B257-D0C8-0ECDD2318636}"/>
                </a:ext>
              </a:extLst>
            </p:cNvPr>
            <p:cNvSpPr/>
            <p:nvPr/>
          </p:nvSpPr>
          <p:spPr>
            <a:xfrm>
              <a:off x="0" y="0"/>
              <a:ext cx="1889826" cy="1515256"/>
            </a:xfrm>
            <a:custGeom>
              <a:avLst/>
              <a:gdLst/>
              <a:ahLst/>
              <a:cxnLst/>
              <a:rect l="l" t="t" r="r" b="b"/>
              <a:pathLst>
                <a:path w="1889826" h="1515256">
                  <a:moveTo>
                    <a:pt x="16930" y="0"/>
                  </a:moveTo>
                  <a:lnTo>
                    <a:pt x="1872896" y="0"/>
                  </a:lnTo>
                  <a:cubicBezTo>
                    <a:pt x="1877386" y="0"/>
                    <a:pt x="1881692" y="1784"/>
                    <a:pt x="1884867" y="4959"/>
                  </a:cubicBezTo>
                  <a:cubicBezTo>
                    <a:pt x="1888042" y="8134"/>
                    <a:pt x="1889826" y="12440"/>
                    <a:pt x="1889826" y="16930"/>
                  </a:cubicBezTo>
                  <a:lnTo>
                    <a:pt x="1889826" y="1498326"/>
                  </a:lnTo>
                  <a:cubicBezTo>
                    <a:pt x="1889826" y="1502816"/>
                    <a:pt x="1888042" y="1507122"/>
                    <a:pt x="1884867" y="1510298"/>
                  </a:cubicBezTo>
                  <a:cubicBezTo>
                    <a:pt x="1881692" y="1513473"/>
                    <a:pt x="1877386" y="1515256"/>
                    <a:pt x="1872896" y="1515256"/>
                  </a:cubicBezTo>
                  <a:lnTo>
                    <a:pt x="16930" y="1515256"/>
                  </a:lnTo>
                  <a:cubicBezTo>
                    <a:pt x="7580" y="1515256"/>
                    <a:pt x="0" y="1507676"/>
                    <a:pt x="0" y="1498326"/>
                  </a:cubicBezTo>
                  <a:lnTo>
                    <a:pt x="0" y="16930"/>
                  </a:lnTo>
                  <a:cubicBezTo>
                    <a:pt x="0" y="12440"/>
                    <a:pt x="1784" y="8134"/>
                    <a:pt x="4959" y="4959"/>
                  </a:cubicBezTo>
                  <a:cubicBezTo>
                    <a:pt x="8134" y="1784"/>
                    <a:pt x="12440" y="0"/>
                    <a:pt x="16930" y="0"/>
                  </a:cubicBezTo>
                  <a:close/>
                </a:path>
              </a:pathLst>
            </a:custGeom>
            <a:solidFill>
              <a:srgbClr val="FFFFFF"/>
            </a:solidFill>
            <a:ln w="19050" cap="rnd">
              <a:solidFill>
                <a:srgbClr val="4383D1"/>
              </a:solidFill>
              <a:prstDash val="solid"/>
              <a:round/>
            </a:ln>
          </p:spPr>
        </p:sp>
        <p:sp>
          <p:nvSpPr>
            <p:cNvPr id="16" name="TextBox 32">
              <a:extLst>
                <a:ext uri="{FF2B5EF4-FFF2-40B4-BE49-F238E27FC236}">
                  <a16:creationId xmlns:a16="http://schemas.microsoft.com/office/drawing/2014/main" id="{46835A61-B192-2183-7336-7A31F99D9331}"/>
                </a:ext>
              </a:extLst>
            </p:cNvPr>
            <p:cNvSpPr txBox="1"/>
            <p:nvPr/>
          </p:nvSpPr>
          <p:spPr>
            <a:xfrm>
              <a:off x="0" y="-47625"/>
              <a:ext cx="1889826" cy="1562881"/>
            </a:xfrm>
            <a:prstGeom prst="rect">
              <a:avLst/>
            </a:prstGeom>
          </p:spPr>
          <p:txBody>
            <a:bodyPr lIns="50800" tIns="50800" rIns="50800" bIns="50800" rtlCol="0" anchor="ctr"/>
            <a:lstStyle/>
            <a:p>
              <a:pPr algn="ctr">
                <a:lnSpc>
                  <a:spcPts val="2240"/>
                </a:lnSpc>
              </a:pPr>
              <a:endParaRPr/>
            </a:p>
          </p:txBody>
        </p:sp>
      </p:grpSp>
      <p:graphicFrame>
        <p:nvGraphicFramePr>
          <p:cNvPr id="11" name="Table 8">
            <a:extLst>
              <a:ext uri="{FF2B5EF4-FFF2-40B4-BE49-F238E27FC236}">
                <a16:creationId xmlns:a16="http://schemas.microsoft.com/office/drawing/2014/main" id="{ED345EB2-77E0-CF45-94B9-D87B68E950EC}"/>
              </a:ext>
            </a:extLst>
          </p:cNvPr>
          <p:cNvGraphicFramePr>
            <a:graphicFrameLocks noGrp="1"/>
          </p:cNvGraphicFramePr>
          <p:nvPr>
            <p:extLst>
              <p:ext uri="{D42A27DB-BD31-4B8C-83A1-F6EECF244321}">
                <p14:modId xmlns:p14="http://schemas.microsoft.com/office/powerpoint/2010/main" val="1477025011"/>
              </p:ext>
            </p:extLst>
          </p:nvPr>
        </p:nvGraphicFramePr>
        <p:xfrm>
          <a:off x="6240824" y="4317317"/>
          <a:ext cx="5549383" cy="3657600"/>
        </p:xfrm>
        <a:graphic>
          <a:graphicData uri="http://schemas.openxmlformats.org/drawingml/2006/table">
            <a:tbl>
              <a:tblPr/>
              <a:tblGrid>
                <a:gridCol w="5549383">
                  <a:extLst>
                    <a:ext uri="{9D8B030D-6E8A-4147-A177-3AD203B41FA5}">
                      <a16:colId xmlns:a16="http://schemas.microsoft.com/office/drawing/2014/main" val="20000"/>
                    </a:ext>
                  </a:extLst>
                </a:gridCol>
              </a:tblGrid>
              <a:tr h="976350">
                <a:tc>
                  <a:txBody>
                    <a:bodyPr/>
                    <a:lstStyle/>
                    <a:p>
                      <a:pPr algn="ctr">
                        <a:lnSpc>
                          <a:spcPts val="3640"/>
                        </a:lnSpc>
                        <a:defRPr/>
                      </a:pPr>
                      <a:r>
                        <a:rPr lang="vi-VN" sz="2600" b="1" dirty="0"/>
                        <a:t>Mục tiêu học tập và nghiên cứu</a:t>
                      </a:r>
                      <a:endParaRPr lang="en-US" sz="2600" b="1" dirty="0">
                        <a:latin typeface="+mn-lt"/>
                      </a:endParaRPr>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19050" cap="flat" cmpd="sng" algn="ctr">
                      <a:solidFill>
                        <a:srgbClr val="86C7ED"/>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681250">
                <a:tc>
                  <a:txBody>
                    <a:bodyPr/>
                    <a:lstStyle/>
                    <a:p>
                      <a:pPr algn="just"/>
                      <a:r>
                        <a:rPr lang="en-US" sz="2400" b="0" i="0" kern="1200" dirty="0">
                          <a:solidFill>
                            <a:schemeClr val="tx1"/>
                          </a:solidFill>
                          <a:effectLst/>
                          <a:latin typeface="+mn-lt"/>
                          <a:ea typeface="+mn-ea"/>
                          <a:cs typeface="+mn-cs"/>
                        </a:rPr>
                        <a:t>• </a:t>
                      </a:r>
                      <a:r>
                        <a:rPr lang="en-US" sz="2400" b="0" i="0" kern="1200" dirty="0" err="1">
                          <a:solidFill>
                            <a:schemeClr val="tx1"/>
                          </a:solidFill>
                          <a:effectLst/>
                          <a:latin typeface="+mn-lt"/>
                          <a:ea typeface="+mn-ea"/>
                          <a:cs typeface="+mn-cs"/>
                        </a:rPr>
                        <a:t>Vận</a:t>
                      </a:r>
                      <a:r>
                        <a:rPr lang="en-US" sz="2400" b="0" i="0" kern="1200" dirty="0">
                          <a:solidFill>
                            <a:schemeClr val="tx1"/>
                          </a:solidFill>
                          <a:effectLst/>
                          <a:latin typeface="+mn-lt"/>
                          <a:ea typeface="+mn-ea"/>
                          <a:cs typeface="+mn-cs"/>
                        </a:rPr>
                        <a:t> </a:t>
                      </a:r>
                      <a:r>
                        <a:rPr lang="en-US" sz="2400" b="0" i="0" kern="1200" dirty="0" err="1">
                          <a:solidFill>
                            <a:schemeClr val="tx1"/>
                          </a:solidFill>
                          <a:effectLst/>
                          <a:latin typeface="+mn-lt"/>
                          <a:ea typeface="+mn-ea"/>
                          <a:cs typeface="+mn-cs"/>
                        </a:rPr>
                        <a:t>dụng</a:t>
                      </a:r>
                      <a:r>
                        <a:rPr lang="en-US" sz="2400" b="0" i="0" kern="1200" dirty="0">
                          <a:solidFill>
                            <a:schemeClr val="tx1"/>
                          </a:solidFill>
                          <a:effectLst/>
                          <a:latin typeface="+mn-lt"/>
                          <a:ea typeface="+mn-ea"/>
                          <a:cs typeface="+mn-cs"/>
                        </a:rPr>
                        <a:t> </a:t>
                      </a:r>
                      <a:r>
                        <a:rPr lang="en-US" sz="2400" b="0" i="0" kern="1200" dirty="0" err="1">
                          <a:solidFill>
                            <a:schemeClr val="tx1"/>
                          </a:solidFill>
                          <a:effectLst/>
                          <a:latin typeface="+mn-lt"/>
                          <a:ea typeface="+mn-ea"/>
                          <a:cs typeface="+mn-cs"/>
                        </a:rPr>
                        <a:t>kiến</a:t>
                      </a:r>
                      <a:r>
                        <a:rPr lang="en-US" sz="2400" b="0" i="0" kern="1200" dirty="0">
                          <a:solidFill>
                            <a:schemeClr val="tx1"/>
                          </a:solidFill>
                          <a:effectLst/>
                          <a:latin typeface="+mn-lt"/>
                          <a:ea typeface="+mn-ea"/>
                          <a:cs typeface="+mn-cs"/>
                        </a:rPr>
                        <a:t> </a:t>
                      </a:r>
                      <a:r>
                        <a:rPr lang="en-US" sz="2400" b="0" i="0" kern="1200" dirty="0" err="1">
                          <a:solidFill>
                            <a:schemeClr val="tx1"/>
                          </a:solidFill>
                          <a:effectLst/>
                          <a:latin typeface="+mn-lt"/>
                          <a:ea typeface="+mn-ea"/>
                          <a:cs typeface="+mn-cs"/>
                        </a:rPr>
                        <a:t>thức</a:t>
                      </a:r>
                      <a:r>
                        <a:rPr lang="en-US" sz="2400" b="0" i="0" kern="1200" dirty="0">
                          <a:solidFill>
                            <a:schemeClr val="tx1"/>
                          </a:solidFill>
                          <a:effectLst/>
                          <a:latin typeface="+mn-lt"/>
                          <a:ea typeface="+mn-ea"/>
                          <a:cs typeface="+mn-cs"/>
                        </a:rPr>
                        <a:t> Vue 3, Node.js </a:t>
                      </a:r>
                      <a:r>
                        <a:rPr lang="en-US" sz="2400" b="0" i="0" kern="1200" dirty="0" err="1">
                          <a:solidFill>
                            <a:schemeClr val="tx1"/>
                          </a:solidFill>
                          <a:effectLst/>
                          <a:latin typeface="+mn-lt"/>
                          <a:ea typeface="+mn-ea"/>
                          <a:cs typeface="+mn-cs"/>
                        </a:rPr>
                        <a:t>và</a:t>
                      </a:r>
                      <a:r>
                        <a:rPr lang="en-US" sz="2400" b="0" i="0" kern="1200" dirty="0">
                          <a:solidFill>
                            <a:schemeClr val="tx1"/>
                          </a:solidFill>
                          <a:effectLst/>
                          <a:latin typeface="+mn-lt"/>
                          <a:ea typeface="+mn-ea"/>
                          <a:cs typeface="+mn-cs"/>
                        </a:rPr>
                        <a:t> MySQL </a:t>
                      </a:r>
                      <a:r>
                        <a:rPr lang="en-US" sz="2400" b="0" i="0" kern="1200" dirty="0" err="1">
                          <a:solidFill>
                            <a:schemeClr val="tx1"/>
                          </a:solidFill>
                          <a:effectLst/>
                          <a:latin typeface="+mn-lt"/>
                          <a:ea typeface="+mn-ea"/>
                          <a:cs typeface="+mn-cs"/>
                        </a:rPr>
                        <a:t>vào</a:t>
                      </a:r>
                      <a:r>
                        <a:rPr lang="en-US" sz="2400" b="0" i="0" kern="1200" dirty="0">
                          <a:solidFill>
                            <a:schemeClr val="tx1"/>
                          </a:solidFill>
                          <a:effectLst/>
                          <a:latin typeface="+mn-lt"/>
                          <a:ea typeface="+mn-ea"/>
                          <a:cs typeface="+mn-cs"/>
                        </a:rPr>
                        <a:t> </a:t>
                      </a:r>
                      <a:r>
                        <a:rPr lang="en-US" sz="2400" b="0" i="0" kern="1200" dirty="0" err="1">
                          <a:solidFill>
                            <a:schemeClr val="tx1"/>
                          </a:solidFill>
                          <a:effectLst/>
                          <a:latin typeface="+mn-lt"/>
                          <a:ea typeface="+mn-ea"/>
                          <a:cs typeface="+mn-cs"/>
                        </a:rPr>
                        <a:t>thực</a:t>
                      </a:r>
                      <a:r>
                        <a:rPr lang="en-US" sz="2400" b="0" i="0" kern="1200" dirty="0">
                          <a:solidFill>
                            <a:schemeClr val="tx1"/>
                          </a:solidFill>
                          <a:effectLst/>
                          <a:latin typeface="+mn-lt"/>
                          <a:ea typeface="+mn-ea"/>
                          <a:cs typeface="+mn-cs"/>
                        </a:rPr>
                        <a:t> </a:t>
                      </a:r>
                      <a:r>
                        <a:rPr lang="en-US" sz="2400" b="0" i="0" kern="1200" dirty="0" err="1">
                          <a:solidFill>
                            <a:schemeClr val="tx1"/>
                          </a:solidFill>
                          <a:effectLst/>
                          <a:latin typeface="+mn-lt"/>
                          <a:ea typeface="+mn-ea"/>
                          <a:cs typeface="+mn-cs"/>
                        </a:rPr>
                        <a:t>tiễn</a:t>
                      </a:r>
                      <a:endParaRPr lang="en-US" sz="2400" b="0" i="0" kern="1200" dirty="0">
                        <a:solidFill>
                          <a:schemeClr val="tx1"/>
                        </a:solidFill>
                        <a:effectLst/>
                        <a:latin typeface="+mn-lt"/>
                        <a:ea typeface="+mn-ea"/>
                        <a:cs typeface="+mn-cs"/>
                      </a:endParaRPr>
                    </a:p>
                    <a:p>
                      <a:pPr algn="just"/>
                      <a:r>
                        <a:rPr lang="en-US" sz="2400" b="0" i="0" kern="1200" dirty="0">
                          <a:solidFill>
                            <a:schemeClr val="tx1"/>
                          </a:solidFill>
                          <a:effectLst/>
                          <a:latin typeface="+mn-lt"/>
                          <a:ea typeface="+mn-ea"/>
                          <a:cs typeface="+mn-cs"/>
                        </a:rPr>
                        <a:t>• </a:t>
                      </a:r>
                      <a:r>
                        <a:rPr lang="en-US" sz="2400" b="0" i="0" kern="1200" dirty="0" err="1">
                          <a:solidFill>
                            <a:schemeClr val="tx1"/>
                          </a:solidFill>
                          <a:effectLst/>
                          <a:latin typeface="+mn-lt"/>
                          <a:ea typeface="+mn-ea"/>
                          <a:cs typeface="+mn-cs"/>
                        </a:rPr>
                        <a:t>Tiếp</a:t>
                      </a:r>
                      <a:r>
                        <a:rPr lang="en-US" sz="2400" b="0" i="0" kern="1200" dirty="0">
                          <a:solidFill>
                            <a:schemeClr val="tx1"/>
                          </a:solidFill>
                          <a:effectLst/>
                          <a:latin typeface="+mn-lt"/>
                          <a:ea typeface="+mn-ea"/>
                          <a:cs typeface="+mn-cs"/>
                        </a:rPr>
                        <a:t> </a:t>
                      </a:r>
                      <a:r>
                        <a:rPr lang="en-US" sz="2400" b="0" i="0" kern="1200" dirty="0" err="1">
                          <a:solidFill>
                            <a:schemeClr val="tx1"/>
                          </a:solidFill>
                          <a:effectLst/>
                          <a:latin typeface="+mn-lt"/>
                          <a:ea typeface="+mn-ea"/>
                          <a:cs typeface="+mn-cs"/>
                        </a:rPr>
                        <a:t>cận</a:t>
                      </a:r>
                      <a:r>
                        <a:rPr lang="en-US" sz="2400" b="0" i="0" kern="1200" dirty="0">
                          <a:solidFill>
                            <a:schemeClr val="tx1"/>
                          </a:solidFill>
                          <a:effectLst/>
                          <a:latin typeface="+mn-lt"/>
                          <a:ea typeface="+mn-ea"/>
                          <a:cs typeface="+mn-cs"/>
                        </a:rPr>
                        <a:t> Google Gemini API </a:t>
                      </a:r>
                      <a:r>
                        <a:rPr lang="en-US" sz="2400" b="0" i="0" kern="1200" dirty="0" err="1">
                          <a:solidFill>
                            <a:schemeClr val="tx1"/>
                          </a:solidFill>
                          <a:effectLst/>
                          <a:latin typeface="+mn-lt"/>
                          <a:ea typeface="+mn-ea"/>
                          <a:cs typeface="+mn-cs"/>
                        </a:rPr>
                        <a:t>và</a:t>
                      </a:r>
                      <a:r>
                        <a:rPr lang="en-US" sz="2400" b="0" i="0" kern="1200" dirty="0">
                          <a:solidFill>
                            <a:schemeClr val="tx1"/>
                          </a:solidFill>
                          <a:effectLst/>
                          <a:latin typeface="+mn-lt"/>
                          <a:ea typeface="+mn-ea"/>
                          <a:cs typeface="+mn-cs"/>
                        </a:rPr>
                        <a:t> Function Calling</a:t>
                      </a:r>
                    </a:p>
                    <a:p>
                      <a:pPr algn="just"/>
                      <a:r>
                        <a:rPr lang="en-US" sz="2400" b="0" i="0" kern="1200" dirty="0">
                          <a:solidFill>
                            <a:schemeClr val="tx1"/>
                          </a:solidFill>
                          <a:effectLst/>
                          <a:latin typeface="+mn-lt"/>
                          <a:ea typeface="+mn-ea"/>
                          <a:cs typeface="+mn-cs"/>
                        </a:rPr>
                        <a:t>• Rèn </a:t>
                      </a:r>
                      <a:r>
                        <a:rPr lang="en-US" sz="2400" b="0" i="0" kern="1200" dirty="0" err="1">
                          <a:solidFill>
                            <a:schemeClr val="tx1"/>
                          </a:solidFill>
                          <a:effectLst/>
                          <a:latin typeface="+mn-lt"/>
                          <a:ea typeface="+mn-ea"/>
                          <a:cs typeface="+mn-cs"/>
                        </a:rPr>
                        <a:t>luyện</a:t>
                      </a:r>
                      <a:r>
                        <a:rPr lang="en-US" sz="2400" b="0" i="0" kern="1200" dirty="0">
                          <a:solidFill>
                            <a:schemeClr val="tx1"/>
                          </a:solidFill>
                          <a:effectLst/>
                          <a:latin typeface="+mn-lt"/>
                          <a:ea typeface="+mn-ea"/>
                          <a:cs typeface="+mn-cs"/>
                        </a:rPr>
                        <a:t> </a:t>
                      </a:r>
                      <a:r>
                        <a:rPr lang="en-US" sz="2400" b="0" i="0" kern="1200" dirty="0" err="1">
                          <a:solidFill>
                            <a:schemeClr val="tx1"/>
                          </a:solidFill>
                          <a:effectLst/>
                          <a:latin typeface="+mn-lt"/>
                          <a:ea typeface="+mn-ea"/>
                          <a:cs typeface="+mn-cs"/>
                        </a:rPr>
                        <a:t>kỹ</a:t>
                      </a:r>
                      <a:r>
                        <a:rPr lang="en-US" sz="2400" b="0" i="0" kern="1200" dirty="0">
                          <a:solidFill>
                            <a:schemeClr val="tx1"/>
                          </a:solidFill>
                          <a:effectLst/>
                          <a:latin typeface="+mn-lt"/>
                          <a:ea typeface="+mn-ea"/>
                          <a:cs typeface="+mn-cs"/>
                        </a:rPr>
                        <a:t> </a:t>
                      </a:r>
                      <a:r>
                        <a:rPr lang="en-US" sz="2400" b="0" i="0" kern="1200" dirty="0" err="1">
                          <a:solidFill>
                            <a:schemeClr val="tx1"/>
                          </a:solidFill>
                          <a:effectLst/>
                          <a:latin typeface="+mn-lt"/>
                          <a:ea typeface="+mn-ea"/>
                          <a:cs typeface="+mn-cs"/>
                        </a:rPr>
                        <a:t>năng</a:t>
                      </a:r>
                      <a:r>
                        <a:rPr lang="en-US" sz="2400" b="0" i="0" kern="1200" dirty="0">
                          <a:solidFill>
                            <a:schemeClr val="tx1"/>
                          </a:solidFill>
                          <a:effectLst/>
                          <a:latin typeface="+mn-lt"/>
                          <a:ea typeface="+mn-ea"/>
                          <a:cs typeface="+mn-cs"/>
                        </a:rPr>
                        <a:t> </a:t>
                      </a:r>
                      <a:r>
                        <a:rPr lang="en-US" sz="2400" b="0" i="0" kern="1200" dirty="0" err="1">
                          <a:solidFill>
                            <a:schemeClr val="tx1"/>
                          </a:solidFill>
                          <a:effectLst/>
                          <a:latin typeface="+mn-lt"/>
                          <a:ea typeface="+mn-ea"/>
                          <a:cs typeface="+mn-cs"/>
                        </a:rPr>
                        <a:t>thiết</a:t>
                      </a:r>
                      <a:r>
                        <a:rPr lang="en-US" sz="2400" b="0" i="0" kern="1200" dirty="0">
                          <a:solidFill>
                            <a:schemeClr val="tx1"/>
                          </a:solidFill>
                          <a:effectLst/>
                          <a:latin typeface="+mn-lt"/>
                          <a:ea typeface="+mn-ea"/>
                          <a:cs typeface="+mn-cs"/>
                        </a:rPr>
                        <a:t> </a:t>
                      </a:r>
                      <a:r>
                        <a:rPr lang="en-US" sz="2400" b="0" i="0" kern="1200" dirty="0" err="1">
                          <a:solidFill>
                            <a:schemeClr val="tx1"/>
                          </a:solidFill>
                          <a:effectLst/>
                          <a:latin typeface="+mn-lt"/>
                          <a:ea typeface="+mn-ea"/>
                          <a:cs typeface="+mn-cs"/>
                        </a:rPr>
                        <a:t>kế</a:t>
                      </a:r>
                      <a:r>
                        <a:rPr lang="en-US" sz="2400" b="0" i="0" kern="1200" dirty="0">
                          <a:solidFill>
                            <a:schemeClr val="tx1"/>
                          </a:solidFill>
                          <a:effectLst/>
                          <a:latin typeface="+mn-lt"/>
                          <a:ea typeface="+mn-ea"/>
                          <a:cs typeface="+mn-cs"/>
                        </a:rPr>
                        <a:t> </a:t>
                      </a:r>
                      <a:r>
                        <a:rPr lang="en-US" sz="2400" b="0" i="0" kern="1200" dirty="0" err="1">
                          <a:solidFill>
                            <a:schemeClr val="tx1"/>
                          </a:solidFill>
                          <a:effectLst/>
                          <a:latin typeface="+mn-lt"/>
                          <a:ea typeface="+mn-ea"/>
                          <a:cs typeface="+mn-cs"/>
                        </a:rPr>
                        <a:t>kiến</a:t>
                      </a:r>
                      <a:r>
                        <a:rPr lang="en-US" sz="2400" b="0" i="0" kern="1200" dirty="0">
                          <a:solidFill>
                            <a:schemeClr val="tx1"/>
                          </a:solidFill>
                          <a:effectLst/>
                          <a:latin typeface="+mn-lt"/>
                          <a:ea typeface="+mn-ea"/>
                          <a:cs typeface="+mn-cs"/>
                        </a:rPr>
                        <a:t> </a:t>
                      </a:r>
                      <a:r>
                        <a:rPr lang="en-US" sz="2400" b="0" i="0" kern="1200" dirty="0" err="1">
                          <a:solidFill>
                            <a:schemeClr val="tx1"/>
                          </a:solidFill>
                          <a:effectLst/>
                          <a:latin typeface="+mn-lt"/>
                          <a:ea typeface="+mn-ea"/>
                          <a:cs typeface="+mn-cs"/>
                        </a:rPr>
                        <a:t>trúc</a:t>
                      </a:r>
                      <a:r>
                        <a:rPr lang="en-US" sz="2400" b="0" i="0" kern="1200" dirty="0">
                          <a:solidFill>
                            <a:schemeClr val="tx1"/>
                          </a:solidFill>
                          <a:effectLst/>
                          <a:latin typeface="+mn-lt"/>
                          <a:ea typeface="+mn-ea"/>
                          <a:cs typeface="+mn-cs"/>
                        </a:rPr>
                        <a:t> 3 </a:t>
                      </a:r>
                      <a:r>
                        <a:rPr lang="en-US" sz="2400" b="0" i="0" kern="1200" dirty="0" err="1">
                          <a:solidFill>
                            <a:schemeClr val="tx1"/>
                          </a:solidFill>
                          <a:effectLst/>
                          <a:latin typeface="+mn-lt"/>
                          <a:ea typeface="+mn-ea"/>
                          <a:cs typeface="+mn-cs"/>
                        </a:rPr>
                        <a:t>tầng</a:t>
                      </a:r>
                      <a:r>
                        <a:rPr lang="en-US" sz="2400" b="0" i="0" kern="1200" dirty="0">
                          <a:solidFill>
                            <a:schemeClr val="tx1"/>
                          </a:solidFill>
                          <a:effectLst/>
                          <a:latin typeface="+mn-lt"/>
                          <a:ea typeface="+mn-ea"/>
                          <a:cs typeface="+mn-cs"/>
                        </a:rPr>
                        <a:t> </a:t>
                      </a:r>
                      <a:r>
                        <a:rPr lang="en-US" sz="2400" b="0" i="0" kern="1200" dirty="0" err="1">
                          <a:solidFill>
                            <a:schemeClr val="tx1"/>
                          </a:solidFill>
                          <a:effectLst/>
                          <a:latin typeface="+mn-lt"/>
                          <a:ea typeface="+mn-ea"/>
                          <a:cs typeface="+mn-cs"/>
                        </a:rPr>
                        <a:t>và</a:t>
                      </a:r>
                      <a:r>
                        <a:rPr lang="en-US" sz="2400" b="0" i="0" kern="1200" dirty="0">
                          <a:solidFill>
                            <a:schemeClr val="tx1"/>
                          </a:solidFill>
                          <a:effectLst/>
                          <a:latin typeface="+mn-lt"/>
                          <a:ea typeface="+mn-ea"/>
                          <a:cs typeface="+mn-cs"/>
                        </a:rPr>
                        <a:t> RESTful API</a:t>
                      </a:r>
                    </a:p>
                  </a:txBody>
                  <a:tcPr marL="190500" marR="190500" marT="190500" marB="190500">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19050" cap="flat" cmpd="sng" algn="ctr">
                      <a:solidFill>
                        <a:srgbClr val="86C7ED"/>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grpSp>
        <p:nvGrpSpPr>
          <p:cNvPr id="18" name="Group 30">
            <a:extLst>
              <a:ext uri="{FF2B5EF4-FFF2-40B4-BE49-F238E27FC236}">
                <a16:creationId xmlns:a16="http://schemas.microsoft.com/office/drawing/2014/main" id="{1DE75F90-E340-CF50-5B9C-2A7704AB0528}"/>
              </a:ext>
            </a:extLst>
          </p:cNvPr>
          <p:cNvGrpSpPr/>
          <p:nvPr/>
        </p:nvGrpSpPr>
        <p:grpSpPr>
          <a:xfrm>
            <a:off x="12297600" y="4191293"/>
            <a:ext cx="5761801" cy="5156919"/>
            <a:chOff x="0" y="0"/>
            <a:chExt cx="1889826" cy="1515256"/>
          </a:xfrm>
        </p:grpSpPr>
        <p:sp>
          <p:nvSpPr>
            <p:cNvPr id="19" name="Freeform 31">
              <a:extLst>
                <a:ext uri="{FF2B5EF4-FFF2-40B4-BE49-F238E27FC236}">
                  <a16:creationId xmlns:a16="http://schemas.microsoft.com/office/drawing/2014/main" id="{55ACD6DD-63F6-5DD8-CFCA-0C50DF474061}"/>
                </a:ext>
              </a:extLst>
            </p:cNvPr>
            <p:cNvSpPr/>
            <p:nvPr/>
          </p:nvSpPr>
          <p:spPr>
            <a:xfrm>
              <a:off x="0" y="0"/>
              <a:ext cx="1889826" cy="1515256"/>
            </a:xfrm>
            <a:custGeom>
              <a:avLst/>
              <a:gdLst/>
              <a:ahLst/>
              <a:cxnLst/>
              <a:rect l="l" t="t" r="r" b="b"/>
              <a:pathLst>
                <a:path w="1889826" h="1515256">
                  <a:moveTo>
                    <a:pt x="16930" y="0"/>
                  </a:moveTo>
                  <a:lnTo>
                    <a:pt x="1872896" y="0"/>
                  </a:lnTo>
                  <a:cubicBezTo>
                    <a:pt x="1877386" y="0"/>
                    <a:pt x="1881692" y="1784"/>
                    <a:pt x="1884867" y="4959"/>
                  </a:cubicBezTo>
                  <a:cubicBezTo>
                    <a:pt x="1888042" y="8134"/>
                    <a:pt x="1889826" y="12440"/>
                    <a:pt x="1889826" y="16930"/>
                  </a:cubicBezTo>
                  <a:lnTo>
                    <a:pt x="1889826" y="1498326"/>
                  </a:lnTo>
                  <a:cubicBezTo>
                    <a:pt x="1889826" y="1502816"/>
                    <a:pt x="1888042" y="1507122"/>
                    <a:pt x="1884867" y="1510298"/>
                  </a:cubicBezTo>
                  <a:cubicBezTo>
                    <a:pt x="1881692" y="1513473"/>
                    <a:pt x="1877386" y="1515256"/>
                    <a:pt x="1872896" y="1515256"/>
                  </a:cubicBezTo>
                  <a:lnTo>
                    <a:pt x="16930" y="1515256"/>
                  </a:lnTo>
                  <a:cubicBezTo>
                    <a:pt x="7580" y="1515256"/>
                    <a:pt x="0" y="1507676"/>
                    <a:pt x="0" y="1498326"/>
                  </a:cubicBezTo>
                  <a:lnTo>
                    <a:pt x="0" y="16930"/>
                  </a:lnTo>
                  <a:cubicBezTo>
                    <a:pt x="0" y="12440"/>
                    <a:pt x="1784" y="8134"/>
                    <a:pt x="4959" y="4959"/>
                  </a:cubicBezTo>
                  <a:cubicBezTo>
                    <a:pt x="8134" y="1784"/>
                    <a:pt x="12440" y="0"/>
                    <a:pt x="16930" y="0"/>
                  </a:cubicBezTo>
                  <a:close/>
                </a:path>
              </a:pathLst>
            </a:custGeom>
            <a:solidFill>
              <a:srgbClr val="FFFFFF"/>
            </a:solidFill>
            <a:ln w="19050" cap="rnd">
              <a:solidFill>
                <a:srgbClr val="4383D1"/>
              </a:solidFill>
              <a:prstDash val="solid"/>
              <a:round/>
            </a:ln>
          </p:spPr>
        </p:sp>
        <p:sp>
          <p:nvSpPr>
            <p:cNvPr id="20" name="TextBox 32">
              <a:extLst>
                <a:ext uri="{FF2B5EF4-FFF2-40B4-BE49-F238E27FC236}">
                  <a16:creationId xmlns:a16="http://schemas.microsoft.com/office/drawing/2014/main" id="{E9A93C20-B395-5811-2BA4-2D98FACFA10E}"/>
                </a:ext>
              </a:extLst>
            </p:cNvPr>
            <p:cNvSpPr txBox="1"/>
            <p:nvPr/>
          </p:nvSpPr>
          <p:spPr>
            <a:xfrm>
              <a:off x="0" y="-47625"/>
              <a:ext cx="1889826" cy="1562881"/>
            </a:xfrm>
            <a:prstGeom prst="rect">
              <a:avLst/>
            </a:prstGeom>
          </p:spPr>
          <p:txBody>
            <a:bodyPr lIns="50800" tIns="50800" rIns="50800" bIns="50800" rtlCol="0" anchor="ctr"/>
            <a:lstStyle/>
            <a:p>
              <a:pPr algn="ctr">
                <a:lnSpc>
                  <a:spcPts val="2240"/>
                </a:lnSpc>
              </a:pPr>
              <a:endParaRPr/>
            </a:p>
          </p:txBody>
        </p:sp>
      </p:grpSp>
      <p:graphicFrame>
        <p:nvGraphicFramePr>
          <p:cNvPr id="12" name="Table 8">
            <a:extLst>
              <a:ext uri="{FF2B5EF4-FFF2-40B4-BE49-F238E27FC236}">
                <a16:creationId xmlns:a16="http://schemas.microsoft.com/office/drawing/2014/main" id="{553FA38D-800A-AC96-B2F1-9521AE92B0AB}"/>
              </a:ext>
            </a:extLst>
          </p:cNvPr>
          <p:cNvGraphicFramePr>
            <a:graphicFrameLocks noGrp="1"/>
          </p:cNvGraphicFramePr>
          <p:nvPr>
            <p:extLst>
              <p:ext uri="{D42A27DB-BD31-4B8C-83A1-F6EECF244321}">
                <p14:modId xmlns:p14="http://schemas.microsoft.com/office/powerpoint/2010/main" val="1430687312"/>
              </p:ext>
            </p:extLst>
          </p:nvPr>
        </p:nvGraphicFramePr>
        <p:xfrm>
          <a:off x="12388500" y="4512733"/>
          <a:ext cx="5580000" cy="4266517"/>
        </p:xfrm>
        <a:graphic>
          <a:graphicData uri="http://schemas.openxmlformats.org/drawingml/2006/table">
            <a:tbl>
              <a:tblPr/>
              <a:tblGrid>
                <a:gridCol w="5580000">
                  <a:extLst>
                    <a:ext uri="{9D8B030D-6E8A-4147-A177-3AD203B41FA5}">
                      <a16:colId xmlns:a16="http://schemas.microsoft.com/office/drawing/2014/main" val="20000"/>
                    </a:ext>
                  </a:extLst>
                </a:gridCol>
              </a:tblGrid>
              <a:tr h="959437">
                <a:tc>
                  <a:txBody>
                    <a:bodyPr/>
                    <a:lstStyle/>
                    <a:p>
                      <a:pPr algn="ctr">
                        <a:lnSpc>
                          <a:spcPts val="3640"/>
                        </a:lnSpc>
                        <a:defRPr/>
                      </a:pPr>
                      <a:r>
                        <a:rPr lang="vi-VN" sz="2600" b="1" dirty="0"/>
                        <a:t>Ý nghĩa của đề tài</a:t>
                      </a:r>
                      <a:endParaRPr lang="en-US" sz="2600" b="1" dirty="0">
                        <a:latin typeface="+mn-lt"/>
                        <a:cs typeface="Times New Roman" panose="02020603050405020304" pitchFamily="18" charset="0"/>
                      </a:endParaRPr>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19050" cap="flat" cmpd="sng" algn="ctr">
                      <a:solidFill>
                        <a:srgbClr val="86C7ED"/>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546964">
                <a:tc>
                  <a:txBody>
                    <a:bodyPr/>
                    <a:lstStyle/>
                    <a:p>
                      <a:pPr algn="just"/>
                      <a:r>
                        <a:rPr lang="en-US" sz="2400" b="0" i="0" kern="1200" dirty="0">
                          <a:solidFill>
                            <a:schemeClr val="tx1"/>
                          </a:solidFill>
                          <a:effectLst/>
                          <a:latin typeface="+mn-lt"/>
                          <a:ea typeface="+mn-ea"/>
                          <a:cs typeface="+mn-cs"/>
                        </a:rPr>
                        <a:t>• </a:t>
                      </a:r>
                      <a:r>
                        <a:rPr lang="en-US" sz="2400" b="0" i="0" kern="1200" dirty="0" err="1">
                          <a:solidFill>
                            <a:schemeClr val="tx1"/>
                          </a:solidFill>
                          <a:effectLst/>
                          <a:latin typeface="+mn-lt"/>
                          <a:ea typeface="+mn-ea"/>
                          <a:cs typeface="+mn-cs"/>
                        </a:rPr>
                        <a:t>Xây</a:t>
                      </a:r>
                      <a:r>
                        <a:rPr lang="en-US" sz="2400" b="0" i="0" kern="1200" dirty="0">
                          <a:solidFill>
                            <a:schemeClr val="tx1"/>
                          </a:solidFill>
                          <a:effectLst/>
                          <a:latin typeface="+mn-lt"/>
                          <a:ea typeface="+mn-ea"/>
                          <a:cs typeface="+mn-cs"/>
                        </a:rPr>
                        <a:t> </a:t>
                      </a:r>
                      <a:r>
                        <a:rPr lang="en-US" sz="2400" b="0" i="0" kern="1200" dirty="0" err="1">
                          <a:solidFill>
                            <a:schemeClr val="tx1"/>
                          </a:solidFill>
                          <a:effectLst/>
                          <a:latin typeface="+mn-lt"/>
                          <a:ea typeface="+mn-ea"/>
                          <a:cs typeface="+mn-cs"/>
                        </a:rPr>
                        <a:t>dựng</a:t>
                      </a:r>
                      <a:r>
                        <a:rPr lang="en-US" sz="2400" b="0" i="0" kern="1200" dirty="0">
                          <a:solidFill>
                            <a:schemeClr val="tx1"/>
                          </a:solidFill>
                          <a:effectLst/>
                          <a:latin typeface="+mn-lt"/>
                          <a:ea typeface="+mn-ea"/>
                          <a:cs typeface="+mn-cs"/>
                        </a:rPr>
                        <a:t> </a:t>
                      </a:r>
                      <a:r>
                        <a:rPr lang="en-US" sz="2400" b="0" i="0" kern="1200" dirty="0" err="1">
                          <a:solidFill>
                            <a:schemeClr val="tx1"/>
                          </a:solidFill>
                          <a:effectLst/>
                          <a:latin typeface="+mn-lt"/>
                          <a:ea typeface="+mn-ea"/>
                          <a:cs typeface="+mn-cs"/>
                        </a:rPr>
                        <a:t>sản</a:t>
                      </a:r>
                      <a:r>
                        <a:rPr lang="en-US" sz="2400" b="0" i="0" kern="1200" dirty="0">
                          <a:solidFill>
                            <a:schemeClr val="tx1"/>
                          </a:solidFill>
                          <a:effectLst/>
                          <a:latin typeface="+mn-lt"/>
                          <a:ea typeface="+mn-ea"/>
                          <a:cs typeface="+mn-cs"/>
                        </a:rPr>
                        <a:t> </a:t>
                      </a:r>
                      <a:r>
                        <a:rPr lang="en-US" sz="2400" b="0" i="0" kern="1200" dirty="0" err="1">
                          <a:solidFill>
                            <a:schemeClr val="tx1"/>
                          </a:solidFill>
                          <a:effectLst/>
                          <a:latin typeface="+mn-lt"/>
                          <a:ea typeface="+mn-ea"/>
                          <a:cs typeface="+mn-cs"/>
                        </a:rPr>
                        <a:t>phẩm</a:t>
                      </a:r>
                      <a:r>
                        <a:rPr lang="en-US" sz="2400" b="0" i="0" kern="1200" dirty="0">
                          <a:solidFill>
                            <a:schemeClr val="tx1"/>
                          </a:solidFill>
                          <a:effectLst/>
                          <a:latin typeface="+mn-lt"/>
                          <a:ea typeface="+mn-ea"/>
                          <a:cs typeface="+mn-cs"/>
                        </a:rPr>
                        <a:t> web </a:t>
                      </a:r>
                      <a:r>
                        <a:rPr lang="en-US" sz="2400" b="0" i="0" kern="1200" dirty="0" err="1">
                          <a:solidFill>
                            <a:schemeClr val="tx1"/>
                          </a:solidFill>
                          <a:effectLst/>
                          <a:latin typeface="+mn-lt"/>
                          <a:ea typeface="+mn-ea"/>
                          <a:cs typeface="+mn-cs"/>
                        </a:rPr>
                        <a:t>hoàn</a:t>
                      </a:r>
                      <a:r>
                        <a:rPr lang="en-US" sz="2400" b="0" i="0" kern="1200" dirty="0">
                          <a:solidFill>
                            <a:schemeClr val="tx1"/>
                          </a:solidFill>
                          <a:effectLst/>
                          <a:latin typeface="+mn-lt"/>
                          <a:ea typeface="+mn-ea"/>
                          <a:cs typeface="+mn-cs"/>
                        </a:rPr>
                        <a:t> </a:t>
                      </a:r>
                      <a:r>
                        <a:rPr lang="en-US" sz="2400" b="0" i="0" kern="1200" dirty="0" err="1">
                          <a:solidFill>
                            <a:schemeClr val="tx1"/>
                          </a:solidFill>
                          <a:effectLst/>
                          <a:latin typeface="+mn-lt"/>
                          <a:ea typeface="+mn-ea"/>
                          <a:cs typeface="+mn-cs"/>
                        </a:rPr>
                        <a:t>chỉnh</a:t>
                      </a:r>
                      <a:r>
                        <a:rPr lang="en-US" sz="2400" b="0" i="0" kern="1200" dirty="0">
                          <a:solidFill>
                            <a:schemeClr val="tx1"/>
                          </a:solidFill>
                          <a:effectLst/>
                          <a:latin typeface="+mn-lt"/>
                          <a:ea typeface="+mn-ea"/>
                          <a:cs typeface="+mn-cs"/>
                        </a:rPr>
                        <a:t>, </a:t>
                      </a:r>
                      <a:r>
                        <a:rPr lang="en-US" sz="2400" b="0" i="0" kern="1200" dirty="0" err="1">
                          <a:solidFill>
                            <a:schemeClr val="tx1"/>
                          </a:solidFill>
                          <a:effectLst/>
                          <a:latin typeface="+mn-lt"/>
                          <a:ea typeface="+mn-ea"/>
                          <a:cs typeface="+mn-cs"/>
                        </a:rPr>
                        <a:t>miễn</a:t>
                      </a:r>
                      <a:r>
                        <a:rPr lang="en-US" sz="2400" b="0" i="0" kern="1200" dirty="0">
                          <a:solidFill>
                            <a:schemeClr val="tx1"/>
                          </a:solidFill>
                          <a:effectLst/>
                          <a:latin typeface="+mn-lt"/>
                          <a:ea typeface="+mn-ea"/>
                          <a:cs typeface="+mn-cs"/>
                        </a:rPr>
                        <a:t> </a:t>
                      </a:r>
                      <a:r>
                        <a:rPr lang="en-US" sz="2400" b="0" i="0" kern="1200" dirty="0" err="1">
                          <a:solidFill>
                            <a:schemeClr val="tx1"/>
                          </a:solidFill>
                          <a:effectLst/>
                          <a:latin typeface="+mn-lt"/>
                          <a:ea typeface="+mn-ea"/>
                          <a:cs typeface="+mn-cs"/>
                        </a:rPr>
                        <a:t>phí</a:t>
                      </a:r>
                      <a:r>
                        <a:rPr lang="en-US" sz="2400" b="0" i="0" kern="1200" dirty="0">
                          <a:solidFill>
                            <a:schemeClr val="tx1"/>
                          </a:solidFill>
                          <a:effectLst/>
                          <a:latin typeface="+mn-lt"/>
                          <a:ea typeface="+mn-ea"/>
                          <a:cs typeface="+mn-cs"/>
                        </a:rPr>
                        <a:t> </a:t>
                      </a:r>
                      <a:r>
                        <a:rPr lang="en-US" sz="2400" b="0" i="0" kern="1200" dirty="0" err="1">
                          <a:solidFill>
                            <a:schemeClr val="tx1"/>
                          </a:solidFill>
                          <a:effectLst/>
                          <a:latin typeface="+mn-lt"/>
                          <a:ea typeface="+mn-ea"/>
                          <a:cs typeface="+mn-cs"/>
                        </a:rPr>
                        <a:t>cho</a:t>
                      </a:r>
                      <a:r>
                        <a:rPr lang="en-US" sz="2400" b="0" i="0" kern="1200" dirty="0">
                          <a:solidFill>
                            <a:schemeClr val="tx1"/>
                          </a:solidFill>
                          <a:effectLst/>
                          <a:latin typeface="+mn-lt"/>
                          <a:ea typeface="+mn-ea"/>
                          <a:cs typeface="+mn-cs"/>
                        </a:rPr>
                        <a:t> </a:t>
                      </a:r>
                      <a:r>
                        <a:rPr lang="en-US" sz="2400" b="0" i="0" kern="1200" dirty="0" err="1">
                          <a:solidFill>
                            <a:schemeClr val="tx1"/>
                          </a:solidFill>
                          <a:effectLst/>
                          <a:latin typeface="+mn-lt"/>
                          <a:ea typeface="+mn-ea"/>
                          <a:cs typeface="+mn-cs"/>
                        </a:rPr>
                        <a:t>sinh</a:t>
                      </a:r>
                      <a:r>
                        <a:rPr lang="en-US" sz="2400" b="0" i="0" kern="1200" dirty="0">
                          <a:solidFill>
                            <a:schemeClr val="tx1"/>
                          </a:solidFill>
                          <a:effectLst/>
                          <a:latin typeface="+mn-lt"/>
                          <a:ea typeface="+mn-ea"/>
                          <a:cs typeface="+mn-cs"/>
                        </a:rPr>
                        <a:t> </a:t>
                      </a:r>
                      <a:r>
                        <a:rPr lang="en-US" sz="2400" b="0" i="0" kern="1200" dirty="0" err="1">
                          <a:solidFill>
                            <a:schemeClr val="tx1"/>
                          </a:solidFill>
                          <a:effectLst/>
                          <a:latin typeface="+mn-lt"/>
                          <a:ea typeface="+mn-ea"/>
                          <a:cs typeface="+mn-cs"/>
                        </a:rPr>
                        <a:t>viên</a:t>
                      </a:r>
                      <a:r>
                        <a:rPr lang="en-US" sz="2400" b="0" i="0" kern="1200" dirty="0">
                          <a:solidFill>
                            <a:schemeClr val="tx1"/>
                          </a:solidFill>
                          <a:effectLst/>
                          <a:latin typeface="+mn-lt"/>
                          <a:ea typeface="+mn-ea"/>
                          <a:cs typeface="+mn-cs"/>
                        </a:rPr>
                        <a:t> Việt Nam</a:t>
                      </a:r>
                    </a:p>
                    <a:p>
                      <a:pPr algn="just"/>
                      <a:r>
                        <a:rPr lang="en-US" sz="2400" b="0" i="0" kern="1200" dirty="0">
                          <a:solidFill>
                            <a:schemeClr val="tx1"/>
                          </a:solidFill>
                          <a:effectLst/>
                          <a:latin typeface="+mn-lt"/>
                          <a:ea typeface="+mn-ea"/>
                          <a:cs typeface="+mn-cs"/>
                        </a:rPr>
                        <a:t>• </a:t>
                      </a:r>
                      <a:r>
                        <a:rPr lang="en-US" sz="2400" b="0" i="0" kern="1200" dirty="0" err="1">
                          <a:solidFill>
                            <a:schemeClr val="tx1"/>
                          </a:solidFill>
                          <a:effectLst/>
                          <a:latin typeface="+mn-lt"/>
                          <a:ea typeface="+mn-ea"/>
                          <a:cs typeface="+mn-cs"/>
                        </a:rPr>
                        <a:t>Tích</a:t>
                      </a:r>
                      <a:r>
                        <a:rPr lang="en-US" sz="2400" b="0" i="0" kern="1200" dirty="0">
                          <a:solidFill>
                            <a:schemeClr val="tx1"/>
                          </a:solidFill>
                          <a:effectLst/>
                          <a:latin typeface="+mn-lt"/>
                          <a:ea typeface="+mn-ea"/>
                          <a:cs typeface="+mn-cs"/>
                        </a:rPr>
                        <a:t> </a:t>
                      </a:r>
                      <a:r>
                        <a:rPr lang="en-US" sz="2400" b="0" i="0" kern="1200" dirty="0" err="1">
                          <a:solidFill>
                            <a:schemeClr val="tx1"/>
                          </a:solidFill>
                          <a:effectLst/>
                          <a:latin typeface="+mn-lt"/>
                          <a:ea typeface="+mn-ea"/>
                          <a:cs typeface="+mn-cs"/>
                        </a:rPr>
                        <a:t>hợp</a:t>
                      </a:r>
                      <a:r>
                        <a:rPr lang="en-US" sz="2400" b="0" i="0" kern="1200" dirty="0">
                          <a:solidFill>
                            <a:schemeClr val="tx1"/>
                          </a:solidFill>
                          <a:effectLst/>
                          <a:latin typeface="+mn-lt"/>
                          <a:ea typeface="+mn-ea"/>
                          <a:cs typeface="+mn-cs"/>
                        </a:rPr>
                        <a:t> AI </a:t>
                      </a:r>
                      <a:r>
                        <a:rPr lang="en-US" sz="2400" b="0" i="0" kern="1200" dirty="0" err="1">
                          <a:solidFill>
                            <a:schemeClr val="tx1"/>
                          </a:solidFill>
                          <a:effectLst/>
                          <a:latin typeface="+mn-lt"/>
                          <a:ea typeface="+mn-ea"/>
                          <a:cs typeface="+mn-cs"/>
                        </a:rPr>
                        <a:t>hỗ</a:t>
                      </a:r>
                      <a:r>
                        <a:rPr lang="en-US" sz="2400" b="0" i="0" kern="1200" dirty="0">
                          <a:solidFill>
                            <a:schemeClr val="tx1"/>
                          </a:solidFill>
                          <a:effectLst/>
                          <a:latin typeface="+mn-lt"/>
                          <a:ea typeface="+mn-ea"/>
                          <a:cs typeface="+mn-cs"/>
                        </a:rPr>
                        <a:t> </a:t>
                      </a:r>
                      <a:r>
                        <a:rPr lang="en-US" sz="2400" b="0" i="0" kern="1200" dirty="0" err="1">
                          <a:solidFill>
                            <a:schemeClr val="tx1"/>
                          </a:solidFill>
                          <a:effectLst/>
                          <a:latin typeface="+mn-lt"/>
                          <a:ea typeface="+mn-ea"/>
                          <a:cs typeface="+mn-cs"/>
                        </a:rPr>
                        <a:t>trợ</a:t>
                      </a:r>
                      <a:r>
                        <a:rPr lang="en-US" sz="2400" b="0" i="0" kern="1200" dirty="0">
                          <a:solidFill>
                            <a:schemeClr val="tx1"/>
                          </a:solidFill>
                          <a:effectLst/>
                          <a:latin typeface="+mn-lt"/>
                          <a:ea typeface="+mn-ea"/>
                          <a:cs typeface="+mn-cs"/>
                        </a:rPr>
                        <a:t> </a:t>
                      </a:r>
                      <a:r>
                        <a:rPr lang="en-US" sz="2400" b="0" i="0" kern="1200" dirty="0" err="1">
                          <a:solidFill>
                            <a:schemeClr val="tx1"/>
                          </a:solidFill>
                          <a:effectLst/>
                          <a:latin typeface="+mn-lt"/>
                          <a:ea typeface="+mn-ea"/>
                          <a:cs typeface="+mn-cs"/>
                        </a:rPr>
                        <a:t>tiếng</a:t>
                      </a:r>
                      <a:r>
                        <a:rPr lang="en-US" sz="2400" b="0" i="0" kern="1200" dirty="0">
                          <a:solidFill>
                            <a:schemeClr val="tx1"/>
                          </a:solidFill>
                          <a:effectLst/>
                          <a:latin typeface="+mn-lt"/>
                          <a:ea typeface="+mn-ea"/>
                          <a:cs typeface="+mn-cs"/>
                        </a:rPr>
                        <a:t> Việt — </a:t>
                      </a:r>
                      <a:r>
                        <a:rPr lang="en-US" sz="2400" b="0" i="0" kern="1200" dirty="0" err="1">
                          <a:solidFill>
                            <a:schemeClr val="tx1"/>
                          </a:solidFill>
                          <a:effectLst/>
                          <a:latin typeface="+mn-lt"/>
                          <a:ea typeface="+mn-ea"/>
                          <a:cs typeface="+mn-cs"/>
                        </a:rPr>
                        <a:t>phù</a:t>
                      </a:r>
                      <a:r>
                        <a:rPr lang="en-US" sz="2400" b="0" i="0" kern="1200" dirty="0">
                          <a:solidFill>
                            <a:schemeClr val="tx1"/>
                          </a:solidFill>
                          <a:effectLst/>
                          <a:latin typeface="+mn-lt"/>
                          <a:ea typeface="+mn-ea"/>
                          <a:cs typeface="+mn-cs"/>
                        </a:rPr>
                        <a:t> </a:t>
                      </a:r>
                      <a:r>
                        <a:rPr lang="en-US" sz="2400" b="0" i="0" kern="1200" dirty="0" err="1">
                          <a:solidFill>
                            <a:schemeClr val="tx1"/>
                          </a:solidFill>
                          <a:effectLst/>
                          <a:latin typeface="+mn-lt"/>
                          <a:ea typeface="+mn-ea"/>
                          <a:cs typeface="+mn-cs"/>
                        </a:rPr>
                        <a:t>hợp</a:t>
                      </a:r>
                      <a:r>
                        <a:rPr lang="en-US" sz="2400" b="0" i="0" kern="1200" dirty="0">
                          <a:solidFill>
                            <a:schemeClr val="tx1"/>
                          </a:solidFill>
                          <a:effectLst/>
                          <a:latin typeface="+mn-lt"/>
                          <a:ea typeface="+mn-ea"/>
                          <a:cs typeface="+mn-cs"/>
                        </a:rPr>
                        <a:t> </a:t>
                      </a:r>
                      <a:r>
                        <a:rPr lang="en-US" sz="2400" b="0" i="0" kern="1200" dirty="0" err="1">
                          <a:solidFill>
                            <a:schemeClr val="tx1"/>
                          </a:solidFill>
                          <a:effectLst/>
                          <a:latin typeface="+mn-lt"/>
                          <a:ea typeface="+mn-ea"/>
                          <a:cs typeface="+mn-cs"/>
                        </a:rPr>
                        <a:t>với</a:t>
                      </a:r>
                      <a:r>
                        <a:rPr lang="en-US" sz="2400" b="0" i="0" kern="1200" dirty="0">
                          <a:solidFill>
                            <a:schemeClr val="tx1"/>
                          </a:solidFill>
                          <a:effectLst/>
                          <a:latin typeface="+mn-lt"/>
                          <a:ea typeface="+mn-ea"/>
                          <a:cs typeface="+mn-cs"/>
                        </a:rPr>
                        <a:t> </a:t>
                      </a:r>
                      <a:r>
                        <a:rPr lang="en-US" sz="2400" b="0" i="0" kern="1200" dirty="0" err="1">
                          <a:solidFill>
                            <a:schemeClr val="tx1"/>
                          </a:solidFill>
                          <a:effectLst/>
                          <a:latin typeface="+mn-lt"/>
                          <a:ea typeface="+mn-ea"/>
                          <a:cs typeface="+mn-cs"/>
                        </a:rPr>
                        <a:t>nhu</a:t>
                      </a:r>
                      <a:r>
                        <a:rPr lang="en-US" sz="2400" b="0" i="0" kern="1200" dirty="0">
                          <a:solidFill>
                            <a:schemeClr val="tx1"/>
                          </a:solidFill>
                          <a:effectLst/>
                          <a:latin typeface="+mn-lt"/>
                          <a:ea typeface="+mn-ea"/>
                          <a:cs typeface="+mn-cs"/>
                        </a:rPr>
                        <a:t> </a:t>
                      </a:r>
                      <a:r>
                        <a:rPr lang="en-US" sz="2400" b="0" i="0" kern="1200" dirty="0" err="1">
                          <a:solidFill>
                            <a:schemeClr val="tx1"/>
                          </a:solidFill>
                          <a:effectLst/>
                          <a:latin typeface="+mn-lt"/>
                          <a:ea typeface="+mn-ea"/>
                          <a:cs typeface="+mn-cs"/>
                        </a:rPr>
                        <a:t>cầu</a:t>
                      </a:r>
                      <a:r>
                        <a:rPr lang="en-US" sz="2400" b="0" i="0" kern="1200" dirty="0">
                          <a:solidFill>
                            <a:schemeClr val="tx1"/>
                          </a:solidFill>
                          <a:effectLst/>
                          <a:latin typeface="+mn-lt"/>
                          <a:ea typeface="+mn-ea"/>
                          <a:cs typeface="+mn-cs"/>
                        </a:rPr>
                        <a:t> </a:t>
                      </a:r>
                      <a:r>
                        <a:rPr lang="en-US" sz="2400" b="0" i="0" kern="1200" dirty="0" err="1">
                          <a:solidFill>
                            <a:schemeClr val="tx1"/>
                          </a:solidFill>
                          <a:effectLst/>
                          <a:latin typeface="+mn-lt"/>
                          <a:ea typeface="+mn-ea"/>
                          <a:cs typeface="+mn-cs"/>
                        </a:rPr>
                        <a:t>thực</a:t>
                      </a:r>
                      <a:r>
                        <a:rPr lang="en-US" sz="2400" b="0" i="0" kern="1200" dirty="0">
                          <a:solidFill>
                            <a:schemeClr val="tx1"/>
                          </a:solidFill>
                          <a:effectLst/>
                          <a:latin typeface="+mn-lt"/>
                          <a:ea typeface="+mn-ea"/>
                          <a:cs typeface="+mn-cs"/>
                        </a:rPr>
                        <a:t> </a:t>
                      </a:r>
                      <a:r>
                        <a:rPr lang="en-US" sz="2400" b="0" i="0" kern="1200" dirty="0" err="1">
                          <a:solidFill>
                            <a:schemeClr val="tx1"/>
                          </a:solidFill>
                          <a:effectLst/>
                          <a:latin typeface="+mn-lt"/>
                          <a:ea typeface="+mn-ea"/>
                          <a:cs typeface="+mn-cs"/>
                        </a:rPr>
                        <a:t>tế</a:t>
                      </a:r>
                      <a:endParaRPr lang="en-US" sz="2400" b="0" i="0" kern="1200" dirty="0">
                        <a:solidFill>
                          <a:schemeClr val="tx1"/>
                        </a:solidFill>
                        <a:effectLst/>
                        <a:latin typeface="+mn-lt"/>
                        <a:ea typeface="+mn-ea"/>
                        <a:cs typeface="+mn-cs"/>
                      </a:endParaRPr>
                    </a:p>
                    <a:p>
                      <a:pPr algn="just"/>
                      <a:r>
                        <a:rPr lang="en-US" sz="2400" b="0" i="0" kern="1200" dirty="0">
                          <a:solidFill>
                            <a:schemeClr val="tx1"/>
                          </a:solidFill>
                          <a:effectLst/>
                          <a:latin typeface="+mn-lt"/>
                          <a:ea typeface="+mn-ea"/>
                          <a:cs typeface="+mn-cs"/>
                        </a:rPr>
                        <a:t>• </a:t>
                      </a:r>
                      <a:r>
                        <a:rPr lang="en-US" sz="2400" b="0" i="0" kern="1200" dirty="0" err="1">
                          <a:solidFill>
                            <a:schemeClr val="tx1"/>
                          </a:solidFill>
                          <a:effectLst/>
                          <a:latin typeface="+mn-lt"/>
                          <a:ea typeface="+mn-ea"/>
                          <a:cs typeface="+mn-cs"/>
                        </a:rPr>
                        <a:t>Làm</a:t>
                      </a:r>
                      <a:r>
                        <a:rPr lang="en-US" sz="2400" b="0" i="0" kern="1200" dirty="0">
                          <a:solidFill>
                            <a:schemeClr val="tx1"/>
                          </a:solidFill>
                          <a:effectLst/>
                          <a:latin typeface="+mn-lt"/>
                          <a:ea typeface="+mn-ea"/>
                          <a:cs typeface="+mn-cs"/>
                        </a:rPr>
                        <a:t> </a:t>
                      </a:r>
                      <a:r>
                        <a:rPr lang="en-US" sz="2400" b="0" i="0" kern="1200" dirty="0" err="1">
                          <a:solidFill>
                            <a:schemeClr val="tx1"/>
                          </a:solidFill>
                          <a:effectLst/>
                          <a:latin typeface="+mn-lt"/>
                          <a:ea typeface="+mn-ea"/>
                          <a:cs typeface="+mn-cs"/>
                        </a:rPr>
                        <a:t>nền</a:t>
                      </a:r>
                      <a:r>
                        <a:rPr lang="en-US" sz="2400" b="0" i="0" kern="1200" dirty="0">
                          <a:solidFill>
                            <a:schemeClr val="tx1"/>
                          </a:solidFill>
                          <a:effectLst/>
                          <a:latin typeface="+mn-lt"/>
                          <a:ea typeface="+mn-ea"/>
                          <a:cs typeface="+mn-cs"/>
                        </a:rPr>
                        <a:t> </a:t>
                      </a:r>
                      <a:r>
                        <a:rPr lang="en-US" sz="2400" b="0" i="0" kern="1200" dirty="0" err="1">
                          <a:solidFill>
                            <a:schemeClr val="tx1"/>
                          </a:solidFill>
                          <a:effectLst/>
                          <a:latin typeface="+mn-lt"/>
                          <a:ea typeface="+mn-ea"/>
                          <a:cs typeface="+mn-cs"/>
                        </a:rPr>
                        <a:t>tảng</a:t>
                      </a:r>
                      <a:r>
                        <a:rPr lang="en-US" sz="2400" b="0" i="0" kern="1200" dirty="0">
                          <a:solidFill>
                            <a:schemeClr val="tx1"/>
                          </a:solidFill>
                          <a:effectLst/>
                          <a:latin typeface="+mn-lt"/>
                          <a:ea typeface="+mn-ea"/>
                          <a:cs typeface="+mn-cs"/>
                        </a:rPr>
                        <a:t> </a:t>
                      </a:r>
                      <a:r>
                        <a:rPr lang="en-US" sz="2400" b="0" i="0" kern="1200" dirty="0" err="1">
                          <a:solidFill>
                            <a:schemeClr val="tx1"/>
                          </a:solidFill>
                          <a:effectLst/>
                          <a:latin typeface="+mn-lt"/>
                          <a:ea typeface="+mn-ea"/>
                          <a:cs typeface="+mn-cs"/>
                        </a:rPr>
                        <a:t>cho</a:t>
                      </a:r>
                      <a:r>
                        <a:rPr lang="en-US" sz="2400" b="0" i="0" kern="1200" dirty="0">
                          <a:solidFill>
                            <a:schemeClr val="tx1"/>
                          </a:solidFill>
                          <a:effectLst/>
                          <a:latin typeface="+mn-lt"/>
                          <a:ea typeface="+mn-ea"/>
                          <a:cs typeface="+mn-cs"/>
                        </a:rPr>
                        <a:t> </a:t>
                      </a:r>
                      <a:r>
                        <a:rPr lang="en-US" sz="2400" b="0" i="0" kern="1200" dirty="0" err="1">
                          <a:solidFill>
                            <a:schemeClr val="tx1"/>
                          </a:solidFill>
                          <a:effectLst/>
                          <a:latin typeface="+mn-lt"/>
                          <a:ea typeface="+mn-ea"/>
                          <a:cs typeface="+mn-cs"/>
                        </a:rPr>
                        <a:t>nghiên</a:t>
                      </a:r>
                      <a:r>
                        <a:rPr lang="en-US" sz="2400" b="0" i="0" kern="1200" dirty="0">
                          <a:solidFill>
                            <a:schemeClr val="tx1"/>
                          </a:solidFill>
                          <a:effectLst/>
                          <a:latin typeface="+mn-lt"/>
                          <a:ea typeface="+mn-ea"/>
                          <a:cs typeface="+mn-cs"/>
                        </a:rPr>
                        <a:t> </a:t>
                      </a:r>
                      <a:r>
                        <a:rPr lang="en-US" sz="2400" b="0" i="0" kern="1200" dirty="0" err="1">
                          <a:solidFill>
                            <a:schemeClr val="tx1"/>
                          </a:solidFill>
                          <a:effectLst/>
                          <a:latin typeface="+mn-lt"/>
                          <a:ea typeface="+mn-ea"/>
                          <a:cs typeface="+mn-cs"/>
                        </a:rPr>
                        <a:t>cứu</a:t>
                      </a:r>
                      <a:r>
                        <a:rPr lang="en-US" sz="2400" b="0" i="0" kern="1200" dirty="0">
                          <a:solidFill>
                            <a:schemeClr val="tx1"/>
                          </a:solidFill>
                          <a:effectLst/>
                          <a:latin typeface="+mn-lt"/>
                          <a:ea typeface="+mn-ea"/>
                          <a:cs typeface="+mn-cs"/>
                        </a:rPr>
                        <a:t> </a:t>
                      </a:r>
                      <a:r>
                        <a:rPr lang="en-US" sz="2400" b="0" i="0" kern="1200" dirty="0" err="1">
                          <a:solidFill>
                            <a:schemeClr val="tx1"/>
                          </a:solidFill>
                          <a:effectLst/>
                          <a:latin typeface="+mn-lt"/>
                          <a:ea typeface="+mn-ea"/>
                          <a:cs typeface="+mn-cs"/>
                        </a:rPr>
                        <a:t>phát</a:t>
                      </a:r>
                      <a:r>
                        <a:rPr lang="en-US" sz="2400" b="0" i="0" kern="1200" dirty="0">
                          <a:solidFill>
                            <a:schemeClr val="tx1"/>
                          </a:solidFill>
                          <a:effectLst/>
                          <a:latin typeface="+mn-lt"/>
                          <a:ea typeface="+mn-ea"/>
                          <a:cs typeface="+mn-cs"/>
                        </a:rPr>
                        <a:t> </a:t>
                      </a:r>
                      <a:r>
                        <a:rPr lang="en-US" sz="2400" b="0" i="0" kern="1200" dirty="0" err="1">
                          <a:solidFill>
                            <a:schemeClr val="tx1"/>
                          </a:solidFill>
                          <a:effectLst/>
                          <a:latin typeface="+mn-lt"/>
                          <a:ea typeface="+mn-ea"/>
                          <a:cs typeface="+mn-cs"/>
                        </a:rPr>
                        <a:t>triển</a:t>
                      </a:r>
                      <a:r>
                        <a:rPr lang="en-US" sz="2400" b="0" i="0" kern="1200" dirty="0">
                          <a:solidFill>
                            <a:schemeClr val="tx1"/>
                          </a:solidFill>
                          <a:effectLst/>
                          <a:latin typeface="+mn-lt"/>
                          <a:ea typeface="+mn-ea"/>
                          <a:cs typeface="+mn-cs"/>
                        </a:rPr>
                        <a:t> </a:t>
                      </a:r>
                      <a:r>
                        <a:rPr lang="en-US" sz="2400" b="0" i="0" kern="1200" dirty="0" err="1">
                          <a:solidFill>
                            <a:schemeClr val="tx1"/>
                          </a:solidFill>
                          <a:effectLst/>
                          <a:latin typeface="+mn-lt"/>
                          <a:ea typeface="+mn-ea"/>
                          <a:cs typeface="+mn-cs"/>
                        </a:rPr>
                        <a:t>ứng</a:t>
                      </a:r>
                      <a:r>
                        <a:rPr lang="en-US" sz="2400" b="0" i="0" kern="1200" dirty="0">
                          <a:solidFill>
                            <a:schemeClr val="tx1"/>
                          </a:solidFill>
                          <a:effectLst/>
                          <a:latin typeface="+mn-lt"/>
                          <a:ea typeface="+mn-ea"/>
                          <a:cs typeface="+mn-cs"/>
                        </a:rPr>
                        <a:t> </a:t>
                      </a:r>
                      <a:r>
                        <a:rPr lang="en-US" sz="2400" b="0" i="0" kern="1200" dirty="0" err="1">
                          <a:solidFill>
                            <a:schemeClr val="tx1"/>
                          </a:solidFill>
                          <a:effectLst/>
                          <a:latin typeface="+mn-lt"/>
                          <a:ea typeface="+mn-ea"/>
                          <a:cs typeface="+mn-cs"/>
                        </a:rPr>
                        <a:t>dụng</a:t>
                      </a:r>
                      <a:r>
                        <a:rPr lang="en-US" sz="2400" b="0" i="0" kern="1200" dirty="0">
                          <a:solidFill>
                            <a:schemeClr val="tx1"/>
                          </a:solidFill>
                          <a:effectLst/>
                          <a:latin typeface="+mn-lt"/>
                          <a:ea typeface="+mn-ea"/>
                          <a:cs typeface="+mn-cs"/>
                        </a:rPr>
                        <a:t> </a:t>
                      </a:r>
                      <a:r>
                        <a:rPr lang="en-US" sz="2400" b="0" i="0" kern="1200" dirty="0" err="1">
                          <a:solidFill>
                            <a:schemeClr val="tx1"/>
                          </a:solidFill>
                          <a:effectLst/>
                          <a:latin typeface="+mn-lt"/>
                          <a:ea typeface="+mn-ea"/>
                          <a:cs typeface="+mn-cs"/>
                        </a:rPr>
                        <a:t>quản</a:t>
                      </a:r>
                      <a:r>
                        <a:rPr lang="en-US" sz="2400" b="0" i="0" kern="1200" dirty="0">
                          <a:solidFill>
                            <a:schemeClr val="tx1"/>
                          </a:solidFill>
                          <a:effectLst/>
                          <a:latin typeface="+mn-lt"/>
                          <a:ea typeface="+mn-ea"/>
                          <a:cs typeface="+mn-cs"/>
                        </a:rPr>
                        <a:t> </a:t>
                      </a:r>
                      <a:r>
                        <a:rPr lang="en-US" sz="2400" b="0" i="0" kern="1200" dirty="0" err="1">
                          <a:solidFill>
                            <a:schemeClr val="tx1"/>
                          </a:solidFill>
                          <a:effectLst/>
                          <a:latin typeface="+mn-lt"/>
                          <a:ea typeface="+mn-ea"/>
                          <a:cs typeface="+mn-cs"/>
                        </a:rPr>
                        <a:t>lý</a:t>
                      </a:r>
                      <a:r>
                        <a:rPr lang="en-US" sz="2400" b="0" i="0" kern="1200" dirty="0">
                          <a:solidFill>
                            <a:schemeClr val="tx1"/>
                          </a:solidFill>
                          <a:effectLst/>
                          <a:latin typeface="+mn-lt"/>
                          <a:ea typeface="+mn-ea"/>
                          <a:cs typeface="+mn-cs"/>
                        </a:rPr>
                        <a:t> </a:t>
                      </a:r>
                      <a:r>
                        <a:rPr lang="en-US" sz="2400" b="0" i="0" kern="1200" dirty="0" err="1">
                          <a:solidFill>
                            <a:schemeClr val="tx1"/>
                          </a:solidFill>
                          <a:effectLst/>
                          <a:latin typeface="+mn-lt"/>
                          <a:ea typeface="+mn-ea"/>
                          <a:cs typeface="+mn-cs"/>
                        </a:rPr>
                        <a:t>thông</a:t>
                      </a:r>
                      <a:r>
                        <a:rPr lang="en-US" sz="2400" b="0" i="0" kern="1200" dirty="0">
                          <a:solidFill>
                            <a:schemeClr val="tx1"/>
                          </a:solidFill>
                          <a:effectLst/>
                          <a:latin typeface="+mn-lt"/>
                          <a:ea typeface="+mn-ea"/>
                          <a:cs typeface="+mn-cs"/>
                        </a:rPr>
                        <a:t> </a:t>
                      </a:r>
                      <a:r>
                        <a:rPr lang="en-US" sz="2400" b="0" i="0" kern="1200" dirty="0" err="1">
                          <a:solidFill>
                            <a:schemeClr val="tx1"/>
                          </a:solidFill>
                          <a:effectLst/>
                          <a:latin typeface="+mn-lt"/>
                          <a:ea typeface="+mn-ea"/>
                          <a:cs typeface="+mn-cs"/>
                        </a:rPr>
                        <a:t>minh</a:t>
                      </a:r>
                      <a:r>
                        <a:rPr lang="en-US" sz="2400" b="0" i="0" kern="1200" dirty="0">
                          <a:solidFill>
                            <a:schemeClr val="tx1"/>
                          </a:solidFill>
                          <a:effectLst/>
                          <a:latin typeface="+mn-lt"/>
                          <a:ea typeface="+mn-ea"/>
                          <a:cs typeface="+mn-cs"/>
                        </a:rPr>
                        <a:t> </a:t>
                      </a:r>
                      <a:r>
                        <a:rPr lang="en-US" sz="2400" b="0" i="0" kern="1200" dirty="0" err="1">
                          <a:solidFill>
                            <a:schemeClr val="tx1"/>
                          </a:solidFill>
                          <a:effectLst/>
                          <a:latin typeface="+mn-lt"/>
                          <a:ea typeface="+mn-ea"/>
                          <a:cs typeface="+mn-cs"/>
                        </a:rPr>
                        <a:t>sau</a:t>
                      </a:r>
                      <a:r>
                        <a:rPr lang="en-US" sz="2400" b="0" i="0" kern="1200" dirty="0">
                          <a:solidFill>
                            <a:schemeClr val="tx1"/>
                          </a:solidFill>
                          <a:effectLst/>
                          <a:latin typeface="+mn-lt"/>
                          <a:ea typeface="+mn-ea"/>
                          <a:cs typeface="+mn-cs"/>
                        </a:rPr>
                        <a:t> </a:t>
                      </a:r>
                      <a:r>
                        <a:rPr lang="en-US" sz="2400" b="0" i="0" kern="1200" dirty="0" err="1">
                          <a:solidFill>
                            <a:schemeClr val="tx1"/>
                          </a:solidFill>
                          <a:effectLst/>
                          <a:latin typeface="+mn-lt"/>
                          <a:ea typeface="+mn-ea"/>
                          <a:cs typeface="+mn-cs"/>
                        </a:rPr>
                        <a:t>này</a:t>
                      </a:r>
                      <a:endParaRPr lang="en-US" sz="2400" b="0" i="0" kern="1200" dirty="0">
                        <a:solidFill>
                          <a:schemeClr val="tx1"/>
                        </a:solidFill>
                        <a:effectLst/>
                        <a:latin typeface="+mn-lt"/>
                        <a:ea typeface="+mn-ea"/>
                        <a:cs typeface="+mn-cs"/>
                      </a:endParaRPr>
                    </a:p>
                  </a:txBody>
                  <a:tcPr marL="190500" marR="190500" marT="190500" marB="190500">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19050" cap="flat" cmpd="sng" algn="ctr">
                      <a:solidFill>
                        <a:srgbClr val="86C7ED"/>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4924573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E14A6133-2C01-E2AE-5202-C3C841C1E259}"/>
              </a:ext>
            </a:extLst>
          </p:cNvPr>
          <p:cNvGrpSpPr/>
          <p:nvPr/>
        </p:nvGrpSpPr>
        <p:grpSpPr>
          <a:xfrm rot="-10800000">
            <a:off x="14178808" y="-1362592"/>
            <a:ext cx="5119583" cy="2446670"/>
            <a:chOff x="0" y="0"/>
            <a:chExt cx="1177416" cy="562692"/>
          </a:xfrm>
        </p:grpSpPr>
        <p:sp>
          <p:nvSpPr>
            <p:cNvPr id="3" name="Freeform 3">
              <a:extLst>
                <a:ext uri="{FF2B5EF4-FFF2-40B4-BE49-F238E27FC236}">
                  <a16:creationId xmlns:a16="http://schemas.microsoft.com/office/drawing/2014/main" id="{A475A11E-32FA-E56F-5841-9CF7B4AD5DBA}"/>
                </a:ext>
              </a:extLst>
            </p:cNvPr>
            <p:cNvSpPr/>
            <p:nvPr/>
          </p:nvSpPr>
          <p:spPr>
            <a:xfrm>
              <a:off x="0" y="0"/>
              <a:ext cx="1177416" cy="562692"/>
            </a:xfrm>
            <a:custGeom>
              <a:avLst/>
              <a:gdLst/>
              <a:ahLst/>
              <a:cxnLst/>
              <a:rect l="l" t="t" r="r" b="b"/>
              <a:pathLst>
                <a:path w="1177416" h="562692">
                  <a:moveTo>
                    <a:pt x="1177416" y="281346"/>
                  </a:moveTo>
                  <a:lnTo>
                    <a:pt x="974216" y="562692"/>
                  </a:lnTo>
                  <a:lnTo>
                    <a:pt x="203200" y="562692"/>
                  </a:lnTo>
                  <a:lnTo>
                    <a:pt x="0" y="281346"/>
                  </a:lnTo>
                  <a:lnTo>
                    <a:pt x="203200" y="0"/>
                  </a:lnTo>
                  <a:lnTo>
                    <a:pt x="974216" y="0"/>
                  </a:lnTo>
                  <a:lnTo>
                    <a:pt x="1177416" y="281346"/>
                  </a:lnTo>
                  <a:close/>
                </a:path>
              </a:pathLst>
            </a:custGeom>
            <a:solidFill>
              <a:schemeClr val="accent5">
                <a:lumMod val="60000"/>
                <a:lumOff val="40000"/>
              </a:schemeClr>
            </a:solidFill>
          </p:spPr>
        </p:sp>
        <p:sp>
          <p:nvSpPr>
            <p:cNvPr id="4" name="TextBox 4">
              <a:extLst>
                <a:ext uri="{FF2B5EF4-FFF2-40B4-BE49-F238E27FC236}">
                  <a16:creationId xmlns:a16="http://schemas.microsoft.com/office/drawing/2014/main" id="{D3607B64-C01A-7902-9673-46D0F678B1C9}"/>
                </a:ext>
              </a:extLst>
            </p:cNvPr>
            <p:cNvSpPr txBox="1"/>
            <p:nvPr/>
          </p:nvSpPr>
          <p:spPr>
            <a:xfrm>
              <a:off x="114300" y="-57150"/>
              <a:ext cx="948816" cy="619842"/>
            </a:xfrm>
            <a:prstGeom prst="rect">
              <a:avLst/>
            </a:prstGeom>
          </p:spPr>
          <p:txBody>
            <a:bodyPr lIns="50800" tIns="50800" rIns="50800" bIns="50800" rtlCol="0" anchor="ctr"/>
            <a:lstStyle/>
            <a:p>
              <a:pPr algn="ctr">
                <a:lnSpc>
                  <a:spcPts val="3499"/>
                </a:lnSpc>
              </a:pPr>
              <a:endParaRPr/>
            </a:p>
          </p:txBody>
        </p:sp>
      </p:grpSp>
      <p:grpSp>
        <p:nvGrpSpPr>
          <p:cNvPr id="5" name="Group 5">
            <a:extLst>
              <a:ext uri="{FF2B5EF4-FFF2-40B4-BE49-F238E27FC236}">
                <a16:creationId xmlns:a16="http://schemas.microsoft.com/office/drawing/2014/main" id="{31D50B80-5F94-A54F-AAAA-C80901F459DA}"/>
              </a:ext>
            </a:extLst>
          </p:cNvPr>
          <p:cNvGrpSpPr/>
          <p:nvPr/>
        </p:nvGrpSpPr>
        <p:grpSpPr>
          <a:xfrm rot="-10800000">
            <a:off x="-1010392" y="-1362592"/>
            <a:ext cx="5119583" cy="2446670"/>
            <a:chOff x="0" y="0"/>
            <a:chExt cx="1177416" cy="562692"/>
          </a:xfrm>
        </p:grpSpPr>
        <p:sp>
          <p:nvSpPr>
            <p:cNvPr id="6" name="Freeform 6">
              <a:extLst>
                <a:ext uri="{FF2B5EF4-FFF2-40B4-BE49-F238E27FC236}">
                  <a16:creationId xmlns:a16="http://schemas.microsoft.com/office/drawing/2014/main" id="{32F0FC38-9072-AC22-6156-57FA45979141}"/>
                </a:ext>
              </a:extLst>
            </p:cNvPr>
            <p:cNvSpPr/>
            <p:nvPr/>
          </p:nvSpPr>
          <p:spPr>
            <a:xfrm>
              <a:off x="0" y="0"/>
              <a:ext cx="1177416" cy="562692"/>
            </a:xfrm>
            <a:custGeom>
              <a:avLst/>
              <a:gdLst/>
              <a:ahLst/>
              <a:cxnLst/>
              <a:rect l="l" t="t" r="r" b="b"/>
              <a:pathLst>
                <a:path w="1177416" h="562692">
                  <a:moveTo>
                    <a:pt x="1177416" y="281346"/>
                  </a:moveTo>
                  <a:lnTo>
                    <a:pt x="974216" y="562692"/>
                  </a:lnTo>
                  <a:lnTo>
                    <a:pt x="203200" y="562692"/>
                  </a:lnTo>
                  <a:lnTo>
                    <a:pt x="0" y="281346"/>
                  </a:lnTo>
                  <a:lnTo>
                    <a:pt x="203200" y="0"/>
                  </a:lnTo>
                  <a:lnTo>
                    <a:pt x="974216" y="0"/>
                  </a:lnTo>
                  <a:lnTo>
                    <a:pt x="1177416" y="281346"/>
                  </a:lnTo>
                  <a:close/>
                </a:path>
              </a:pathLst>
            </a:custGeom>
            <a:solidFill>
              <a:schemeClr val="accent5">
                <a:lumMod val="60000"/>
                <a:lumOff val="40000"/>
              </a:schemeClr>
            </a:solidFill>
          </p:spPr>
          <p:txBody>
            <a:bodyPr/>
            <a:lstStyle/>
            <a:p>
              <a:endParaRPr lang="en-US" dirty="0"/>
            </a:p>
          </p:txBody>
        </p:sp>
        <p:sp>
          <p:nvSpPr>
            <p:cNvPr id="7" name="TextBox 7">
              <a:extLst>
                <a:ext uri="{FF2B5EF4-FFF2-40B4-BE49-F238E27FC236}">
                  <a16:creationId xmlns:a16="http://schemas.microsoft.com/office/drawing/2014/main" id="{D5AF7530-EA62-60D4-6787-AE25634724ED}"/>
                </a:ext>
              </a:extLst>
            </p:cNvPr>
            <p:cNvSpPr txBox="1"/>
            <p:nvPr/>
          </p:nvSpPr>
          <p:spPr>
            <a:xfrm>
              <a:off x="114300" y="-57150"/>
              <a:ext cx="948816" cy="619842"/>
            </a:xfrm>
            <a:prstGeom prst="rect">
              <a:avLst/>
            </a:prstGeom>
          </p:spPr>
          <p:txBody>
            <a:bodyPr lIns="50800" tIns="50800" rIns="50800" bIns="50800" rtlCol="0" anchor="ctr"/>
            <a:lstStyle/>
            <a:p>
              <a:pPr algn="ctr">
                <a:lnSpc>
                  <a:spcPts val="3499"/>
                </a:lnSpc>
              </a:pPr>
              <a:endParaRPr/>
            </a:p>
          </p:txBody>
        </p:sp>
      </p:grpSp>
      <p:grpSp>
        <p:nvGrpSpPr>
          <p:cNvPr id="8" name="Group 8">
            <a:extLst>
              <a:ext uri="{FF2B5EF4-FFF2-40B4-BE49-F238E27FC236}">
                <a16:creationId xmlns:a16="http://schemas.microsoft.com/office/drawing/2014/main" id="{91D04FE9-B2F7-9A6D-A858-7D78593D1FD7}"/>
              </a:ext>
            </a:extLst>
          </p:cNvPr>
          <p:cNvGrpSpPr/>
          <p:nvPr/>
        </p:nvGrpSpPr>
        <p:grpSpPr>
          <a:xfrm rot="-10800000">
            <a:off x="1136650" y="-624938"/>
            <a:ext cx="5726233" cy="1198000"/>
            <a:chOff x="0" y="0"/>
            <a:chExt cx="3054608" cy="639062"/>
          </a:xfrm>
          <a:solidFill>
            <a:schemeClr val="accent6">
              <a:lumMod val="60000"/>
              <a:lumOff val="40000"/>
            </a:schemeClr>
          </a:solidFill>
        </p:grpSpPr>
        <p:sp>
          <p:nvSpPr>
            <p:cNvPr id="9" name="Freeform 9">
              <a:extLst>
                <a:ext uri="{FF2B5EF4-FFF2-40B4-BE49-F238E27FC236}">
                  <a16:creationId xmlns:a16="http://schemas.microsoft.com/office/drawing/2014/main" id="{60D5DE32-0159-DD07-0E75-35EFF8BD4923}"/>
                </a:ext>
              </a:extLst>
            </p:cNvPr>
            <p:cNvSpPr/>
            <p:nvPr/>
          </p:nvSpPr>
          <p:spPr>
            <a:xfrm>
              <a:off x="0" y="0"/>
              <a:ext cx="3054608" cy="639062"/>
            </a:xfrm>
            <a:custGeom>
              <a:avLst/>
              <a:gdLst/>
              <a:ahLst/>
              <a:cxnLst/>
              <a:rect l="l" t="t" r="r" b="b"/>
              <a:pathLst>
                <a:path w="3054608" h="639062">
                  <a:moveTo>
                    <a:pt x="3054608" y="319531"/>
                  </a:moveTo>
                  <a:lnTo>
                    <a:pt x="2851408" y="639062"/>
                  </a:lnTo>
                  <a:lnTo>
                    <a:pt x="203200" y="639062"/>
                  </a:lnTo>
                  <a:lnTo>
                    <a:pt x="0" y="319531"/>
                  </a:lnTo>
                  <a:lnTo>
                    <a:pt x="203200" y="0"/>
                  </a:lnTo>
                  <a:lnTo>
                    <a:pt x="2851408" y="0"/>
                  </a:lnTo>
                  <a:lnTo>
                    <a:pt x="3054608" y="319531"/>
                  </a:lnTo>
                  <a:close/>
                </a:path>
              </a:pathLst>
            </a:custGeom>
            <a:grpFill/>
            <a:ln w="57150" cap="sq">
              <a:solidFill>
                <a:srgbClr val="FFFFFF"/>
              </a:solidFill>
              <a:prstDash val="solid"/>
              <a:miter/>
            </a:ln>
          </p:spPr>
        </p:sp>
        <p:sp>
          <p:nvSpPr>
            <p:cNvPr id="10" name="TextBox 10">
              <a:extLst>
                <a:ext uri="{FF2B5EF4-FFF2-40B4-BE49-F238E27FC236}">
                  <a16:creationId xmlns:a16="http://schemas.microsoft.com/office/drawing/2014/main" id="{5AD0004F-8F0F-0FCD-7F96-BBB16D45C6C2}"/>
                </a:ext>
              </a:extLst>
            </p:cNvPr>
            <p:cNvSpPr txBox="1"/>
            <p:nvPr/>
          </p:nvSpPr>
          <p:spPr>
            <a:xfrm>
              <a:off x="114300" y="-57150"/>
              <a:ext cx="2826008" cy="696212"/>
            </a:xfrm>
            <a:prstGeom prst="rect">
              <a:avLst/>
            </a:prstGeom>
            <a:grpFill/>
          </p:spPr>
          <p:txBody>
            <a:bodyPr lIns="50800" tIns="50800" rIns="50800" bIns="50800" rtlCol="0" anchor="ctr"/>
            <a:lstStyle/>
            <a:p>
              <a:pPr algn="ctr">
                <a:lnSpc>
                  <a:spcPts val="3499"/>
                </a:lnSpc>
              </a:pPr>
              <a:endParaRPr/>
            </a:p>
          </p:txBody>
        </p:sp>
      </p:grpSp>
      <p:grpSp>
        <p:nvGrpSpPr>
          <p:cNvPr id="11" name="Group 11">
            <a:extLst>
              <a:ext uri="{FF2B5EF4-FFF2-40B4-BE49-F238E27FC236}">
                <a16:creationId xmlns:a16="http://schemas.microsoft.com/office/drawing/2014/main" id="{44BFBEF3-AF3B-9A3C-D109-1F2B640D47C4}"/>
              </a:ext>
            </a:extLst>
          </p:cNvPr>
          <p:cNvGrpSpPr/>
          <p:nvPr/>
        </p:nvGrpSpPr>
        <p:grpSpPr>
          <a:xfrm rot="-10800000">
            <a:off x="11425117" y="-624938"/>
            <a:ext cx="5726233" cy="1198000"/>
            <a:chOff x="0" y="0"/>
            <a:chExt cx="3054608" cy="639062"/>
          </a:xfrm>
        </p:grpSpPr>
        <p:sp>
          <p:nvSpPr>
            <p:cNvPr id="12" name="Freeform 12">
              <a:extLst>
                <a:ext uri="{FF2B5EF4-FFF2-40B4-BE49-F238E27FC236}">
                  <a16:creationId xmlns:a16="http://schemas.microsoft.com/office/drawing/2014/main" id="{6DAD51F2-CB70-E97B-8F90-C00C95E7E3AD}"/>
                </a:ext>
              </a:extLst>
            </p:cNvPr>
            <p:cNvSpPr/>
            <p:nvPr/>
          </p:nvSpPr>
          <p:spPr>
            <a:xfrm>
              <a:off x="0" y="0"/>
              <a:ext cx="3054608" cy="639062"/>
            </a:xfrm>
            <a:custGeom>
              <a:avLst/>
              <a:gdLst/>
              <a:ahLst/>
              <a:cxnLst/>
              <a:rect l="l" t="t" r="r" b="b"/>
              <a:pathLst>
                <a:path w="3054608" h="639062">
                  <a:moveTo>
                    <a:pt x="3054608" y="319531"/>
                  </a:moveTo>
                  <a:lnTo>
                    <a:pt x="2851408" y="639062"/>
                  </a:lnTo>
                  <a:lnTo>
                    <a:pt x="203200" y="639062"/>
                  </a:lnTo>
                  <a:lnTo>
                    <a:pt x="0" y="319531"/>
                  </a:lnTo>
                  <a:lnTo>
                    <a:pt x="203200" y="0"/>
                  </a:lnTo>
                  <a:lnTo>
                    <a:pt x="2851408" y="0"/>
                  </a:lnTo>
                  <a:lnTo>
                    <a:pt x="3054608" y="319531"/>
                  </a:lnTo>
                  <a:close/>
                </a:path>
              </a:pathLst>
            </a:custGeom>
            <a:solidFill>
              <a:schemeClr val="accent6">
                <a:lumMod val="60000"/>
                <a:lumOff val="40000"/>
              </a:schemeClr>
            </a:solidFill>
            <a:ln w="57150" cap="sq">
              <a:solidFill>
                <a:srgbClr val="FFFFFF"/>
              </a:solidFill>
              <a:prstDash val="solid"/>
              <a:miter/>
            </a:ln>
          </p:spPr>
        </p:sp>
        <p:sp>
          <p:nvSpPr>
            <p:cNvPr id="13" name="TextBox 13">
              <a:extLst>
                <a:ext uri="{FF2B5EF4-FFF2-40B4-BE49-F238E27FC236}">
                  <a16:creationId xmlns:a16="http://schemas.microsoft.com/office/drawing/2014/main" id="{545EFD3E-4551-1BA2-4A52-12FFC9020DE4}"/>
                </a:ext>
              </a:extLst>
            </p:cNvPr>
            <p:cNvSpPr txBox="1"/>
            <p:nvPr/>
          </p:nvSpPr>
          <p:spPr>
            <a:xfrm>
              <a:off x="114300" y="-57150"/>
              <a:ext cx="2826008" cy="696212"/>
            </a:xfrm>
            <a:prstGeom prst="rect">
              <a:avLst/>
            </a:prstGeom>
          </p:spPr>
          <p:txBody>
            <a:bodyPr lIns="50800" tIns="50800" rIns="50800" bIns="50800" rtlCol="0" anchor="ctr"/>
            <a:lstStyle/>
            <a:p>
              <a:pPr algn="ctr">
                <a:lnSpc>
                  <a:spcPts val="3499"/>
                </a:lnSpc>
              </a:pPr>
              <a:endParaRPr/>
            </a:p>
          </p:txBody>
        </p:sp>
      </p:grpSp>
      <p:grpSp>
        <p:nvGrpSpPr>
          <p:cNvPr id="14" name="Group 14">
            <a:extLst>
              <a:ext uri="{FF2B5EF4-FFF2-40B4-BE49-F238E27FC236}">
                <a16:creationId xmlns:a16="http://schemas.microsoft.com/office/drawing/2014/main" id="{110CF3D3-382E-757A-2C9C-A2D7B8426EDD}"/>
              </a:ext>
            </a:extLst>
          </p:cNvPr>
          <p:cNvGrpSpPr/>
          <p:nvPr/>
        </p:nvGrpSpPr>
        <p:grpSpPr>
          <a:xfrm>
            <a:off x="3814341" y="10141555"/>
            <a:ext cx="15879534" cy="1888404"/>
            <a:chOff x="0" y="0"/>
            <a:chExt cx="4182264" cy="497357"/>
          </a:xfrm>
        </p:grpSpPr>
        <p:sp>
          <p:nvSpPr>
            <p:cNvPr id="15" name="Freeform 15">
              <a:extLst>
                <a:ext uri="{FF2B5EF4-FFF2-40B4-BE49-F238E27FC236}">
                  <a16:creationId xmlns:a16="http://schemas.microsoft.com/office/drawing/2014/main" id="{3B643B81-ADDD-320D-989F-67532D41BF64}"/>
                </a:ext>
              </a:extLst>
            </p:cNvPr>
            <p:cNvSpPr/>
            <p:nvPr/>
          </p:nvSpPr>
          <p:spPr>
            <a:xfrm>
              <a:off x="0" y="0"/>
              <a:ext cx="4182264" cy="497357"/>
            </a:xfrm>
            <a:custGeom>
              <a:avLst/>
              <a:gdLst/>
              <a:ahLst/>
              <a:cxnLst/>
              <a:rect l="l" t="t" r="r" b="b"/>
              <a:pathLst>
                <a:path w="4182264" h="497357">
                  <a:moveTo>
                    <a:pt x="203200" y="0"/>
                  </a:moveTo>
                  <a:lnTo>
                    <a:pt x="4182264" y="0"/>
                  </a:lnTo>
                  <a:lnTo>
                    <a:pt x="3979064" y="497357"/>
                  </a:lnTo>
                  <a:lnTo>
                    <a:pt x="0" y="497357"/>
                  </a:lnTo>
                  <a:lnTo>
                    <a:pt x="203200" y="0"/>
                  </a:lnTo>
                  <a:close/>
                </a:path>
              </a:pathLst>
            </a:custGeom>
            <a:solidFill>
              <a:srgbClr val="0086CB"/>
            </a:solidFill>
          </p:spPr>
        </p:sp>
        <p:sp>
          <p:nvSpPr>
            <p:cNvPr id="16" name="TextBox 16">
              <a:extLst>
                <a:ext uri="{FF2B5EF4-FFF2-40B4-BE49-F238E27FC236}">
                  <a16:creationId xmlns:a16="http://schemas.microsoft.com/office/drawing/2014/main" id="{657258B0-4554-8D09-A268-F86E401CDBD8}"/>
                </a:ext>
              </a:extLst>
            </p:cNvPr>
            <p:cNvSpPr txBox="1"/>
            <p:nvPr/>
          </p:nvSpPr>
          <p:spPr>
            <a:xfrm>
              <a:off x="101600" y="-47625"/>
              <a:ext cx="3979064" cy="544982"/>
            </a:xfrm>
            <a:prstGeom prst="rect">
              <a:avLst/>
            </a:prstGeom>
          </p:spPr>
          <p:txBody>
            <a:bodyPr lIns="50800" tIns="50800" rIns="50800" bIns="50800" rtlCol="0" anchor="ctr"/>
            <a:lstStyle/>
            <a:p>
              <a:pPr algn="ctr">
                <a:lnSpc>
                  <a:spcPts val="2659"/>
                </a:lnSpc>
              </a:pPr>
              <a:endParaRPr/>
            </a:p>
          </p:txBody>
        </p:sp>
      </p:grpSp>
      <p:grpSp>
        <p:nvGrpSpPr>
          <p:cNvPr id="17" name="Group 17">
            <a:extLst>
              <a:ext uri="{FF2B5EF4-FFF2-40B4-BE49-F238E27FC236}">
                <a16:creationId xmlns:a16="http://schemas.microsoft.com/office/drawing/2014/main" id="{80DCB954-0F39-5990-A728-FA36C68F9017}"/>
              </a:ext>
            </a:extLst>
          </p:cNvPr>
          <p:cNvGrpSpPr/>
          <p:nvPr/>
        </p:nvGrpSpPr>
        <p:grpSpPr>
          <a:xfrm>
            <a:off x="-1212172" y="10141555"/>
            <a:ext cx="6086396" cy="1888404"/>
            <a:chOff x="0" y="0"/>
            <a:chExt cx="1603002" cy="497357"/>
          </a:xfrm>
        </p:grpSpPr>
        <p:sp>
          <p:nvSpPr>
            <p:cNvPr id="18" name="Freeform 18">
              <a:extLst>
                <a:ext uri="{FF2B5EF4-FFF2-40B4-BE49-F238E27FC236}">
                  <a16:creationId xmlns:a16="http://schemas.microsoft.com/office/drawing/2014/main" id="{43AF7FD1-B5DB-9FDA-E9C0-236507F222C0}"/>
                </a:ext>
              </a:extLst>
            </p:cNvPr>
            <p:cNvSpPr/>
            <p:nvPr/>
          </p:nvSpPr>
          <p:spPr>
            <a:xfrm>
              <a:off x="0" y="0"/>
              <a:ext cx="1603002" cy="497357"/>
            </a:xfrm>
            <a:custGeom>
              <a:avLst/>
              <a:gdLst/>
              <a:ahLst/>
              <a:cxnLst/>
              <a:rect l="l" t="t" r="r" b="b"/>
              <a:pathLst>
                <a:path w="1603002" h="497357">
                  <a:moveTo>
                    <a:pt x="203200" y="0"/>
                  </a:moveTo>
                  <a:lnTo>
                    <a:pt x="1603002" y="0"/>
                  </a:lnTo>
                  <a:lnTo>
                    <a:pt x="1399802" y="497357"/>
                  </a:lnTo>
                  <a:lnTo>
                    <a:pt x="0" y="497357"/>
                  </a:lnTo>
                  <a:lnTo>
                    <a:pt x="203200" y="0"/>
                  </a:lnTo>
                  <a:close/>
                </a:path>
              </a:pathLst>
            </a:custGeom>
            <a:solidFill>
              <a:srgbClr val="140574"/>
            </a:solidFill>
          </p:spPr>
        </p:sp>
        <p:sp>
          <p:nvSpPr>
            <p:cNvPr id="19" name="TextBox 19">
              <a:extLst>
                <a:ext uri="{FF2B5EF4-FFF2-40B4-BE49-F238E27FC236}">
                  <a16:creationId xmlns:a16="http://schemas.microsoft.com/office/drawing/2014/main" id="{120D46B4-9967-B15A-5CAC-895348085A15}"/>
                </a:ext>
              </a:extLst>
            </p:cNvPr>
            <p:cNvSpPr txBox="1"/>
            <p:nvPr/>
          </p:nvSpPr>
          <p:spPr>
            <a:xfrm>
              <a:off x="101600" y="-47625"/>
              <a:ext cx="1399802" cy="544982"/>
            </a:xfrm>
            <a:prstGeom prst="rect">
              <a:avLst/>
            </a:prstGeom>
          </p:spPr>
          <p:txBody>
            <a:bodyPr lIns="50800" tIns="50800" rIns="50800" bIns="50800" rtlCol="0" anchor="ctr"/>
            <a:lstStyle/>
            <a:p>
              <a:pPr algn="ctr">
                <a:lnSpc>
                  <a:spcPts val="2659"/>
                </a:lnSpc>
              </a:pPr>
              <a:endParaRPr/>
            </a:p>
          </p:txBody>
        </p:sp>
      </p:grpSp>
      <p:grpSp>
        <p:nvGrpSpPr>
          <p:cNvPr id="20" name="Group 20">
            <a:extLst>
              <a:ext uri="{FF2B5EF4-FFF2-40B4-BE49-F238E27FC236}">
                <a16:creationId xmlns:a16="http://schemas.microsoft.com/office/drawing/2014/main" id="{E7B94FC0-292E-EF53-6F46-5E15BEA01CAE}"/>
              </a:ext>
            </a:extLst>
          </p:cNvPr>
          <p:cNvGrpSpPr/>
          <p:nvPr/>
        </p:nvGrpSpPr>
        <p:grpSpPr>
          <a:xfrm>
            <a:off x="903763" y="1264905"/>
            <a:ext cx="16977136" cy="2585925"/>
            <a:chOff x="0" y="0"/>
            <a:chExt cx="4688629" cy="714163"/>
          </a:xfrm>
        </p:grpSpPr>
        <p:sp>
          <p:nvSpPr>
            <p:cNvPr id="21" name="Freeform 21">
              <a:extLst>
                <a:ext uri="{FF2B5EF4-FFF2-40B4-BE49-F238E27FC236}">
                  <a16:creationId xmlns:a16="http://schemas.microsoft.com/office/drawing/2014/main" id="{926103E8-1050-D549-D117-AA260E0AB35B}"/>
                </a:ext>
              </a:extLst>
            </p:cNvPr>
            <p:cNvSpPr/>
            <p:nvPr/>
          </p:nvSpPr>
          <p:spPr>
            <a:xfrm>
              <a:off x="0" y="0"/>
              <a:ext cx="4688629" cy="714163"/>
            </a:xfrm>
            <a:custGeom>
              <a:avLst/>
              <a:gdLst/>
              <a:ahLst/>
              <a:cxnLst/>
              <a:rect l="l" t="t" r="r" b="b"/>
              <a:pathLst>
                <a:path w="4688629" h="714163">
                  <a:moveTo>
                    <a:pt x="7296" y="0"/>
                  </a:moveTo>
                  <a:lnTo>
                    <a:pt x="4681333" y="0"/>
                  </a:lnTo>
                  <a:cubicBezTo>
                    <a:pt x="4685362" y="0"/>
                    <a:pt x="4688629" y="3267"/>
                    <a:pt x="4688629" y="7296"/>
                  </a:cubicBezTo>
                  <a:lnTo>
                    <a:pt x="4688629" y="706867"/>
                  </a:lnTo>
                  <a:cubicBezTo>
                    <a:pt x="4688629" y="708802"/>
                    <a:pt x="4687861" y="710658"/>
                    <a:pt x="4686492" y="712026"/>
                  </a:cubicBezTo>
                  <a:cubicBezTo>
                    <a:pt x="4685124" y="713394"/>
                    <a:pt x="4683268" y="714163"/>
                    <a:pt x="4681333" y="714163"/>
                  </a:cubicBezTo>
                  <a:lnTo>
                    <a:pt x="7296" y="714163"/>
                  </a:lnTo>
                  <a:cubicBezTo>
                    <a:pt x="5361" y="714163"/>
                    <a:pt x="3505" y="713394"/>
                    <a:pt x="2137" y="712026"/>
                  </a:cubicBezTo>
                  <a:cubicBezTo>
                    <a:pt x="769" y="710658"/>
                    <a:pt x="0" y="708802"/>
                    <a:pt x="0" y="706867"/>
                  </a:cubicBezTo>
                  <a:lnTo>
                    <a:pt x="0" y="7296"/>
                  </a:lnTo>
                  <a:cubicBezTo>
                    <a:pt x="0" y="5361"/>
                    <a:pt x="769" y="3505"/>
                    <a:pt x="2137" y="2137"/>
                  </a:cubicBezTo>
                  <a:cubicBezTo>
                    <a:pt x="3505" y="769"/>
                    <a:pt x="5361" y="0"/>
                    <a:pt x="7296" y="0"/>
                  </a:cubicBezTo>
                  <a:close/>
                </a:path>
              </a:pathLst>
            </a:custGeom>
            <a:solidFill>
              <a:srgbClr val="EAEFF7"/>
            </a:solidFill>
          </p:spPr>
        </p:sp>
        <p:sp>
          <p:nvSpPr>
            <p:cNvPr id="22" name="TextBox 22">
              <a:extLst>
                <a:ext uri="{FF2B5EF4-FFF2-40B4-BE49-F238E27FC236}">
                  <a16:creationId xmlns:a16="http://schemas.microsoft.com/office/drawing/2014/main" id="{56191C27-C19C-3F1C-45E5-3C77C1FBFBE1}"/>
                </a:ext>
              </a:extLst>
            </p:cNvPr>
            <p:cNvSpPr txBox="1"/>
            <p:nvPr/>
          </p:nvSpPr>
          <p:spPr>
            <a:xfrm>
              <a:off x="0" y="-19050"/>
              <a:ext cx="4688629" cy="733213"/>
            </a:xfrm>
            <a:prstGeom prst="rect">
              <a:avLst/>
            </a:prstGeom>
          </p:spPr>
          <p:txBody>
            <a:bodyPr lIns="50800" tIns="50800" rIns="50800" bIns="50800" rtlCol="0" anchor="ctr"/>
            <a:lstStyle/>
            <a:p>
              <a:pPr algn="ctr">
                <a:lnSpc>
                  <a:spcPts val="2374"/>
                </a:lnSpc>
              </a:pPr>
              <a:endParaRPr/>
            </a:p>
          </p:txBody>
        </p:sp>
      </p:grpSp>
      <p:sp>
        <p:nvSpPr>
          <p:cNvPr id="23" name="Freeform 23">
            <a:extLst>
              <a:ext uri="{FF2B5EF4-FFF2-40B4-BE49-F238E27FC236}">
                <a16:creationId xmlns:a16="http://schemas.microsoft.com/office/drawing/2014/main" id="{A3E49C98-82FE-44F8-B2D7-F886FB2012AF}"/>
              </a:ext>
            </a:extLst>
          </p:cNvPr>
          <p:cNvSpPr/>
          <p:nvPr/>
        </p:nvSpPr>
        <p:spPr>
          <a:xfrm rot="5400000" flipV="1">
            <a:off x="4000" y="2467264"/>
            <a:ext cx="1674333" cy="906233"/>
          </a:xfrm>
          <a:custGeom>
            <a:avLst/>
            <a:gdLst/>
            <a:ahLst/>
            <a:cxnLst/>
            <a:rect l="l" t="t" r="r" b="b"/>
            <a:pathLst>
              <a:path w="1674333" h="906233">
                <a:moveTo>
                  <a:pt x="0" y="906233"/>
                </a:moveTo>
                <a:lnTo>
                  <a:pt x="1674333" y="906233"/>
                </a:lnTo>
                <a:lnTo>
                  <a:pt x="1674333" y="0"/>
                </a:lnTo>
                <a:lnTo>
                  <a:pt x="0" y="0"/>
                </a:lnTo>
                <a:lnTo>
                  <a:pt x="0" y="906233"/>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4" name="Freeform 24">
            <a:extLst>
              <a:ext uri="{FF2B5EF4-FFF2-40B4-BE49-F238E27FC236}">
                <a16:creationId xmlns:a16="http://schemas.microsoft.com/office/drawing/2014/main" id="{B001F0D6-2913-2ED2-AC37-B10417CD1365}"/>
              </a:ext>
            </a:extLst>
          </p:cNvPr>
          <p:cNvSpPr/>
          <p:nvPr/>
        </p:nvSpPr>
        <p:spPr>
          <a:xfrm>
            <a:off x="672233" y="2751446"/>
            <a:ext cx="337868" cy="337868"/>
          </a:xfrm>
          <a:custGeom>
            <a:avLst/>
            <a:gdLst/>
            <a:ahLst/>
            <a:cxnLst/>
            <a:rect l="l" t="t" r="r" b="b"/>
            <a:pathLst>
              <a:path w="337868" h="337868">
                <a:moveTo>
                  <a:pt x="0" y="0"/>
                </a:moveTo>
                <a:lnTo>
                  <a:pt x="337868" y="0"/>
                </a:lnTo>
                <a:lnTo>
                  <a:pt x="337868" y="337869"/>
                </a:lnTo>
                <a:lnTo>
                  <a:pt x="0" y="33786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5" name="TextBox 26">
            <a:extLst>
              <a:ext uri="{FF2B5EF4-FFF2-40B4-BE49-F238E27FC236}">
                <a16:creationId xmlns:a16="http://schemas.microsoft.com/office/drawing/2014/main" id="{38357CEE-D15F-237E-21B0-513F3D402880}"/>
              </a:ext>
            </a:extLst>
          </p:cNvPr>
          <p:cNvSpPr txBox="1"/>
          <p:nvPr/>
        </p:nvSpPr>
        <p:spPr>
          <a:xfrm>
            <a:off x="6096000" y="2599384"/>
            <a:ext cx="7279665" cy="693331"/>
          </a:xfrm>
          <a:prstGeom prst="rect">
            <a:avLst/>
          </a:prstGeom>
        </p:spPr>
        <p:txBody>
          <a:bodyPr wrap="square" lIns="0" tIns="0" rIns="0" bIns="0" rtlCol="0" anchor="t">
            <a:spAutoFit/>
          </a:bodyPr>
          <a:lstStyle/>
          <a:p>
            <a:pPr algn="ctr">
              <a:lnSpc>
                <a:spcPts val="4920"/>
              </a:lnSpc>
            </a:pPr>
            <a:r>
              <a:rPr lang="en-US" sz="6600" dirty="0">
                <a:solidFill>
                  <a:srgbClr val="140574"/>
                </a:solidFill>
                <a:latin typeface="Anton"/>
                <a:ea typeface="Anton"/>
                <a:cs typeface="Anton"/>
                <a:sym typeface="Anton"/>
              </a:rPr>
              <a:t>MỤC TIÊU NGHIÊN CỨU</a:t>
            </a:r>
          </a:p>
        </p:txBody>
      </p:sp>
      <p:grpSp>
        <p:nvGrpSpPr>
          <p:cNvPr id="26" name="Group 30">
            <a:extLst>
              <a:ext uri="{FF2B5EF4-FFF2-40B4-BE49-F238E27FC236}">
                <a16:creationId xmlns:a16="http://schemas.microsoft.com/office/drawing/2014/main" id="{55FA604F-43E5-B019-C9D3-C17C4AD0D876}"/>
              </a:ext>
            </a:extLst>
          </p:cNvPr>
          <p:cNvGrpSpPr/>
          <p:nvPr/>
        </p:nvGrpSpPr>
        <p:grpSpPr>
          <a:xfrm>
            <a:off x="1000996" y="4566645"/>
            <a:ext cx="5411059" cy="2536185"/>
            <a:chOff x="0" y="0"/>
            <a:chExt cx="1074863" cy="503793"/>
          </a:xfrm>
        </p:grpSpPr>
        <p:sp>
          <p:nvSpPr>
            <p:cNvPr id="27" name="Freeform 31">
              <a:extLst>
                <a:ext uri="{FF2B5EF4-FFF2-40B4-BE49-F238E27FC236}">
                  <a16:creationId xmlns:a16="http://schemas.microsoft.com/office/drawing/2014/main" id="{F6CBC269-0BF6-FBC2-3043-159C34F8BD9C}"/>
                </a:ext>
              </a:extLst>
            </p:cNvPr>
            <p:cNvSpPr/>
            <p:nvPr/>
          </p:nvSpPr>
          <p:spPr>
            <a:xfrm>
              <a:off x="0" y="0"/>
              <a:ext cx="1074863" cy="503793"/>
            </a:xfrm>
            <a:custGeom>
              <a:avLst/>
              <a:gdLst/>
              <a:ahLst/>
              <a:cxnLst/>
              <a:rect l="l" t="t" r="r" b="b"/>
              <a:pathLst>
                <a:path w="1074863" h="503793">
                  <a:moveTo>
                    <a:pt x="45784" y="0"/>
                  </a:moveTo>
                  <a:lnTo>
                    <a:pt x="1029079" y="0"/>
                  </a:lnTo>
                  <a:cubicBezTo>
                    <a:pt x="1054365" y="0"/>
                    <a:pt x="1074863" y="20498"/>
                    <a:pt x="1074863" y="45784"/>
                  </a:cubicBezTo>
                  <a:lnTo>
                    <a:pt x="1074863" y="458008"/>
                  </a:lnTo>
                  <a:cubicBezTo>
                    <a:pt x="1074863" y="470151"/>
                    <a:pt x="1070040" y="481797"/>
                    <a:pt x="1061454" y="490383"/>
                  </a:cubicBezTo>
                  <a:cubicBezTo>
                    <a:pt x="1052867" y="498969"/>
                    <a:pt x="1041222" y="503793"/>
                    <a:pt x="1029079" y="503793"/>
                  </a:cubicBezTo>
                  <a:lnTo>
                    <a:pt x="45784" y="503793"/>
                  </a:lnTo>
                  <a:cubicBezTo>
                    <a:pt x="20498" y="503793"/>
                    <a:pt x="0" y="483294"/>
                    <a:pt x="0" y="458008"/>
                  </a:cubicBezTo>
                  <a:lnTo>
                    <a:pt x="0" y="45784"/>
                  </a:lnTo>
                  <a:cubicBezTo>
                    <a:pt x="0" y="33642"/>
                    <a:pt x="4824" y="21996"/>
                    <a:pt x="13410" y="13410"/>
                  </a:cubicBezTo>
                  <a:cubicBezTo>
                    <a:pt x="21996" y="4824"/>
                    <a:pt x="33642" y="0"/>
                    <a:pt x="45784" y="0"/>
                  </a:cubicBezTo>
                  <a:close/>
                </a:path>
              </a:pathLst>
            </a:custGeom>
            <a:ln w="19050" cap="rnd">
              <a:solidFill>
                <a:srgbClr val="000000"/>
              </a:solidFill>
              <a:prstDash val="dash"/>
              <a:round/>
            </a:ln>
          </p:spPr>
        </p:sp>
        <p:sp>
          <p:nvSpPr>
            <p:cNvPr id="28" name="TextBox 32">
              <a:extLst>
                <a:ext uri="{FF2B5EF4-FFF2-40B4-BE49-F238E27FC236}">
                  <a16:creationId xmlns:a16="http://schemas.microsoft.com/office/drawing/2014/main" id="{5E518B50-CB7B-E814-4E04-731AF946AB2B}"/>
                </a:ext>
              </a:extLst>
            </p:cNvPr>
            <p:cNvSpPr txBox="1"/>
            <p:nvPr/>
          </p:nvSpPr>
          <p:spPr>
            <a:xfrm>
              <a:off x="0" y="-66675"/>
              <a:ext cx="1074863" cy="570468"/>
            </a:xfrm>
            <a:prstGeom prst="rect">
              <a:avLst/>
            </a:prstGeom>
          </p:spPr>
          <p:txBody>
            <a:bodyPr lIns="47086" tIns="47086" rIns="47086" bIns="47086" rtlCol="0" anchor="ctr"/>
            <a:lstStyle/>
            <a:p>
              <a:pPr algn="ctr">
                <a:lnSpc>
                  <a:spcPts val="4060"/>
                </a:lnSpc>
              </a:pPr>
              <a:endParaRPr/>
            </a:p>
          </p:txBody>
        </p:sp>
      </p:grpSp>
      <p:grpSp>
        <p:nvGrpSpPr>
          <p:cNvPr id="29" name="Group 34">
            <a:extLst>
              <a:ext uri="{FF2B5EF4-FFF2-40B4-BE49-F238E27FC236}">
                <a16:creationId xmlns:a16="http://schemas.microsoft.com/office/drawing/2014/main" id="{66FD0F0D-736B-3A31-6859-64C756B961F7}"/>
              </a:ext>
            </a:extLst>
          </p:cNvPr>
          <p:cNvGrpSpPr/>
          <p:nvPr/>
        </p:nvGrpSpPr>
        <p:grpSpPr>
          <a:xfrm>
            <a:off x="1000996" y="7340955"/>
            <a:ext cx="5411059" cy="2564760"/>
            <a:chOff x="0" y="0"/>
            <a:chExt cx="1074863" cy="509469"/>
          </a:xfrm>
        </p:grpSpPr>
        <p:sp>
          <p:nvSpPr>
            <p:cNvPr id="30" name="Freeform 35">
              <a:extLst>
                <a:ext uri="{FF2B5EF4-FFF2-40B4-BE49-F238E27FC236}">
                  <a16:creationId xmlns:a16="http://schemas.microsoft.com/office/drawing/2014/main" id="{DCE9EC84-E795-049E-E354-074FA00AD23D}"/>
                </a:ext>
              </a:extLst>
            </p:cNvPr>
            <p:cNvSpPr/>
            <p:nvPr/>
          </p:nvSpPr>
          <p:spPr>
            <a:xfrm>
              <a:off x="0" y="0"/>
              <a:ext cx="1074863" cy="509469"/>
            </a:xfrm>
            <a:custGeom>
              <a:avLst/>
              <a:gdLst/>
              <a:ahLst/>
              <a:cxnLst/>
              <a:rect l="l" t="t" r="r" b="b"/>
              <a:pathLst>
                <a:path w="1074863" h="509469">
                  <a:moveTo>
                    <a:pt x="45784" y="0"/>
                  </a:moveTo>
                  <a:lnTo>
                    <a:pt x="1029079" y="0"/>
                  </a:lnTo>
                  <a:cubicBezTo>
                    <a:pt x="1054365" y="0"/>
                    <a:pt x="1074863" y="20498"/>
                    <a:pt x="1074863" y="45784"/>
                  </a:cubicBezTo>
                  <a:lnTo>
                    <a:pt x="1074863" y="463685"/>
                  </a:lnTo>
                  <a:cubicBezTo>
                    <a:pt x="1074863" y="475827"/>
                    <a:pt x="1070040" y="487473"/>
                    <a:pt x="1061454" y="496059"/>
                  </a:cubicBezTo>
                  <a:cubicBezTo>
                    <a:pt x="1052867" y="504645"/>
                    <a:pt x="1041222" y="509469"/>
                    <a:pt x="1029079" y="509469"/>
                  </a:cubicBezTo>
                  <a:lnTo>
                    <a:pt x="45784" y="509469"/>
                  </a:lnTo>
                  <a:cubicBezTo>
                    <a:pt x="20498" y="509469"/>
                    <a:pt x="0" y="488971"/>
                    <a:pt x="0" y="463685"/>
                  </a:cubicBezTo>
                  <a:lnTo>
                    <a:pt x="0" y="45784"/>
                  </a:lnTo>
                  <a:cubicBezTo>
                    <a:pt x="0" y="33642"/>
                    <a:pt x="4824" y="21996"/>
                    <a:pt x="13410" y="13410"/>
                  </a:cubicBezTo>
                  <a:cubicBezTo>
                    <a:pt x="21996" y="4824"/>
                    <a:pt x="33642" y="0"/>
                    <a:pt x="45784" y="0"/>
                  </a:cubicBezTo>
                  <a:close/>
                </a:path>
              </a:pathLst>
            </a:custGeom>
            <a:ln w="19050" cap="rnd">
              <a:solidFill>
                <a:srgbClr val="000000"/>
              </a:solidFill>
              <a:prstDash val="dash"/>
              <a:round/>
            </a:ln>
          </p:spPr>
        </p:sp>
        <p:sp>
          <p:nvSpPr>
            <p:cNvPr id="31" name="TextBox 36">
              <a:extLst>
                <a:ext uri="{FF2B5EF4-FFF2-40B4-BE49-F238E27FC236}">
                  <a16:creationId xmlns:a16="http://schemas.microsoft.com/office/drawing/2014/main" id="{EA194D7D-9B7D-A6D9-5518-A0E06FB6E253}"/>
                </a:ext>
              </a:extLst>
            </p:cNvPr>
            <p:cNvSpPr txBox="1"/>
            <p:nvPr/>
          </p:nvSpPr>
          <p:spPr>
            <a:xfrm>
              <a:off x="0" y="-66675"/>
              <a:ext cx="1074863" cy="576144"/>
            </a:xfrm>
            <a:prstGeom prst="rect">
              <a:avLst/>
            </a:prstGeom>
          </p:spPr>
          <p:txBody>
            <a:bodyPr lIns="47086" tIns="47086" rIns="47086" bIns="47086" rtlCol="0" anchor="ctr"/>
            <a:lstStyle/>
            <a:p>
              <a:pPr algn="ctr">
                <a:lnSpc>
                  <a:spcPts val="4060"/>
                </a:lnSpc>
              </a:pPr>
              <a:endParaRPr/>
            </a:p>
          </p:txBody>
        </p:sp>
      </p:grpSp>
      <p:grpSp>
        <p:nvGrpSpPr>
          <p:cNvPr id="32" name="Group 38">
            <a:extLst>
              <a:ext uri="{FF2B5EF4-FFF2-40B4-BE49-F238E27FC236}">
                <a16:creationId xmlns:a16="http://schemas.microsoft.com/office/drawing/2014/main" id="{080468D4-4D55-C9FA-3BFF-CB521A140248}"/>
              </a:ext>
            </a:extLst>
          </p:cNvPr>
          <p:cNvGrpSpPr/>
          <p:nvPr/>
        </p:nvGrpSpPr>
        <p:grpSpPr>
          <a:xfrm>
            <a:off x="12128126" y="4433295"/>
            <a:ext cx="5411059" cy="2536185"/>
            <a:chOff x="0" y="0"/>
            <a:chExt cx="1074863" cy="503793"/>
          </a:xfrm>
        </p:grpSpPr>
        <p:sp>
          <p:nvSpPr>
            <p:cNvPr id="33" name="Freeform 39">
              <a:extLst>
                <a:ext uri="{FF2B5EF4-FFF2-40B4-BE49-F238E27FC236}">
                  <a16:creationId xmlns:a16="http://schemas.microsoft.com/office/drawing/2014/main" id="{8665B761-9332-FC6C-074C-FF09C857EB01}"/>
                </a:ext>
              </a:extLst>
            </p:cNvPr>
            <p:cNvSpPr/>
            <p:nvPr/>
          </p:nvSpPr>
          <p:spPr>
            <a:xfrm>
              <a:off x="0" y="0"/>
              <a:ext cx="1074863" cy="503793"/>
            </a:xfrm>
            <a:custGeom>
              <a:avLst/>
              <a:gdLst/>
              <a:ahLst/>
              <a:cxnLst/>
              <a:rect l="l" t="t" r="r" b="b"/>
              <a:pathLst>
                <a:path w="1074863" h="503793">
                  <a:moveTo>
                    <a:pt x="45784" y="0"/>
                  </a:moveTo>
                  <a:lnTo>
                    <a:pt x="1029079" y="0"/>
                  </a:lnTo>
                  <a:cubicBezTo>
                    <a:pt x="1054365" y="0"/>
                    <a:pt x="1074863" y="20498"/>
                    <a:pt x="1074863" y="45784"/>
                  </a:cubicBezTo>
                  <a:lnTo>
                    <a:pt x="1074863" y="458008"/>
                  </a:lnTo>
                  <a:cubicBezTo>
                    <a:pt x="1074863" y="470151"/>
                    <a:pt x="1070040" y="481797"/>
                    <a:pt x="1061454" y="490383"/>
                  </a:cubicBezTo>
                  <a:cubicBezTo>
                    <a:pt x="1052867" y="498969"/>
                    <a:pt x="1041222" y="503793"/>
                    <a:pt x="1029079" y="503793"/>
                  </a:cubicBezTo>
                  <a:lnTo>
                    <a:pt x="45784" y="503793"/>
                  </a:lnTo>
                  <a:cubicBezTo>
                    <a:pt x="20498" y="503793"/>
                    <a:pt x="0" y="483294"/>
                    <a:pt x="0" y="458008"/>
                  </a:cubicBezTo>
                  <a:lnTo>
                    <a:pt x="0" y="45784"/>
                  </a:lnTo>
                  <a:cubicBezTo>
                    <a:pt x="0" y="33642"/>
                    <a:pt x="4824" y="21996"/>
                    <a:pt x="13410" y="13410"/>
                  </a:cubicBezTo>
                  <a:cubicBezTo>
                    <a:pt x="21996" y="4824"/>
                    <a:pt x="33642" y="0"/>
                    <a:pt x="45784" y="0"/>
                  </a:cubicBezTo>
                  <a:close/>
                </a:path>
              </a:pathLst>
            </a:custGeom>
            <a:ln w="19050" cap="rnd">
              <a:solidFill>
                <a:srgbClr val="000000"/>
              </a:solidFill>
              <a:prstDash val="dash"/>
              <a:round/>
            </a:ln>
          </p:spPr>
        </p:sp>
        <p:sp>
          <p:nvSpPr>
            <p:cNvPr id="34" name="TextBox 40">
              <a:extLst>
                <a:ext uri="{FF2B5EF4-FFF2-40B4-BE49-F238E27FC236}">
                  <a16:creationId xmlns:a16="http://schemas.microsoft.com/office/drawing/2014/main" id="{8C2091E3-1B1B-A6AA-57F6-5B167AD29F06}"/>
                </a:ext>
              </a:extLst>
            </p:cNvPr>
            <p:cNvSpPr txBox="1"/>
            <p:nvPr/>
          </p:nvSpPr>
          <p:spPr>
            <a:xfrm>
              <a:off x="0" y="-66675"/>
              <a:ext cx="1074863" cy="570468"/>
            </a:xfrm>
            <a:prstGeom prst="rect">
              <a:avLst/>
            </a:prstGeom>
          </p:spPr>
          <p:txBody>
            <a:bodyPr lIns="47086" tIns="47086" rIns="47086" bIns="47086" rtlCol="0" anchor="ctr"/>
            <a:lstStyle/>
            <a:p>
              <a:pPr algn="ctr">
                <a:lnSpc>
                  <a:spcPts val="4060"/>
                </a:lnSpc>
              </a:pPr>
              <a:endParaRPr/>
            </a:p>
          </p:txBody>
        </p:sp>
      </p:grpSp>
      <p:sp>
        <p:nvSpPr>
          <p:cNvPr id="35" name="TextBox 41">
            <a:extLst>
              <a:ext uri="{FF2B5EF4-FFF2-40B4-BE49-F238E27FC236}">
                <a16:creationId xmlns:a16="http://schemas.microsoft.com/office/drawing/2014/main" id="{B7BA0FE6-1E81-AD41-50D7-0A40A53E43B4}"/>
              </a:ext>
            </a:extLst>
          </p:cNvPr>
          <p:cNvSpPr txBox="1"/>
          <p:nvPr/>
        </p:nvSpPr>
        <p:spPr>
          <a:xfrm>
            <a:off x="12482392" y="4761752"/>
            <a:ext cx="4915472" cy="438518"/>
          </a:xfrm>
          <a:prstGeom prst="rect">
            <a:avLst/>
          </a:prstGeom>
        </p:spPr>
        <p:txBody>
          <a:bodyPr wrap="square" lIns="0" tIns="0" rIns="0" bIns="0" rtlCol="0" anchor="t">
            <a:spAutoFit/>
          </a:bodyPr>
          <a:lstStyle/>
          <a:p>
            <a:pPr algn="ctr">
              <a:lnSpc>
                <a:spcPts val="3810"/>
              </a:lnSpc>
            </a:pPr>
            <a:r>
              <a:rPr lang="en-US" sz="2500" dirty="0">
                <a:latin typeface="Arial" panose="020B0604020202020204" pitchFamily="34" charset="0"/>
                <a:cs typeface="Arial" panose="020B0604020202020204" pitchFamily="34" charset="0"/>
              </a:rPr>
              <a:t>.</a:t>
            </a:r>
            <a:endParaRPr lang="en-US" sz="2500" dirty="0">
              <a:solidFill>
                <a:srgbClr val="000000"/>
              </a:solidFill>
              <a:latin typeface="Arial" panose="020B0604020202020204" pitchFamily="34" charset="0"/>
              <a:ea typeface="Arial"/>
              <a:cs typeface="Arial" panose="020B0604020202020204" pitchFamily="34" charset="0"/>
              <a:sym typeface="Arial"/>
            </a:endParaRPr>
          </a:p>
        </p:txBody>
      </p:sp>
      <p:grpSp>
        <p:nvGrpSpPr>
          <p:cNvPr id="36" name="Group 42">
            <a:extLst>
              <a:ext uri="{FF2B5EF4-FFF2-40B4-BE49-F238E27FC236}">
                <a16:creationId xmlns:a16="http://schemas.microsoft.com/office/drawing/2014/main" id="{998C6F12-933A-AB8C-BE93-4DA445494AC1}"/>
              </a:ext>
            </a:extLst>
          </p:cNvPr>
          <p:cNvGrpSpPr/>
          <p:nvPr/>
        </p:nvGrpSpPr>
        <p:grpSpPr>
          <a:xfrm>
            <a:off x="12128126" y="7207605"/>
            <a:ext cx="5411059" cy="2564760"/>
            <a:chOff x="0" y="0"/>
            <a:chExt cx="1074863" cy="509469"/>
          </a:xfrm>
        </p:grpSpPr>
        <p:sp>
          <p:nvSpPr>
            <p:cNvPr id="37" name="Freeform 43">
              <a:extLst>
                <a:ext uri="{FF2B5EF4-FFF2-40B4-BE49-F238E27FC236}">
                  <a16:creationId xmlns:a16="http://schemas.microsoft.com/office/drawing/2014/main" id="{71360461-D279-A50F-9DBE-4B4BAC98C537}"/>
                </a:ext>
              </a:extLst>
            </p:cNvPr>
            <p:cNvSpPr/>
            <p:nvPr/>
          </p:nvSpPr>
          <p:spPr>
            <a:xfrm>
              <a:off x="0" y="0"/>
              <a:ext cx="1074863" cy="509469"/>
            </a:xfrm>
            <a:custGeom>
              <a:avLst/>
              <a:gdLst/>
              <a:ahLst/>
              <a:cxnLst/>
              <a:rect l="l" t="t" r="r" b="b"/>
              <a:pathLst>
                <a:path w="1074863" h="509469">
                  <a:moveTo>
                    <a:pt x="45784" y="0"/>
                  </a:moveTo>
                  <a:lnTo>
                    <a:pt x="1029079" y="0"/>
                  </a:lnTo>
                  <a:cubicBezTo>
                    <a:pt x="1054365" y="0"/>
                    <a:pt x="1074863" y="20498"/>
                    <a:pt x="1074863" y="45784"/>
                  </a:cubicBezTo>
                  <a:lnTo>
                    <a:pt x="1074863" y="463685"/>
                  </a:lnTo>
                  <a:cubicBezTo>
                    <a:pt x="1074863" y="475827"/>
                    <a:pt x="1070040" y="487473"/>
                    <a:pt x="1061454" y="496059"/>
                  </a:cubicBezTo>
                  <a:cubicBezTo>
                    <a:pt x="1052867" y="504645"/>
                    <a:pt x="1041222" y="509469"/>
                    <a:pt x="1029079" y="509469"/>
                  </a:cubicBezTo>
                  <a:lnTo>
                    <a:pt x="45784" y="509469"/>
                  </a:lnTo>
                  <a:cubicBezTo>
                    <a:pt x="20498" y="509469"/>
                    <a:pt x="0" y="488971"/>
                    <a:pt x="0" y="463685"/>
                  </a:cubicBezTo>
                  <a:lnTo>
                    <a:pt x="0" y="45784"/>
                  </a:lnTo>
                  <a:cubicBezTo>
                    <a:pt x="0" y="33642"/>
                    <a:pt x="4824" y="21996"/>
                    <a:pt x="13410" y="13410"/>
                  </a:cubicBezTo>
                  <a:cubicBezTo>
                    <a:pt x="21996" y="4824"/>
                    <a:pt x="33642" y="0"/>
                    <a:pt x="45784" y="0"/>
                  </a:cubicBezTo>
                  <a:close/>
                </a:path>
              </a:pathLst>
            </a:custGeom>
            <a:ln w="19050" cap="rnd">
              <a:solidFill>
                <a:srgbClr val="000000"/>
              </a:solidFill>
              <a:prstDash val="dash"/>
              <a:round/>
            </a:ln>
          </p:spPr>
        </p:sp>
        <p:sp>
          <p:nvSpPr>
            <p:cNvPr id="38" name="TextBox 44">
              <a:extLst>
                <a:ext uri="{FF2B5EF4-FFF2-40B4-BE49-F238E27FC236}">
                  <a16:creationId xmlns:a16="http://schemas.microsoft.com/office/drawing/2014/main" id="{7B81EDEB-786D-2AA3-E149-3B7524A671F9}"/>
                </a:ext>
              </a:extLst>
            </p:cNvPr>
            <p:cNvSpPr txBox="1"/>
            <p:nvPr/>
          </p:nvSpPr>
          <p:spPr>
            <a:xfrm>
              <a:off x="0" y="-66675"/>
              <a:ext cx="1074863" cy="576144"/>
            </a:xfrm>
            <a:prstGeom prst="rect">
              <a:avLst/>
            </a:prstGeom>
          </p:spPr>
          <p:txBody>
            <a:bodyPr lIns="47086" tIns="47086" rIns="47086" bIns="47086" rtlCol="0" anchor="ctr"/>
            <a:lstStyle/>
            <a:p>
              <a:pPr algn="ctr">
                <a:lnSpc>
                  <a:spcPts val="4060"/>
                </a:lnSpc>
              </a:pPr>
              <a:endParaRPr/>
            </a:p>
          </p:txBody>
        </p:sp>
      </p:grpSp>
      <p:sp>
        <p:nvSpPr>
          <p:cNvPr id="39" name="AutoShape 2" descr="Mục tiêu cụ thể với mũi tên">
            <a:extLst>
              <a:ext uri="{FF2B5EF4-FFF2-40B4-BE49-F238E27FC236}">
                <a16:creationId xmlns:a16="http://schemas.microsoft.com/office/drawing/2014/main" id="{EED2DC0B-4D4E-CABC-3B12-D8F138EB746B}"/>
              </a:ext>
            </a:extLst>
          </p:cNvPr>
          <p:cNvSpPr>
            <a:spLocks noChangeAspect="1" noChangeArrowheads="1"/>
          </p:cNvSpPr>
          <p:nvPr/>
        </p:nvSpPr>
        <p:spPr bwMode="auto">
          <a:xfrm>
            <a:off x="8812648" y="6429528"/>
            <a:ext cx="2371571" cy="237157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0" name="Picture 39">
            <a:extLst>
              <a:ext uri="{FF2B5EF4-FFF2-40B4-BE49-F238E27FC236}">
                <a16:creationId xmlns:a16="http://schemas.microsoft.com/office/drawing/2014/main" id="{57FCBBFE-B437-C5CB-B89B-8438E0CDFEC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392277" y="4315876"/>
            <a:ext cx="5825679" cy="5825679"/>
          </a:xfrm>
          <a:prstGeom prst="rect">
            <a:avLst/>
          </a:prstGeom>
        </p:spPr>
      </p:pic>
      <p:sp>
        <p:nvSpPr>
          <p:cNvPr id="41" name="TextBox 40">
            <a:extLst>
              <a:ext uri="{FF2B5EF4-FFF2-40B4-BE49-F238E27FC236}">
                <a16:creationId xmlns:a16="http://schemas.microsoft.com/office/drawing/2014/main" id="{2753BDC5-5800-2EF4-91B8-60FB25B2CACA}"/>
              </a:ext>
            </a:extLst>
          </p:cNvPr>
          <p:cNvSpPr txBox="1"/>
          <p:nvPr/>
        </p:nvSpPr>
        <p:spPr>
          <a:xfrm>
            <a:off x="1243647" y="4821235"/>
            <a:ext cx="5075477" cy="2400657"/>
          </a:xfrm>
          <a:prstGeom prst="rect">
            <a:avLst/>
          </a:prstGeom>
          <a:noFill/>
        </p:spPr>
        <p:txBody>
          <a:bodyPr wrap="square" rtlCol="0">
            <a:spAutoFit/>
          </a:bodyPr>
          <a:lstStyle/>
          <a:p>
            <a:pPr algn="just"/>
            <a:r>
              <a:rPr lang="vi-VN" sz="2200" dirty="0"/>
              <a:t>Xây dựng hệ thống quản lý công việc cá nhân Phát triển ứng dụng web tích hợp đa chức năng: quản lý nhiệm vụ, Pomodoro Timer, GPA, Ghi chú, OKR — responsive trên Desktop, Mobile và APK Android.</a:t>
            </a:r>
          </a:p>
          <a:p>
            <a:endParaRPr lang="en-US" dirty="0"/>
          </a:p>
        </p:txBody>
      </p:sp>
      <p:sp>
        <p:nvSpPr>
          <p:cNvPr id="42" name="TextBox 41">
            <a:extLst>
              <a:ext uri="{FF2B5EF4-FFF2-40B4-BE49-F238E27FC236}">
                <a16:creationId xmlns:a16="http://schemas.microsoft.com/office/drawing/2014/main" id="{776A21AD-0BEE-158B-033E-C991521E5462}"/>
              </a:ext>
            </a:extLst>
          </p:cNvPr>
          <p:cNvSpPr txBox="1"/>
          <p:nvPr/>
        </p:nvSpPr>
        <p:spPr>
          <a:xfrm>
            <a:off x="1247556" y="7560072"/>
            <a:ext cx="4729283" cy="2400657"/>
          </a:xfrm>
          <a:prstGeom prst="rect">
            <a:avLst/>
          </a:prstGeom>
          <a:noFill/>
        </p:spPr>
        <p:txBody>
          <a:bodyPr wrap="square" rtlCol="0">
            <a:spAutoFit/>
          </a:bodyPr>
          <a:lstStyle/>
          <a:p>
            <a:pPr algn="just"/>
            <a:r>
              <a:rPr lang="vi-VN" sz="2200" dirty="0"/>
              <a:t>Ứng dụng trí tuệ nhân tạo Google Gemini Sử dụng Gemini API và Function Calling để hỗ trợ người dùng tạo task bằng tiếng Việt, phân rã task thành subtask, chatbot cố vấn hiệu suất.</a:t>
            </a:r>
          </a:p>
          <a:p>
            <a:endParaRPr lang="en-US" dirty="0"/>
          </a:p>
        </p:txBody>
      </p:sp>
      <p:sp>
        <p:nvSpPr>
          <p:cNvPr id="43" name="TextBox 42">
            <a:extLst>
              <a:ext uri="{FF2B5EF4-FFF2-40B4-BE49-F238E27FC236}">
                <a16:creationId xmlns:a16="http://schemas.microsoft.com/office/drawing/2014/main" id="{860BAA71-8AFD-704E-9DB0-B84D93F6959D}"/>
              </a:ext>
            </a:extLst>
          </p:cNvPr>
          <p:cNvSpPr txBox="1"/>
          <p:nvPr/>
        </p:nvSpPr>
        <p:spPr>
          <a:xfrm>
            <a:off x="12344535" y="4691723"/>
            <a:ext cx="4942469" cy="2123658"/>
          </a:xfrm>
          <a:prstGeom prst="rect">
            <a:avLst/>
          </a:prstGeom>
          <a:noFill/>
        </p:spPr>
        <p:txBody>
          <a:bodyPr wrap="square" rtlCol="0">
            <a:spAutoFit/>
          </a:bodyPr>
          <a:lstStyle/>
          <a:p>
            <a:pPr algn="just"/>
            <a:r>
              <a:rPr lang="vi-VN" sz="2200" dirty="0"/>
              <a:t>Ứng dụng kỹ thuật gamification Xây dựng hệ thống thưởng XP, Level, Badge, Streak và Leaderboard — tạo động lực sử dụng lâu dài cho người dùng.</a:t>
            </a:r>
          </a:p>
          <a:p>
            <a:pPr algn="just"/>
            <a:endParaRPr lang="en-US" sz="2200" dirty="0"/>
          </a:p>
        </p:txBody>
      </p:sp>
      <p:sp>
        <p:nvSpPr>
          <p:cNvPr id="44" name="TextBox 43">
            <a:extLst>
              <a:ext uri="{FF2B5EF4-FFF2-40B4-BE49-F238E27FC236}">
                <a16:creationId xmlns:a16="http://schemas.microsoft.com/office/drawing/2014/main" id="{414464B8-0BE5-A995-71B2-2084D677F8ED}"/>
              </a:ext>
            </a:extLst>
          </p:cNvPr>
          <p:cNvSpPr txBox="1"/>
          <p:nvPr/>
        </p:nvSpPr>
        <p:spPr>
          <a:xfrm>
            <a:off x="12237006" y="7665369"/>
            <a:ext cx="5288788" cy="1446550"/>
          </a:xfrm>
          <a:prstGeom prst="rect">
            <a:avLst/>
          </a:prstGeom>
          <a:noFill/>
        </p:spPr>
        <p:txBody>
          <a:bodyPr wrap="square" rtlCol="0">
            <a:spAutoFit/>
          </a:bodyPr>
          <a:lstStyle/>
          <a:p>
            <a:pPr algn="just"/>
            <a:r>
              <a:rPr lang="vi-VN" sz="2200" dirty="0"/>
              <a:t>Rèn luyện kỹ năng chuyên môn Nâng cao kỹ năng thiết kế kiến trúc 3 tầng, phát triển RESTful API, triển khai cloud và kiểm thử phần mềm.</a:t>
            </a:r>
            <a:endParaRPr lang="en-US" sz="2200" dirty="0"/>
          </a:p>
        </p:txBody>
      </p:sp>
    </p:spTree>
    <p:extLst>
      <p:ext uri="{BB962C8B-B14F-4D97-AF65-F5344CB8AC3E}">
        <p14:creationId xmlns:p14="http://schemas.microsoft.com/office/powerpoint/2010/main" val="25510827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F5569-8787-0062-F375-50063FE23D12}"/>
            </a:ext>
          </a:extLst>
        </p:cNvPr>
        <p:cNvGrpSpPr/>
        <p:nvPr/>
      </p:nvGrpSpPr>
      <p:grpSpPr>
        <a:xfrm>
          <a:off x="0" y="0"/>
          <a:ext cx="0" cy="0"/>
          <a:chOff x="0" y="0"/>
          <a:chExt cx="0" cy="0"/>
        </a:xfrm>
      </p:grpSpPr>
      <p:sp>
        <p:nvSpPr>
          <p:cNvPr id="7" name="AutoShape 7">
            <a:extLst>
              <a:ext uri="{FF2B5EF4-FFF2-40B4-BE49-F238E27FC236}">
                <a16:creationId xmlns:a16="http://schemas.microsoft.com/office/drawing/2014/main" id="{D262D63C-B488-BE8F-C638-5411651FA7C7}"/>
              </a:ext>
            </a:extLst>
          </p:cNvPr>
          <p:cNvSpPr/>
          <p:nvPr/>
        </p:nvSpPr>
        <p:spPr>
          <a:xfrm>
            <a:off x="0" y="9986435"/>
            <a:ext cx="16445731" cy="791631"/>
          </a:xfrm>
          <a:prstGeom prst="rect">
            <a:avLst/>
          </a:prstGeom>
          <a:solidFill>
            <a:srgbClr val="1836B2"/>
          </a:solidFill>
        </p:spPr>
        <p:txBody>
          <a:bodyPr/>
          <a:lstStyle/>
          <a:p>
            <a:endParaRPr lang="vi-VN"/>
          </a:p>
        </p:txBody>
      </p:sp>
      <p:grpSp>
        <p:nvGrpSpPr>
          <p:cNvPr id="8" name="Group 8">
            <a:extLst>
              <a:ext uri="{FF2B5EF4-FFF2-40B4-BE49-F238E27FC236}">
                <a16:creationId xmlns:a16="http://schemas.microsoft.com/office/drawing/2014/main" id="{447F5CB9-EEEE-A003-FD07-4A3605270386}"/>
              </a:ext>
            </a:extLst>
          </p:cNvPr>
          <p:cNvGrpSpPr/>
          <p:nvPr/>
        </p:nvGrpSpPr>
        <p:grpSpPr>
          <a:xfrm rot="-10800000">
            <a:off x="14141132" y="9258300"/>
            <a:ext cx="3194047" cy="4221147"/>
            <a:chOff x="0" y="0"/>
            <a:chExt cx="4064946" cy="5372100"/>
          </a:xfrm>
        </p:grpSpPr>
        <p:sp>
          <p:nvSpPr>
            <p:cNvPr id="9" name="Freeform 9">
              <a:extLst>
                <a:ext uri="{FF2B5EF4-FFF2-40B4-BE49-F238E27FC236}">
                  <a16:creationId xmlns:a16="http://schemas.microsoft.com/office/drawing/2014/main" id="{B11A3129-E3A3-B22B-AE4B-9D0FA520B721}"/>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vi-VN"/>
            </a:p>
          </p:txBody>
        </p:sp>
      </p:grpSp>
      <p:grpSp>
        <p:nvGrpSpPr>
          <p:cNvPr id="10" name="Group 10">
            <a:extLst>
              <a:ext uri="{FF2B5EF4-FFF2-40B4-BE49-F238E27FC236}">
                <a16:creationId xmlns:a16="http://schemas.microsoft.com/office/drawing/2014/main" id="{4CD4F022-1E5A-B5DB-4C6B-6714ADAFFCE2}"/>
              </a:ext>
            </a:extLst>
          </p:cNvPr>
          <p:cNvGrpSpPr/>
          <p:nvPr/>
        </p:nvGrpSpPr>
        <p:grpSpPr>
          <a:xfrm rot="-10800000">
            <a:off x="15663004" y="9258300"/>
            <a:ext cx="3194047" cy="4221147"/>
            <a:chOff x="0" y="0"/>
            <a:chExt cx="4064946" cy="5372100"/>
          </a:xfrm>
        </p:grpSpPr>
        <p:sp>
          <p:nvSpPr>
            <p:cNvPr id="11" name="Freeform 11">
              <a:extLst>
                <a:ext uri="{FF2B5EF4-FFF2-40B4-BE49-F238E27FC236}">
                  <a16:creationId xmlns:a16="http://schemas.microsoft.com/office/drawing/2014/main" id="{C9B6B59E-ED31-2260-EC82-6518739409DB}"/>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vi-VN"/>
            </a:p>
          </p:txBody>
        </p:sp>
      </p:grpSp>
      <p:sp>
        <p:nvSpPr>
          <p:cNvPr id="27" name="TextBox 27">
            <a:extLst>
              <a:ext uri="{FF2B5EF4-FFF2-40B4-BE49-F238E27FC236}">
                <a16:creationId xmlns:a16="http://schemas.microsoft.com/office/drawing/2014/main" id="{D4C17CFB-C9FC-3A0E-9F79-4E4FF14A6573}"/>
              </a:ext>
            </a:extLst>
          </p:cNvPr>
          <p:cNvSpPr txBox="1"/>
          <p:nvPr/>
        </p:nvSpPr>
        <p:spPr>
          <a:xfrm>
            <a:off x="1059218" y="991667"/>
            <a:ext cx="8378511" cy="982705"/>
          </a:xfrm>
          <a:prstGeom prst="rect">
            <a:avLst/>
          </a:prstGeom>
        </p:spPr>
        <p:txBody>
          <a:bodyPr lIns="0" tIns="0" rIns="0" bIns="0" rtlCol="0" anchor="t">
            <a:spAutoFit/>
          </a:bodyPr>
          <a:lstStyle/>
          <a:p>
            <a:pPr marL="0" lvl="0" indent="0" algn="l">
              <a:lnSpc>
                <a:spcPts val="8717"/>
              </a:lnSpc>
              <a:spcBef>
                <a:spcPct val="0"/>
              </a:spcBef>
            </a:pPr>
            <a:r>
              <a:rPr lang="vi-VN" sz="5000" b="1" u="none" dirty="0">
                <a:solidFill>
                  <a:srgbClr val="1836B2"/>
                </a:solidFill>
                <a:latin typeface="+mj-lt"/>
                <a:ea typeface="Cabin Semi-Bold"/>
                <a:cs typeface="Times New Roman" panose="02020603050405020304" pitchFamily="18" charset="0"/>
                <a:sym typeface="Cabin Semi-Bold"/>
              </a:rPr>
              <a:t>Cơ sở lý thuyết</a:t>
            </a:r>
            <a:endParaRPr lang="en-US" sz="5000" b="1" u="none" dirty="0">
              <a:solidFill>
                <a:srgbClr val="1836B2"/>
              </a:solidFill>
              <a:latin typeface="+mj-lt"/>
              <a:ea typeface="Cabin Semi-Bold"/>
              <a:cs typeface="Times New Roman" panose="02020603050405020304" pitchFamily="18" charset="0"/>
              <a:sym typeface="Cabin Semi-Bold"/>
            </a:endParaRPr>
          </a:p>
        </p:txBody>
      </p:sp>
      <p:sp>
        <p:nvSpPr>
          <p:cNvPr id="40" name="TextBox 39">
            <a:extLst>
              <a:ext uri="{FF2B5EF4-FFF2-40B4-BE49-F238E27FC236}">
                <a16:creationId xmlns:a16="http://schemas.microsoft.com/office/drawing/2014/main" id="{8AC8433D-F9F0-949A-802A-213B5893CD86}"/>
              </a:ext>
            </a:extLst>
          </p:cNvPr>
          <p:cNvSpPr txBox="1"/>
          <p:nvPr/>
        </p:nvSpPr>
        <p:spPr>
          <a:xfrm>
            <a:off x="667200" y="6591300"/>
            <a:ext cx="3600000" cy="2308324"/>
          </a:xfrm>
          <a:prstGeom prst="rect">
            <a:avLst/>
          </a:prstGeom>
          <a:noFill/>
        </p:spPr>
        <p:txBody>
          <a:bodyPr wrap="square" rtlCol="0">
            <a:spAutoFit/>
          </a:bodyPr>
          <a:lstStyle/>
          <a:p>
            <a:pPr algn="just"/>
            <a:r>
              <a:rPr lang="en-US" sz="2400" dirty="0">
                <a:latin typeface="+mj-lt"/>
              </a:rPr>
              <a:t>Vue 3 + Vite Framework JavaScript </a:t>
            </a:r>
            <a:r>
              <a:rPr lang="en-US" sz="2400" dirty="0" err="1">
                <a:latin typeface="+mj-lt"/>
              </a:rPr>
              <a:t>hiện</a:t>
            </a:r>
            <a:r>
              <a:rPr lang="en-US" sz="2400" dirty="0">
                <a:latin typeface="+mj-lt"/>
              </a:rPr>
              <a:t> </a:t>
            </a:r>
            <a:r>
              <a:rPr lang="en-US" sz="2400" dirty="0" err="1">
                <a:latin typeface="+mj-lt"/>
              </a:rPr>
              <a:t>đại</a:t>
            </a:r>
            <a:r>
              <a:rPr lang="en-US" sz="2400" dirty="0">
                <a:latin typeface="+mj-lt"/>
              </a:rPr>
              <a:t> </a:t>
            </a:r>
            <a:r>
              <a:rPr lang="en-US" sz="2400" dirty="0" err="1">
                <a:latin typeface="+mj-lt"/>
              </a:rPr>
              <a:t>phát</a:t>
            </a:r>
            <a:r>
              <a:rPr lang="en-US" sz="2400" dirty="0">
                <a:latin typeface="+mj-lt"/>
              </a:rPr>
              <a:t> </a:t>
            </a:r>
            <a:r>
              <a:rPr lang="en-US" sz="2400" dirty="0" err="1">
                <a:latin typeface="+mj-lt"/>
              </a:rPr>
              <a:t>triển</a:t>
            </a:r>
            <a:r>
              <a:rPr lang="en-US" sz="2400" dirty="0">
                <a:latin typeface="+mj-lt"/>
              </a:rPr>
              <a:t> </a:t>
            </a:r>
            <a:r>
              <a:rPr lang="en-US" sz="2400" dirty="0" err="1">
                <a:latin typeface="+mj-lt"/>
              </a:rPr>
              <a:t>giao</a:t>
            </a:r>
            <a:r>
              <a:rPr lang="en-US" sz="2400" dirty="0">
                <a:latin typeface="+mj-lt"/>
              </a:rPr>
              <a:t> </a:t>
            </a:r>
            <a:r>
              <a:rPr lang="en-US" sz="2400" dirty="0" err="1">
                <a:latin typeface="+mj-lt"/>
              </a:rPr>
              <a:t>diện</a:t>
            </a:r>
            <a:r>
              <a:rPr lang="ja-JP" altLang="en-US" sz="2400" dirty="0">
                <a:latin typeface="+mj-lt"/>
              </a:rPr>
              <a:t> </a:t>
            </a:r>
            <a:r>
              <a:rPr lang="en-US" sz="2400" dirty="0" err="1">
                <a:latin typeface="+mj-lt"/>
              </a:rPr>
              <a:t>với</a:t>
            </a:r>
            <a:r>
              <a:rPr lang="en-US" sz="2400" dirty="0">
                <a:latin typeface="+mj-lt"/>
              </a:rPr>
              <a:t> Composition API, </a:t>
            </a:r>
            <a:r>
              <a:rPr lang="en-US" sz="2400" dirty="0" err="1">
                <a:latin typeface="+mj-lt"/>
              </a:rPr>
              <a:t>Pinia</a:t>
            </a:r>
            <a:r>
              <a:rPr lang="en-US" sz="2400" dirty="0">
                <a:latin typeface="+mj-lt"/>
              </a:rPr>
              <a:t> state management </a:t>
            </a:r>
            <a:r>
              <a:rPr lang="en-US" sz="2400" dirty="0" err="1">
                <a:latin typeface="+mj-lt"/>
              </a:rPr>
              <a:t>và</a:t>
            </a:r>
            <a:r>
              <a:rPr lang="en-US" sz="2400" dirty="0">
                <a:latin typeface="+mj-lt"/>
              </a:rPr>
              <a:t> Vue Router.</a:t>
            </a:r>
            <a:endParaRPr lang="vi-VN" sz="2400" dirty="0">
              <a:latin typeface="+mj-lt"/>
            </a:endParaRPr>
          </a:p>
        </p:txBody>
      </p:sp>
      <p:sp>
        <p:nvSpPr>
          <p:cNvPr id="42" name="TextBox 41">
            <a:extLst>
              <a:ext uri="{FF2B5EF4-FFF2-40B4-BE49-F238E27FC236}">
                <a16:creationId xmlns:a16="http://schemas.microsoft.com/office/drawing/2014/main" id="{BD68D535-6787-D116-201E-E9E1BAD12D5B}"/>
              </a:ext>
            </a:extLst>
          </p:cNvPr>
          <p:cNvSpPr txBox="1"/>
          <p:nvPr/>
        </p:nvSpPr>
        <p:spPr>
          <a:xfrm>
            <a:off x="14020800" y="6406632"/>
            <a:ext cx="3600000" cy="2677656"/>
          </a:xfrm>
          <a:prstGeom prst="rect">
            <a:avLst/>
          </a:prstGeom>
          <a:noFill/>
        </p:spPr>
        <p:txBody>
          <a:bodyPr wrap="square" rtlCol="0">
            <a:spAutoFit/>
          </a:bodyPr>
          <a:lstStyle/>
          <a:p>
            <a:pPr algn="just"/>
            <a:r>
              <a:rPr lang="en-US" sz="2400" dirty="0"/>
              <a:t>Google Gemini API Trí </a:t>
            </a:r>
            <a:r>
              <a:rPr lang="en-US" sz="2400" dirty="0" err="1"/>
              <a:t>tuệ</a:t>
            </a:r>
            <a:r>
              <a:rPr lang="en-US" sz="2400" dirty="0"/>
              <a:t> </a:t>
            </a:r>
            <a:r>
              <a:rPr lang="en-US" sz="2400" dirty="0" err="1"/>
              <a:t>nhân</a:t>
            </a:r>
            <a:r>
              <a:rPr lang="en-US" sz="2400" dirty="0"/>
              <a:t> </a:t>
            </a:r>
            <a:r>
              <a:rPr lang="en-US" sz="2400" dirty="0" err="1"/>
              <a:t>tạo</a:t>
            </a:r>
            <a:r>
              <a:rPr lang="en-US" sz="2400" dirty="0"/>
              <a:t> </a:t>
            </a:r>
            <a:r>
              <a:rPr lang="en-US" sz="2400" dirty="0" err="1"/>
              <a:t>của</a:t>
            </a:r>
            <a:r>
              <a:rPr lang="en-US" sz="2400" dirty="0"/>
              <a:t> Google  Function Calling </a:t>
            </a:r>
            <a:r>
              <a:rPr lang="en-US" sz="2400" dirty="0" err="1"/>
              <a:t>hỗ</a:t>
            </a:r>
            <a:r>
              <a:rPr lang="en-US" sz="2400" dirty="0"/>
              <a:t> </a:t>
            </a:r>
            <a:r>
              <a:rPr lang="en-US" sz="2400" dirty="0" err="1"/>
              <a:t>trợ</a:t>
            </a:r>
            <a:r>
              <a:rPr lang="en-US" sz="2400" dirty="0"/>
              <a:t> </a:t>
            </a:r>
            <a:r>
              <a:rPr lang="en-US" sz="2400" dirty="0" err="1"/>
              <a:t>tạo</a:t>
            </a:r>
            <a:r>
              <a:rPr lang="en-US" sz="2400" dirty="0"/>
              <a:t> task, </a:t>
            </a:r>
            <a:r>
              <a:rPr lang="en-US" sz="2400" dirty="0" err="1"/>
              <a:t>phân</a:t>
            </a:r>
            <a:r>
              <a:rPr lang="en-US" sz="2400" dirty="0"/>
              <a:t> </a:t>
            </a:r>
            <a:r>
              <a:rPr lang="en-US" sz="2400" dirty="0" err="1"/>
              <a:t>rã</a:t>
            </a:r>
            <a:r>
              <a:rPr lang="en-US" sz="2400" dirty="0"/>
              <a:t> subtask, chatbot AI Coach </a:t>
            </a:r>
            <a:r>
              <a:rPr lang="en-US" sz="2400" dirty="0" err="1"/>
              <a:t>và</a:t>
            </a:r>
            <a:r>
              <a:rPr lang="en-US" sz="2400" dirty="0"/>
              <a:t> </a:t>
            </a:r>
            <a:r>
              <a:rPr lang="en-US" sz="2400" dirty="0" err="1"/>
              <a:t>tạo</a:t>
            </a:r>
            <a:r>
              <a:rPr lang="en-US" sz="2400" dirty="0"/>
              <a:t> quiz </a:t>
            </a:r>
            <a:r>
              <a:rPr lang="en-US" sz="2400" dirty="0" err="1"/>
              <a:t>từ</a:t>
            </a:r>
            <a:r>
              <a:rPr lang="en-US" sz="2400" dirty="0"/>
              <a:t> </a:t>
            </a:r>
            <a:r>
              <a:rPr lang="en-US" sz="2400" dirty="0" err="1"/>
              <a:t>ghi</a:t>
            </a:r>
            <a:r>
              <a:rPr lang="en-US" sz="2400" dirty="0"/>
              <a:t> </a:t>
            </a:r>
            <a:r>
              <a:rPr lang="en-US" sz="2400" dirty="0" err="1"/>
              <a:t>chú</a:t>
            </a:r>
            <a:r>
              <a:rPr lang="en-US" sz="2400" dirty="0"/>
              <a:t>.</a:t>
            </a:r>
            <a:endParaRPr lang="vi-VN" sz="2400" dirty="0"/>
          </a:p>
        </p:txBody>
      </p:sp>
      <p:sp>
        <p:nvSpPr>
          <p:cNvPr id="6" name="Rectangle 5"/>
          <p:cNvSpPr/>
          <p:nvPr/>
        </p:nvSpPr>
        <p:spPr>
          <a:xfrm>
            <a:off x="9656400" y="6591298"/>
            <a:ext cx="3600000" cy="1938992"/>
          </a:xfrm>
          <a:prstGeom prst="rect">
            <a:avLst/>
          </a:prstGeom>
        </p:spPr>
        <p:txBody>
          <a:bodyPr wrap="square">
            <a:spAutoFit/>
          </a:bodyPr>
          <a:lstStyle/>
          <a:p>
            <a:pPr algn="just"/>
            <a:r>
              <a:rPr lang="vi-VN" sz="2400" dirty="0"/>
              <a:t>MySQL</a:t>
            </a:r>
            <a:r>
              <a:rPr lang="en-US" sz="2400" dirty="0"/>
              <a:t> </a:t>
            </a:r>
            <a:r>
              <a:rPr lang="vi-VN" sz="2400" dirty="0"/>
              <a:t>Hệ quản trị cơ sở dữ liệu qu relational — 29 bảng, 50+ API, hỗ trợ phân quyền và toàn vẹn dữ liệu.</a:t>
            </a:r>
          </a:p>
        </p:txBody>
      </p:sp>
      <p:sp>
        <p:nvSpPr>
          <p:cNvPr id="16" name="TextBox 15">
            <a:extLst>
              <a:ext uri="{FF2B5EF4-FFF2-40B4-BE49-F238E27FC236}">
                <a16:creationId xmlns:a16="http://schemas.microsoft.com/office/drawing/2014/main" id="{8AC8433D-F9F0-949A-802A-213B5893CD86}"/>
              </a:ext>
            </a:extLst>
          </p:cNvPr>
          <p:cNvSpPr txBox="1">
            <a:spLocks noChangeAspect="1"/>
          </p:cNvSpPr>
          <p:nvPr/>
        </p:nvSpPr>
        <p:spPr>
          <a:xfrm>
            <a:off x="5214606" y="6591298"/>
            <a:ext cx="3964045" cy="2308324"/>
          </a:xfrm>
          <a:prstGeom prst="rect">
            <a:avLst/>
          </a:prstGeom>
          <a:noFill/>
        </p:spPr>
        <p:txBody>
          <a:bodyPr wrap="square" rtlCol="0">
            <a:spAutoFit/>
          </a:bodyPr>
          <a:lstStyle/>
          <a:p>
            <a:pPr algn="just"/>
            <a:r>
              <a:rPr lang="en-US" sz="2400" dirty="0"/>
              <a:t>Node.js Express Runtime JavaScript </a:t>
            </a:r>
            <a:r>
              <a:rPr lang="en-US" sz="2400" dirty="0" err="1"/>
              <a:t>phía</a:t>
            </a:r>
            <a:r>
              <a:rPr lang="en-US" sz="2400" dirty="0"/>
              <a:t> server  </a:t>
            </a:r>
            <a:r>
              <a:rPr lang="en-US" sz="2400" dirty="0" err="1"/>
              <a:t>xây</a:t>
            </a:r>
            <a:r>
              <a:rPr lang="en-US" sz="2400" dirty="0"/>
              <a:t> </a:t>
            </a:r>
            <a:r>
              <a:rPr lang="en-US" sz="2400" dirty="0" err="1"/>
              <a:t>dựng</a:t>
            </a:r>
            <a:r>
              <a:rPr lang="en-US" sz="2400" dirty="0"/>
              <a:t> RESTful API, </a:t>
            </a:r>
            <a:r>
              <a:rPr lang="en-US" sz="2400" dirty="0" err="1"/>
              <a:t>xác</a:t>
            </a:r>
            <a:r>
              <a:rPr lang="en-US" sz="2400" dirty="0"/>
              <a:t> </a:t>
            </a:r>
            <a:r>
              <a:rPr lang="en-US" sz="2400" dirty="0" err="1"/>
              <a:t>thực</a:t>
            </a:r>
            <a:r>
              <a:rPr lang="en-US" sz="2400" dirty="0"/>
              <a:t> JWT, Socket.IO real-time </a:t>
            </a:r>
            <a:r>
              <a:rPr lang="en-US" sz="2400" dirty="0" err="1"/>
              <a:t>và</a:t>
            </a:r>
            <a:r>
              <a:rPr lang="en-US" sz="2400" dirty="0"/>
              <a:t> </a:t>
            </a:r>
            <a:r>
              <a:rPr lang="en-US" sz="2400" dirty="0" err="1"/>
              <a:t>tích</a:t>
            </a:r>
            <a:r>
              <a:rPr lang="en-US" sz="2400" dirty="0"/>
              <a:t> </a:t>
            </a:r>
            <a:r>
              <a:rPr lang="en-US" sz="2400" dirty="0" err="1"/>
              <a:t>hợp</a:t>
            </a:r>
            <a:r>
              <a:rPr lang="en-US" sz="2400" dirty="0"/>
              <a:t> </a:t>
            </a:r>
            <a:r>
              <a:rPr lang="en-US" sz="2400" dirty="0" err="1"/>
              <a:t>bên</a:t>
            </a:r>
            <a:r>
              <a:rPr lang="en-US" sz="2400" dirty="0"/>
              <a:t> </a:t>
            </a:r>
            <a:r>
              <a:rPr lang="en-US" sz="2400" dirty="0" err="1"/>
              <a:t>thứ</a:t>
            </a:r>
            <a:r>
              <a:rPr lang="en-US" sz="2400" dirty="0"/>
              <a:t> </a:t>
            </a:r>
            <a:r>
              <a:rPr lang="en-US" sz="2400" dirty="0" err="1"/>
              <a:t>ba</a:t>
            </a:r>
            <a:r>
              <a:rPr lang="en-US" sz="2400" dirty="0"/>
              <a:t>.</a:t>
            </a:r>
            <a:endParaRPr lang="vi-VN" sz="2400" dirty="0"/>
          </a:p>
        </p:txBody>
      </p:sp>
      <p:sp>
        <p:nvSpPr>
          <p:cNvPr id="2" name="AutoShape 4" descr="The Best Programming Languages for Game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3" name="AutoShape 7" descr="Tập tin:Godot logo.svg – Wikipedia ..."/>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4" name="AutoShape 11" descr="File:Audacity Logo 2-2-0.png ..."/>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5" name="AutoShape 14" descr="File:Audacity Logo.svg - Wikimedia Commons"/>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13" name="AutoShape 18" descr="File:Godot icon.svg - Wikimedia Commons"/>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26" name="AutoShape 7">
            <a:extLst>
              <a:ext uri="{FF2B5EF4-FFF2-40B4-BE49-F238E27FC236}">
                <a16:creationId xmlns:a16="http://schemas.microsoft.com/office/drawing/2014/main" id="{0FDD5AEC-3CEA-77AC-378A-1CAA1AD3DF2E}"/>
              </a:ext>
            </a:extLst>
          </p:cNvPr>
          <p:cNvSpPr/>
          <p:nvPr/>
        </p:nvSpPr>
        <p:spPr>
          <a:xfrm flipH="1" flipV="1">
            <a:off x="1842269" y="-460919"/>
            <a:ext cx="16445731" cy="791631"/>
          </a:xfrm>
          <a:prstGeom prst="rect">
            <a:avLst/>
          </a:prstGeom>
          <a:solidFill>
            <a:srgbClr val="1836B2"/>
          </a:solidFill>
        </p:spPr>
        <p:txBody>
          <a:bodyPr/>
          <a:lstStyle/>
          <a:p>
            <a:endParaRPr lang="vi-VN"/>
          </a:p>
        </p:txBody>
      </p:sp>
      <p:grpSp>
        <p:nvGrpSpPr>
          <p:cNvPr id="28" name="Group 8">
            <a:extLst>
              <a:ext uri="{FF2B5EF4-FFF2-40B4-BE49-F238E27FC236}">
                <a16:creationId xmlns:a16="http://schemas.microsoft.com/office/drawing/2014/main" id="{C40BE20F-1668-6757-E925-427E2515F520}"/>
              </a:ext>
            </a:extLst>
          </p:cNvPr>
          <p:cNvGrpSpPr/>
          <p:nvPr/>
        </p:nvGrpSpPr>
        <p:grpSpPr>
          <a:xfrm rot="10800000" flipH="1" flipV="1">
            <a:off x="844552" y="-3390900"/>
            <a:ext cx="3194047" cy="4221147"/>
            <a:chOff x="0" y="0"/>
            <a:chExt cx="4064946" cy="5372100"/>
          </a:xfrm>
        </p:grpSpPr>
        <p:sp>
          <p:nvSpPr>
            <p:cNvPr id="29" name="Freeform 9">
              <a:extLst>
                <a:ext uri="{FF2B5EF4-FFF2-40B4-BE49-F238E27FC236}">
                  <a16:creationId xmlns:a16="http://schemas.microsoft.com/office/drawing/2014/main" id="{D683F4E3-1353-1CD4-4ED6-C4ED63036DEF}"/>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vi-VN"/>
            </a:p>
          </p:txBody>
        </p:sp>
      </p:grpSp>
      <p:grpSp>
        <p:nvGrpSpPr>
          <p:cNvPr id="30" name="Group 10">
            <a:extLst>
              <a:ext uri="{FF2B5EF4-FFF2-40B4-BE49-F238E27FC236}">
                <a16:creationId xmlns:a16="http://schemas.microsoft.com/office/drawing/2014/main" id="{06F41384-77E1-59D4-F75B-D4A8D117DCF7}"/>
              </a:ext>
            </a:extLst>
          </p:cNvPr>
          <p:cNvGrpSpPr/>
          <p:nvPr/>
        </p:nvGrpSpPr>
        <p:grpSpPr>
          <a:xfrm rot="10800000" flipH="1" flipV="1">
            <a:off x="-677320" y="-3390900"/>
            <a:ext cx="3194047" cy="4221147"/>
            <a:chOff x="0" y="0"/>
            <a:chExt cx="4064946" cy="5372100"/>
          </a:xfrm>
        </p:grpSpPr>
        <p:sp>
          <p:nvSpPr>
            <p:cNvPr id="31" name="Freeform 11">
              <a:extLst>
                <a:ext uri="{FF2B5EF4-FFF2-40B4-BE49-F238E27FC236}">
                  <a16:creationId xmlns:a16="http://schemas.microsoft.com/office/drawing/2014/main" id="{C5FD7EF0-3D8F-6A18-04D3-6864CDB66887}"/>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vi-VN"/>
            </a:p>
          </p:txBody>
        </p:sp>
      </p:grpSp>
      <p:pic>
        <p:nvPicPr>
          <p:cNvPr id="1026" name="Picture 2" descr="Vue 3 and Vite: A Modern Front-End Development Experience | by  HalitEnesBuyuktepe | TAV Technologies | Medium">
            <a:extLst>
              <a:ext uri="{FF2B5EF4-FFF2-40B4-BE49-F238E27FC236}">
                <a16:creationId xmlns:a16="http://schemas.microsoft.com/office/drawing/2014/main" id="{5D9E188C-50C1-C6B6-FA3B-3F7CD67607F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7975" y="3762273"/>
            <a:ext cx="4101083" cy="230832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Building with Node.js and Express.js: Everything You Need to Know.">
            <a:extLst>
              <a:ext uri="{FF2B5EF4-FFF2-40B4-BE49-F238E27FC236}">
                <a16:creationId xmlns:a16="http://schemas.microsoft.com/office/drawing/2014/main" id="{4719F2A3-910C-1E6A-7D0A-490104F0D25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146088" y="3500110"/>
            <a:ext cx="3964045" cy="2640116"/>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a:extLst>
              <a:ext uri="{FF2B5EF4-FFF2-40B4-BE49-F238E27FC236}">
                <a16:creationId xmlns:a16="http://schemas.microsoft.com/office/drawing/2014/main" id="{B215AA69-AE3A-297E-88E4-4C95E212307A}"/>
              </a:ext>
            </a:extLst>
          </p:cNvPr>
          <p:cNvPicPr>
            <a:picLocks noChangeAspect="1"/>
          </p:cNvPicPr>
          <p:nvPr/>
        </p:nvPicPr>
        <p:blipFill>
          <a:blip r:embed="rId5"/>
          <a:stretch>
            <a:fillRect/>
          </a:stretch>
        </p:blipFill>
        <p:spPr>
          <a:xfrm>
            <a:off x="9865503" y="3251240"/>
            <a:ext cx="3181794" cy="3086531"/>
          </a:xfrm>
          <a:prstGeom prst="rect">
            <a:avLst/>
          </a:prstGeom>
        </p:spPr>
      </p:pic>
      <p:pic>
        <p:nvPicPr>
          <p:cNvPr id="1030" name="Picture 6" descr="Google Gemini">
            <a:extLst>
              <a:ext uri="{FF2B5EF4-FFF2-40B4-BE49-F238E27FC236}">
                <a16:creationId xmlns:a16="http://schemas.microsoft.com/office/drawing/2014/main" id="{6BCDEBDC-FC9F-3E00-0CD3-3F03D54293B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3495489" y="2601809"/>
            <a:ext cx="4485332" cy="36514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95592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E803A-EB2D-0CB4-B30F-4307E0952C32}"/>
            </a:ext>
          </a:extLst>
        </p:cNvPr>
        <p:cNvGrpSpPr/>
        <p:nvPr/>
      </p:nvGrpSpPr>
      <p:grpSpPr>
        <a:xfrm>
          <a:off x="0" y="0"/>
          <a:ext cx="0" cy="0"/>
          <a:chOff x="0" y="0"/>
          <a:chExt cx="0" cy="0"/>
        </a:xfrm>
      </p:grpSpPr>
      <p:grpSp>
        <p:nvGrpSpPr>
          <p:cNvPr id="3" name="Group 3">
            <a:extLst>
              <a:ext uri="{FF2B5EF4-FFF2-40B4-BE49-F238E27FC236}">
                <a16:creationId xmlns:a16="http://schemas.microsoft.com/office/drawing/2014/main" id="{65B0AC9B-DED5-DC34-E23D-97E5F9E0DD5E}"/>
              </a:ext>
            </a:extLst>
          </p:cNvPr>
          <p:cNvGrpSpPr/>
          <p:nvPr/>
        </p:nvGrpSpPr>
        <p:grpSpPr>
          <a:xfrm rot="-10800000">
            <a:off x="-2629342" y="-259279"/>
            <a:ext cx="7945947" cy="3511798"/>
            <a:chOff x="0" y="0"/>
            <a:chExt cx="12155147" cy="5372100"/>
          </a:xfrm>
        </p:grpSpPr>
        <p:sp>
          <p:nvSpPr>
            <p:cNvPr id="4" name="Freeform 4">
              <a:extLst>
                <a:ext uri="{FF2B5EF4-FFF2-40B4-BE49-F238E27FC236}">
                  <a16:creationId xmlns:a16="http://schemas.microsoft.com/office/drawing/2014/main" id="{ACA104C8-C8A3-1047-5FF1-83DF6BEC6B4B}"/>
                </a:ext>
              </a:extLst>
            </p:cNvPr>
            <p:cNvSpPr/>
            <p:nvPr/>
          </p:nvSpPr>
          <p:spPr>
            <a:xfrm>
              <a:off x="0" y="0"/>
              <a:ext cx="12155147" cy="5372100"/>
            </a:xfrm>
            <a:custGeom>
              <a:avLst/>
              <a:gdLst/>
              <a:ahLst/>
              <a:cxnLst/>
              <a:rect l="l" t="t" r="r" b="b"/>
              <a:pathLst>
                <a:path w="12155147" h="5372100">
                  <a:moveTo>
                    <a:pt x="10604477" y="0"/>
                  </a:moveTo>
                  <a:lnTo>
                    <a:pt x="1550670" y="0"/>
                  </a:lnTo>
                  <a:lnTo>
                    <a:pt x="0" y="2686050"/>
                  </a:lnTo>
                  <a:lnTo>
                    <a:pt x="1550670" y="5372100"/>
                  </a:lnTo>
                  <a:lnTo>
                    <a:pt x="10604477" y="5372100"/>
                  </a:lnTo>
                  <a:lnTo>
                    <a:pt x="12155147" y="2686050"/>
                  </a:lnTo>
                  <a:lnTo>
                    <a:pt x="10604477" y="0"/>
                  </a:lnTo>
                  <a:close/>
                </a:path>
              </a:pathLst>
            </a:custGeom>
            <a:solidFill>
              <a:srgbClr val="1836B2"/>
            </a:solidFill>
          </p:spPr>
          <p:txBody>
            <a:bodyPr/>
            <a:lstStyle/>
            <a:p>
              <a:endParaRPr lang="vi-VN"/>
            </a:p>
          </p:txBody>
        </p:sp>
      </p:grpSp>
      <p:sp>
        <p:nvSpPr>
          <p:cNvPr id="6" name="TextBox 6">
            <a:extLst>
              <a:ext uri="{FF2B5EF4-FFF2-40B4-BE49-F238E27FC236}">
                <a16:creationId xmlns:a16="http://schemas.microsoft.com/office/drawing/2014/main" id="{B4379BC2-88C7-287A-F880-0F31752D2069}"/>
              </a:ext>
            </a:extLst>
          </p:cNvPr>
          <p:cNvSpPr txBox="1"/>
          <p:nvPr/>
        </p:nvSpPr>
        <p:spPr>
          <a:xfrm>
            <a:off x="5486401" y="938775"/>
            <a:ext cx="12573000" cy="982705"/>
          </a:xfrm>
          <a:prstGeom prst="rect">
            <a:avLst/>
          </a:prstGeom>
        </p:spPr>
        <p:txBody>
          <a:bodyPr wrap="square" lIns="0" tIns="0" rIns="0" bIns="0" rtlCol="0" anchor="t">
            <a:spAutoFit/>
          </a:bodyPr>
          <a:lstStyle/>
          <a:p>
            <a:pPr lvl="0">
              <a:lnSpc>
                <a:spcPts val="8717"/>
              </a:lnSpc>
              <a:spcBef>
                <a:spcPct val="0"/>
              </a:spcBef>
            </a:pPr>
            <a:r>
              <a:rPr lang="en-US" sz="5000" b="1" dirty="0">
                <a:solidFill>
                  <a:srgbClr val="1836B2"/>
                </a:solidFill>
                <a:ea typeface="Cabin Semi-Bold"/>
                <a:cs typeface="Cabin Semi-Bold"/>
                <a:sym typeface="Cabin Semi-Bold"/>
              </a:rPr>
              <a:t> </a:t>
            </a:r>
            <a:r>
              <a:rPr lang="vi-VN" sz="5000" b="1" dirty="0">
                <a:solidFill>
                  <a:srgbClr val="1836B2"/>
                </a:solidFill>
                <a:ea typeface="Cabin Semi-Bold"/>
                <a:cs typeface="Cabin Semi-Bold"/>
                <a:sym typeface="Cabin Semi-Bold"/>
              </a:rPr>
              <a:t>Mô tả bài toán</a:t>
            </a:r>
            <a:endParaRPr lang="en-US" sz="5000" b="1" dirty="0">
              <a:solidFill>
                <a:srgbClr val="1836B2"/>
              </a:solidFill>
              <a:ea typeface="Cabin Semi-Bold"/>
              <a:cs typeface="Cabin Semi-Bold"/>
              <a:sym typeface="Cabin Semi-Bold"/>
            </a:endParaRPr>
          </a:p>
        </p:txBody>
      </p:sp>
      <p:graphicFrame>
        <p:nvGraphicFramePr>
          <p:cNvPr id="8" name="Table 8">
            <a:extLst>
              <a:ext uri="{FF2B5EF4-FFF2-40B4-BE49-F238E27FC236}">
                <a16:creationId xmlns:a16="http://schemas.microsoft.com/office/drawing/2014/main" id="{DD08C178-38B6-594D-1656-0A7BA1A63A61}"/>
              </a:ext>
            </a:extLst>
          </p:cNvPr>
          <p:cNvGraphicFramePr>
            <a:graphicFrameLocks noGrp="1"/>
          </p:cNvGraphicFramePr>
          <p:nvPr>
            <p:extLst>
              <p:ext uri="{D42A27DB-BD31-4B8C-83A1-F6EECF244321}">
                <p14:modId xmlns:p14="http://schemas.microsoft.com/office/powerpoint/2010/main" val="1978564765"/>
              </p:ext>
            </p:extLst>
          </p:nvPr>
        </p:nvGraphicFramePr>
        <p:xfrm>
          <a:off x="304800" y="3695700"/>
          <a:ext cx="5943600" cy="4587240"/>
        </p:xfrm>
        <a:graphic>
          <a:graphicData uri="http://schemas.openxmlformats.org/drawingml/2006/table">
            <a:tbl>
              <a:tblPr/>
              <a:tblGrid>
                <a:gridCol w="5943600">
                  <a:extLst>
                    <a:ext uri="{9D8B030D-6E8A-4147-A177-3AD203B41FA5}">
                      <a16:colId xmlns:a16="http://schemas.microsoft.com/office/drawing/2014/main" val="20000"/>
                    </a:ext>
                  </a:extLst>
                </a:gridCol>
              </a:tblGrid>
              <a:tr h="914400">
                <a:tc>
                  <a:txBody>
                    <a:bodyPr/>
                    <a:lstStyle/>
                    <a:p>
                      <a:pPr algn="ctr">
                        <a:lnSpc>
                          <a:spcPts val="3640"/>
                        </a:lnSpc>
                        <a:defRPr/>
                      </a:pPr>
                      <a:r>
                        <a:rPr lang="vi-VN" sz="2400" b="1" dirty="0">
                          <a:latin typeface="+mj-lt"/>
                        </a:rPr>
                        <a:t>Bối cảnh</a:t>
                      </a:r>
                      <a:endParaRPr lang="en-US" sz="2400" b="1" dirty="0">
                        <a:latin typeface="+mj-lt"/>
                      </a:endParaRPr>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19050" cap="flat" cmpd="sng" algn="ctr">
                      <a:solidFill>
                        <a:srgbClr val="86C7ED"/>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655123">
                <a:tc>
                  <a:txBody>
                    <a:bodyPr/>
                    <a:lstStyle/>
                    <a:p>
                      <a:pPr algn="just"/>
                      <a:r>
                        <a:rPr lang="en-US" sz="2400" b="0" i="0" kern="1200" dirty="0">
                          <a:solidFill>
                            <a:schemeClr val="tx1"/>
                          </a:solidFill>
                          <a:effectLst/>
                          <a:latin typeface="+mj-lt"/>
                          <a:ea typeface="+mn-ea"/>
                          <a:cs typeface="+mn-cs"/>
                        </a:rPr>
                        <a:t>• Sinh </a:t>
                      </a:r>
                      <a:r>
                        <a:rPr lang="en-US" sz="2400" b="0" i="0" kern="1200" dirty="0" err="1">
                          <a:solidFill>
                            <a:schemeClr val="tx1"/>
                          </a:solidFill>
                          <a:effectLst/>
                          <a:latin typeface="+mj-lt"/>
                          <a:ea typeface="+mn-ea"/>
                          <a:cs typeface="+mn-cs"/>
                        </a:rPr>
                        <a:t>viên</a:t>
                      </a:r>
                      <a:r>
                        <a:rPr 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hiện</a:t>
                      </a:r>
                      <a:r>
                        <a:rPr lang="en-US" sz="2400" b="0" i="0" kern="1200" dirty="0">
                          <a:solidFill>
                            <a:schemeClr val="tx1"/>
                          </a:solidFill>
                          <a:effectLst/>
                          <a:latin typeface="+mj-lt"/>
                          <a:ea typeface="+mn-ea"/>
                          <a:cs typeface="+mn-cs"/>
                        </a:rPr>
                        <a:t> nay </a:t>
                      </a:r>
                      <a:r>
                        <a:rPr lang="en-US" sz="2400" b="0" i="0" kern="1200" dirty="0" err="1">
                          <a:solidFill>
                            <a:schemeClr val="tx1"/>
                          </a:solidFill>
                          <a:effectLst/>
                          <a:latin typeface="+mj-lt"/>
                          <a:ea typeface="+mn-ea"/>
                          <a:cs typeface="+mn-cs"/>
                        </a:rPr>
                        <a:t>quản</a:t>
                      </a:r>
                      <a:r>
                        <a:rPr 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lý</a:t>
                      </a:r>
                      <a:r>
                        <a:rPr 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công</a:t>
                      </a:r>
                      <a:r>
                        <a:rPr 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việc</a:t>
                      </a:r>
                      <a:r>
                        <a:rPr lang="ja-JP" alt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trên</a:t>
                      </a:r>
                      <a:r>
                        <a:rPr 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nhiều</a:t>
                      </a:r>
                      <a:r>
                        <a:rPr 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nền</a:t>
                      </a:r>
                      <a:r>
                        <a:rPr 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tảng</a:t>
                      </a:r>
                      <a:r>
                        <a:rPr 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Zalo</a:t>
                      </a:r>
                      <a:r>
                        <a:rPr lang="en-US" sz="2400" b="0" i="0" kern="1200" dirty="0">
                          <a:solidFill>
                            <a:schemeClr val="tx1"/>
                          </a:solidFill>
                          <a:effectLst/>
                          <a:latin typeface="+mj-lt"/>
                          <a:ea typeface="+mn-ea"/>
                          <a:cs typeface="+mn-cs"/>
                        </a:rPr>
                        <a:t>, Email, </a:t>
                      </a:r>
                      <a:r>
                        <a:rPr lang="en-US" sz="2400" b="0" i="0" kern="1200" dirty="0" err="1">
                          <a:solidFill>
                            <a:schemeClr val="tx1"/>
                          </a:solidFill>
                          <a:effectLst/>
                          <a:latin typeface="+mj-lt"/>
                          <a:ea typeface="+mn-ea"/>
                          <a:cs typeface="+mn-cs"/>
                        </a:rPr>
                        <a:t>Sổ</a:t>
                      </a:r>
                      <a:r>
                        <a:rPr 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tay</a:t>
                      </a:r>
                      <a:r>
                        <a:rPr lang="en-US" sz="2400" b="0" i="0" kern="1200" dirty="0">
                          <a:solidFill>
                            <a:schemeClr val="tx1"/>
                          </a:solidFill>
                          <a:effectLst/>
                          <a:latin typeface="+mj-lt"/>
                          <a:ea typeface="+mn-ea"/>
                          <a:cs typeface="+mn-cs"/>
                        </a:rPr>
                        <a:t>, Google Calendar</a:t>
                      </a:r>
                    </a:p>
                    <a:p>
                      <a:pPr algn="just"/>
                      <a:r>
                        <a:rPr 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Không</a:t>
                      </a:r>
                      <a:r>
                        <a:rPr 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có</a:t>
                      </a:r>
                      <a:r>
                        <a:rPr 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công</a:t>
                      </a:r>
                      <a:r>
                        <a:rPr 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cụ</a:t>
                      </a:r>
                      <a:r>
                        <a:rPr 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tổng</a:t>
                      </a:r>
                      <a:r>
                        <a:rPr 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hợp</a:t>
                      </a:r>
                      <a:r>
                        <a:rPr lang="en-US" sz="2400" b="0" i="0" kern="1200" dirty="0">
                          <a:solidFill>
                            <a:schemeClr val="tx1"/>
                          </a:solidFill>
                          <a:effectLst/>
                          <a:latin typeface="+mj-lt"/>
                          <a:ea typeface="+mn-ea"/>
                          <a:cs typeface="+mn-cs"/>
                        </a:rPr>
                        <a:t> → </a:t>
                      </a:r>
                      <a:r>
                        <a:rPr lang="en-US" sz="2400" b="0" i="0" kern="1200" dirty="0" err="1">
                          <a:solidFill>
                            <a:schemeClr val="tx1"/>
                          </a:solidFill>
                          <a:effectLst/>
                          <a:latin typeface="+mj-lt"/>
                          <a:ea typeface="+mn-ea"/>
                          <a:cs typeface="+mn-cs"/>
                        </a:rPr>
                        <a:t>dễ</a:t>
                      </a:r>
                      <a:r>
                        <a:rPr 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bỏ</a:t>
                      </a:r>
                      <a:r>
                        <a:rPr 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sót</a:t>
                      </a:r>
                      <a:r>
                        <a:rPr lang="en-US" sz="2400" b="0" i="0" kern="1200" dirty="0">
                          <a:solidFill>
                            <a:schemeClr val="tx1"/>
                          </a:solidFill>
                          <a:effectLst/>
                          <a:latin typeface="+mj-lt"/>
                          <a:ea typeface="+mn-ea"/>
                          <a:cs typeface="+mn-cs"/>
                        </a:rPr>
                        <a:t> deadline, </a:t>
                      </a:r>
                      <a:r>
                        <a:rPr lang="en-US" sz="2400" b="0" i="0" kern="1200" dirty="0" err="1">
                          <a:solidFill>
                            <a:schemeClr val="tx1"/>
                          </a:solidFill>
                          <a:effectLst/>
                          <a:latin typeface="+mj-lt"/>
                          <a:ea typeface="+mn-ea"/>
                          <a:cs typeface="+mn-cs"/>
                        </a:rPr>
                        <a:t>khó</a:t>
                      </a:r>
                      <a:r>
                        <a:rPr 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theo</a:t>
                      </a:r>
                      <a:r>
                        <a:rPr 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dõi</a:t>
                      </a:r>
                      <a:r>
                        <a:rPr 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tiến</a:t>
                      </a:r>
                      <a:r>
                        <a:rPr 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độ</a:t>
                      </a:r>
                      <a:r>
                        <a:rPr 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tổng</a:t>
                      </a:r>
                      <a:r>
                        <a:rPr 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thể</a:t>
                      </a:r>
                      <a:endParaRPr lang="en-US" sz="2400" b="0" i="0" kern="1200" dirty="0">
                        <a:solidFill>
                          <a:schemeClr val="tx1"/>
                        </a:solidFill>
                        <a:effectLst/>
                        <a:latin typeface="+mj-lt"/>
                        <a:ea typeface="+mn-ea"/>
                        <a:cs typeface="+mn-cs"/>
                      </a:endParaRPr>
                    </a:p>
                    <a:p>
                      <a:pPr algn="just"/>
                      <a:r>
                        <a:rPr lang="en-US" sz="2400" b="0" i="0" kern="1200" dirty="0">
                          <a:solidFill>
                            <a:schemeClr val="tx1"/>
                          </a:solidFill>
                          <a:effectLst/>
                          <a:latin typeface="+mj-lt"/>
                          <a:ea typeface="+mn-ea"/>
                          <a:cs typeface="+mn-cs"/>
                        </a:rPr>
                        <a:t>• Các </a:t>
                      </a:r>
                      <a:r>
                        <a:rPr lang="en-US" sz="2400" b="0" i="0" kern="1200" dirty="0" err="1">
                          <a:solidFill>
                            <a:schemeClr val="tx1"/>
                          </a:solidFill>
                          <a:effectLst/>
                          <a:latin typeface="+mj-lt"/>
                          <a:ea typeface="+mn-ea"/>
                          <a:cs typeface="+mn-cs"/>
                        </a:rPr>
                        <a:t>ứng</a:t>
                      </a:r>
                      <a:r>
                        <a:rPr 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dụng</a:t>
                      </a:r>
                      <a:r>
                        <a:rPr 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hiện</a:t>
                      </a:r>
                      <a:r>
                        <a:rPr 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có</a:t>
                      </a:r>
                      <a:r>
                        <a:rPr 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Todoist</a:t>
                      </a:r>
                      <a:r>
                        <a:rPr lang="en-US" sz="2400" b="0" i="0" kern="1200" dirty="0">
                          <a:solidFill>
                            <a:schemeClr val="tx1"/>
                          </a:solidFill>
                          <a:effectLst/>
                          <a:latin typeface="+mj-lt"/>
                          <a:ea typeface="+mn-ea"/>
                          <a:cs typeface="+mn-cs"/>
                        </a:rPr>
                        <a:t>, Notion, Trello)requiring </a:t>
                      </a:r>
                      <a:r>
                        <a:rPr lang="en-US" sz="2400" b="0" i="0" kern="1200" dirty="0" err="1">
                          <a:solidFill>
                            <a:schemeClr val="tx1"/>
                          </a:solidFill>
                          <a:effectLst/>
                          <a:latin typeface="+mj-lt"/>
                          <a:ea typeface="+mn-ea"/>
                          <a:cs typeface="+mn-cs"/>
                        </a:rPr>
                        <a:t>phí</a:t>
                      </a:r>
                      <a:r>
                        <a:rPr 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hoặc</a:t>
                      </a:r>
                      <a:r>
                        <a:rPr 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không</a:t>
                      </a:r>
                      <a:r>
                        <a:rPr 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hỗ</a:t>
                      </a:r>
                      <a:r>
                        <a:rPr 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trợ</a:t>
                      </a:r>
                      <a:r>
                        <a:rPr lang="en-US" sz="2400" b="0" i="0" kern="1200" dirty="0">
                          <a:solidFill>
                            <a:schemeClr val="tx1"/>
                          </a:solidFill>
                          <a:effectLst/>
                          <a:latin typeface="+mj-lt"/>
                          <a:ea typeface="+mn-ea"/>
                          <a:cs typeface="+mn-cs"/>
                        </a:rPr>
                        <a:t> </a:t>
                      </a:r>
                      <a:r>
                        <a:rPr lang="en-US" sz="2400" b="0" i="0" kern="1200" dirty="0" err="1">
                          <a:solidFill>
                            <a:schemeClr val="tx1"/>
                          </a:solidFill>
                          <a:effectLst/>
                          <a:latin typeface="+mj-lt"/>
                          <a:ea typeface="+mn-ea"/>
                          <a:cs typeface="+mn-cs"/>
                        </a:rPr>
                        <a:t>tiếng</a:t>
                      </a:r>
                      <a:r>
                        <a:rPr lang="en-US" sz="2400" b="0" i="0" kern="1200" dirty="0">
                          <a:solidFill>
                            <a:schemeClr val="tx1"/>
                          </a:solidFill>
                          <a:effectLst/>
                          <a:latin typeface="+mj-lt"/>
                          <a:ea typeface="+mn-ea"/>
                          <a:cs typeface="+mn-cs"/>
                        </a:rPr>
                        <a:t> Việt</a:t>
                      </a:r>
                    </a:p>
                  </a:txBody>
                  <a:tcPr marL="190500" marR="190500" marT="190500" marB="190500">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19050" cap="flat" cmpd="sng" algn="ctr">
                      <a:solidFill>
                        <a:srgbClr val="86C7ED"/>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graphicFrame>
        <p:nvGraphicFramePr>
          <p:cNvPr id="11" name="Table 8">
            <a:extLst>
              <a:ext uri="{FF2B5EF4-FFF2-40B4-BE49-F238E27FC236}">
                <a16:creationId xmlns:a16="http://schemas.microsoft.com/office/drawing/2014/main" id="{ED345EB2-77E0-CF45-94B9-D87B68E950EC}"/>
              </a:ext>
            </a:extLst>
          </p:cNvPr>
          <p:cNvGraphicFramePr>
            <a:graphicFrameLocks noGrp="1"/>
          </p:cNvGraphicFramePr>
          <p:nvPr>
            <p:extLst>
              <p:ext uri="{D42A27DB-BD31-4B8C-83A1-F6EECF244321}">
                <p14:modId xmlns:p14="http://schemas.microsoft.com/office/powerpoint/2010/main" val="957107235"/>
              </p:ext>
            </p:extLst>
          </p:nvPr>
        </p:nvGraphicFramePr>
        <p:xfrm>
          <a:off x="6248400" y="3695700"/>
          <a:ext cx="5761800" cy="4266517"/>
        </p:xfrm>
        <a:graphic>
          <a:graphicData uri="http://schemas.openxmlformats.org/drawingml/2006/table">
            <a:tbl>
              <a:tblPr/>
              <a:tblGrid>
                <a:gridCol w="5761800">
                  <a:extLst>
                    <a:ext uri="{9D8B030D-6E8A-4147-A177-3AD203B41FA5}">
                      <a16:colId xmlns:a16="http://schemas.microsoft.com/office/drawing/2014/main" val="20000"/>
                    </a:ext>
                  </a:extLst>
                </a:gridCol>
              </a:tblGrid>
              <a:tr h="959437">
                <a:tc>
                  <a:txBody>
                    <a:bodyPr/>
                    <a:lstStyle/>
                    <a:p>
                      <a:pPr algn="ctr">
                        <a:lnSpc>
                          <a:spcPts val="3640"/>
                        </a:lnSpc>
                        <a:defRPr/>
                      </a:pPr>
                      <a:r>
                        <a:rPr lang="vi-VN" sz="2400" b="1"/>
                        <a:t>Bài toán đặt ra</a:t>
                      </a:r>
                      <a:endParaRPr lang="en-US" sz="2400" b="1">
                        <a:latin typeface="+mn-lt"/>
                      </a:endParaRPr>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19050" cap="flat" cmpd="sng" algn="ctr">
                      <a:solidFill>
                        <a:srgbClr val="86C7ED"/>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634803">
                <a:tc>
                  <a:txBody>
                    <a:bodyPr/>
                    <a:lstStyle/>
                    <a:p>
                      <a:pPr algn="just"/>
                      <a:r>
                        <a:rPr lang="vi-VN" sz="2400" b="0" i="0" kern="1200" dirty="0">
                          <a:solidFill>
                            <a:schemeClr val="tx1"/>
                          </a:solidFill>
                          <a:effectLst/>
                          <a:latin typeface="+mn-lt"/>
                          <a:ea typeface="+mn-ea"/>
                          <a:cs typeface="+mn-cs"/>
                        </a:rPr>
                        <a:t>• Thiết kế hệ thống quản lý công việc cá nhân trên nền tảng web — tích hợp đa chức năng</a:t>
                      </a:r>
                    </a:p>
                    <a:p>
                      <a:pPr algn="just"/>
                      <a:r>
                        <a:rPr lang="vi-VN" sz="2400" b="0" i="0" kern="1200" dirty="0">
                          <a:solidFill>
                            <a:schemeClr val="tx1"/>
                          </a:solidFill>
                          <a:effectLst/>
                          <a:latin typeface="+mn-lt"/>
                          <a:ea typeface="+mn-ea"/>
                          <a:cs typeface="+mn-cs"/>
                        </a:rPr>
                        <a:t>• Tích hợp AI Google Gemini hỗ trợ người dùng bằng tiếng Việt: tạo task, phân rã subtask, chatbot cố vấn</a:t>
                      </a:r>
                    </a:p>
                    <a:p>
                      <a:pPr algn="just"/>
                      <a:r>
                        <a:rPr lang="vi-VN" sz="2400" b="0" i="0" kern="1200" dirty="0">
                          <a:solidFill>
                            <a:schemeClr val="tx1"/>
                          </a:solidFill>
                          <a:effectLst/>
                          <a:latin typeface="+mn-lt"/>
                          <a:ea typeface="+mn-ea"/>
                          <a:cs typeface="+mn-cs"/>
                        </a:rPr>
                        <a:t>• Ứng dụng gamification tạo động lực: XP, Level, Badge, Streak, Leaderboard</a:t>
                      </a:r>
                    </a:p>
                  </a:txBody>
                  <a:tcPr marL="190500" marR="190500" marT="190500" marB="190500">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19050" cap="flat" cmpd="sng" algn="ctr">
                      <a:solidFill>
                        <a:srgbClr val="86C7ED"/>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graphicFrame>
        <p:nvGraphicFramePr>
          <p:cNvPr id="12" name="Table 8">
            <a:extLst>
              <a:ext uri="{FF2B5EF4-FFF2-40B4-BE49-F238E27FC236}">
                <a16:creationId xmlns:a16="http://schemas.microsoft.com/office/drawing/2014/main" id="{553FA38D-800A-AC96-B2F1-9521AE92B0AB}"/>
              </a:ext>
            </a:extLst>
          </p:cNvPr>
          <p:cNvGraphicFramePr>
            <a:graphicFrameLocks noGrp="1"/>
          </p:cNvGraphicFramePr>
          <p:nvPr>
            <p:extLst>
              <p:ext uri="{D42A27DB-BD31-4B8C-83A1-F6EECF244321}">
                <p14:modId xmlns:p14="http://schemas.microsoft.com/office/powerpoint/2010/main" val="4183290831"/>
              </p:ext>
            </p:extLst>
          </p:nvPr>
        </p:nvGraphicFramePr>
        <p:xfrm>
          <a:off x="12479401" y="3695700"/>
          <a:ext cx="5580000" cy="3900757"/>
        </p:xfrm>
        <a:graphic>
          <a:graphicData uri="http://schemas.openxmlformats.org/drawingml/2006/table">
            <a:tbl>
              <a:tblPr/>
              <a:tblGrid>
                <a:gridCol w="5580000">
                  <a:extLst>
                    <a:ext uri="{9D8B030D-6E8A-4147-A177-3AD203B41FA5}">
                      <a16:colId xmlns:a16="http://schemas.microsoft.com/office/drawing/2014/main" val="20000"/>
                    </a:ext>
                  </a:extLst>
                </a:gridCol>
              </a:tblGrid>
              <a:tr h="959437">
                <a:tc>
                  <a:txBody>
                    <a:bodyPr/>
                    <a:lstStyle/>
                    <a:p>
                      <a:pPr algn="ctr">
                        <a:lnSpc>
                          <a:spcPts val="3640"/>
                        </a:lnSpc>
                        <a:defRPr/>
                      </a:pPr>
                      <a:r>
                        <a:rPr lang="vi-VN" sz="2400" b="1"/>
                        <a:t>Mục tiêu giải quyết</a:t>
                      </a:r>
                      <a:endParaRPr lang="en-US" sz="2400" b="1">
                        <a:latin typeface="+mn-lt"/>
                        <a:cs typeface="Times New Roman" panose="02020603050405020304" pitchFamily="18" charset="0"/>
                      </a:endParaRPr>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19050" cap="flat" cmpd="sng" algn="ctr">
                      <a:solidFill>
                        <a:srgbClr val="86C7ED"/>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546964">
                <a:tc>
                  <a:txBody>
                    <a:bodyPr/>
                    <a:lstStyle/>
                    <a:p>
                      <a:pPr algn="just"/>
                      <a:r>
                        <a:rPr lang="vi-VN" sz="2400" b="0" i="0" kern="1200" dirty="0">
                          <a:solidFill>
                            <a:schemeClr val="tx1"/>
                          </a:solidFill>
                          <a:effectLst/>
                          <a:latin typeface="+mn-lt"/>
                          <a:ea typeface="+mn-ea"/>
                          <a:cs typeface="+mn-cs"/>
                        </a:rPr>
                        <a:t>•Xây dựng trang web quản lý công việc — hiển thị đẹp trên máy tính, điện thoại và cài đặt trực tiếp trên Android</a:t>
                      </a:r>
                    </a:p>
                    <a:p>
                      <a:pPr algn="just"/>
                      <a:r>
                        <a:rPr lang="vi-VN" sz="2400" b="0" i="0" kern="1200" dirty="0">
                          <a:solidFill>
                            <a:schemeClr val="tx1"/>
                          </a:solidFill>
                          <a:effectLst/>
                          <a:latin typeface="+mn-lt"/>
                          <a:ea typeface="+mn-ea"/>
                          <a:cs typeface="+mn-cs"/>
                        </a:rPr>
                        <a:t>• Tạo</a:t>
                      </a:r>
                      <a:r>
                        <a:rPr lang="en-US" sz="2400" b="0" i="0" kern="1200" dirty="0">
                          <a:solidFill>
                            <a:schemeClr val="tx1"/>
                          </a:solidFill>
                          <a:effectLst/>
                          <a:latin typeface="+mn-lt"/>
                          <a:ea typeface="+mn-ea"/>
                          <a:cs typeface="+mn-cs"/>
                        </a:rPr>
                        <a:t> </a:t>
                      </a:r>
                      <a:r>
                        <a:rPr lang="vi-VN" sz="2400" b="0" i="0" kern="1200" dirty="0">
                          <a:solidFill>
                            <a:schemeClr val="tx1"/>
                          </a:solidFill>
                          <a:effectLst/>
                          <a:latin typeface="+mn-lt"/>
                          <a:ea typeface="+mn-ea"/>
                          <a:cs typeface="+mn-cs"/>
                        </a:rPr>
                        <a:t>trang: Dashboard, Nhiệm vụ, Dự án, Lịch, Pomodoro, GPA, Ghi chú, OKR và nhiều trang khác</a:t>
                      </a:r>
                    </a:p>
                  </a:txBody>
                  <a:tcPr marL="190500" marR="190500" marT="190500" marB="190500">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19050" cap="flat" cmpd="sng" algn="ctr">
                      <a:solidFill>
                        <a:srgbClr val="86C7ED"/>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sp>
        <p:nvSpPr>
          <p:cNvPr id="14" name="Rectangle 1">
            <a:extLst>
              <a:ext uri="{FF2B5EF4-FFF2-40B4-BE49-F238E27FC236}">
                <a16:creationId xmlns:a16="http://schemas.microsoft.com/office/drawing/2014/main" id="{C29FAD2D-3090-B0F1-9FF8-5569798F66B7}"/>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2" name="AutoShape 2" descr="Video Game Controller Wireless Gamepad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Tree>
    <p:extLst>
      <p:ext uri="{BB962C8B-B14F-4D97-AF65-F5344CB8AC3E}">
        <p14:creationId xmlns:p14="http://schemas.microsoft.com/office/powerpoint/2010/main" val="35623733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656002" y="5251113"/>
            <a:ext cx="14756260" cy="0"/>
          </a:xfrm>
          <a:prstGeom prst="line">
            <a:avLst/>
          </a:prstGeom>
          <a:ln w="47625" cap="rnd">
            <a:solidFill>
              <a:srgbClr val="86C7ED"/>
            </a:solidFill>
            <a:prstDash val="sysDot"/>
            <a:headEnd type="none" w="sm" len="sm"/>
            <a:tailEnd type="none" w="sm" len="sm"/>
          </a:ln>
        </p:spPr>
        <p:txBody>
          <a:bodyPr/>
          <a:lstStyle/>
          <a:p>
            <a:endParaRPr lang="vi-VN"/>
          </a:p>
        </p:txBody>
      </p:sp>
      <p:sp>
        <p:nvSpPr>
          <p:cNvPr id="3" name="TextBox 3"/>
          <p:cNvSpPr txBox="1"/>
          <p:nvPr/>
        </p:nvSpPr>
        <p:spPr>
          <a:xfrm>
            <a:off x="983384" y="973382"/>
            <a:ext cx="10370415" cy="973087"/>
          </a:xfrm>
          <a:prstGeom prst="rect">
            <a:avLst/>
          </a:prstGeom>
        </p:spPr>
        <p:txBody>
          <a:bodyPr wrap="square" lIns="0" tIns="0" rIns="0" bIns="0" rtlCol="0" anchor="t">
            <a:spAutoFit/>
          </a:bodyPr>
          <a:lstStyle/>
          <a:p>
            <a:pPr lvl="0">
              <a:lnSpc>
                <a:spcPts val="8635"/>
              </a:lnSpc>
              <a:spcBef>
                <a:spcPct val="0"/>
              </a:spcBef>
            </a:pPr>
            <a:r>
              <a:rPr lang="vi-VN" sz="5000" b="1" dirty="0">
                <a:solidFill>
                  <a:srgbClr val="1836B2"/>
                </a:solidFill>
                <a:latin typeface="+mj-lt"/>
                <a:ea typeface="Cabin Semi-Bold"/>
                <a:cs typeface="Cabin Semi-Bold"/>
                <a:sym typeface="Cabin Semi-Bold"/>
              </a:rPr>
              <a:t> Yêu cầu hệ thống</a:t>
            </a:r>
            <a:endParaRPr lang="en-US" sz="5000" b="1" u="none" dirty="0">
              <a:solidFill>
                <a:srgbClr val="1836B2"/>
              </a:solidFill>
              <a:latin typeface="+mj-lt"/>
              <a:ea typeface="Cabin Semi-Bold"/>
              <a:cs typeface="Cabin Semi-Bold"/>
              <a:sym typeface="Cabin Semi-Bold"/>
            </a:endParaRPr>
          </a:p>
        </p:txBody>
      </p:sp>
      <p:sp>
        <p:nvSpPr>
          <p:cNvPr id="6" name="TextBox 6"/>
          <p:cNvSpPr txBox="1"/>
          <p:nvPr/>
        </p:nvSpPr>
        <p:spPr>
          <a:xfrm>
            <a:off x="35404" y="5450533"/>
            <a:ext cx="3241196" cy="370743"/>
          </a:xfrm>
          <a:prstGeom prst="rect">
            <a:avLst/>
          </a:prstGeom>
        </p:spPr>
        <p:txBody>
          <a:bodyPr wrap="square" lIns="0" tIns="0" rIns="0" bIns="0" rtlCol="0" anchor="t">
            <a:spAutoFit/>
          </a:bodyPr>
          <a:lstStyle/>
          <a:p>
            <a:pPr lvl="0" algn="ctr">
              <a:lnSpc>
                <a:spcPct val="150000"/>
              </a:lnSpc>
              <a:spcBef>
                <a:spcPts val="600"/>
              </a:spcBef>
              <a:spcAft>
                <a:spcPts val="600"/>
              </a:spcAft>
            </a:pPr>
            <a:r>
              <a:rPr lang="en-US" b="1" dirty="0" err="1"/>
              <a:t>Đăng</a:t>
            </a:r>
            <a:r>
              <a:rPr lang="en-US" b="1" dirty="0"/>
              <a:t> </a:t>
            </a:r>
            <a:r>
              <a:rPr lang="en-US" b="1" dirty="0" err="1"/>
              <a:t>ký</a:t>
            </a:r>
            <a:r>
              <a:rPr lang="en-US" b="1" dirty="0"/>
              <a:t> &amp; </a:t>
            </a:r>
            <a:r>
              <a:rPr lang="en-US" b="1" dirty="0" err="1"/>
              <a:t>Đăng</a:t>
            </a:r>
            <a:r>
              <a:rPr lang="en-US" b="1" dirty="0"/>
              <a:t> </a:t>
            </a:r>
            <a:r>
              <a:rPr lang="en-US" b="1" dirty="0" err="1"/>
              <a:t>nhập</a:t>
            </a:r>
            <a:endParaRPr lang="vi-VN" sz="2200" b="1" dirty="0">
              <a:effectLst/>
              <a:ea typeface="SimSun" panose="02010600030101010101" pitchFamily="2" charset="-122"/>
              <a:cs typeface="Times New Roman" panose="02020603050405020304" pitchFamily="18" charset="0"/>
            </a:endParaRPr>
          </a:p>
        </p:txBody>
      </p:sp>
      <p:sp>
        <p:nvSpPr>
          <p:cNvPr id="20" name="AutoShape 20"/>
          <p:cNvSpPr/>
          <p:nvPr/>
        </p:nvSpPr>
        <p:spPr>
          <a:xfrm>
            <a:off x="0" y="-446411"/>
            <a:ext cx="13497585" cy="791631"/>
          </a:xfrm>
          <a:prstGeom prst="rect">
            <a:avLst/>
          </a:prstGeom>
          <a:solidFill>
            <a:srgbClr val="1836B2"/>
          </a:solidFill>
        </p:spPr>
        <p:txBody>
          <a:bodyPr/>
          <a:lstStyle/>
          <a:p>
            <a:endParaRPr lang="vi-VN"/>
          </a:p>
        </p:txBody>
      </p:sp>
      <p:sp>
        <p:nvSpPr>
          <p:cNvPr id="21" name="Freeform 21"/>
          <p:cNvSpPr/>
          <p:nvPr/>
        </p:nvSpPr>
        <p:spPr>
          <a:xfrm flipV="1">
            <a:off x="11599196" y="-1270647"/>
            <a:ext cx="5660104" cy="3231734"/>
          </a:xfrm>
          <a:custGeom>
            <a:avLst/>
            <a:gdLst/>
            <a:ahLst/>
            <a:cxnLst/>
            <a:rect l="l" t="t" r="r" b="b"/>
            <a:pathLst>
              <a:path w="5660104" h="3231734">
                <a:moveTo>
                  <a:pt x="0" y="3231733"/>
                </a:moveTo>
                <a:lnTo>
                  <a:pt x="5660104" y="3231733"/>
                </a:lnTo>
                <a:lnTo>
                  <a:pt x="5660104" y="0"/>
                </a:lnTo>
                <a:lnTo>
                  <a:pt x="0" y="0"/>
                </a:lnTo>
                <a:lnTo>
                  <a:pt x="0" y="3231733"/>
                </a:lnTo>
                <a:close/>
              </a:path>
            </a:pathLst>
          </a:custGeom>
          <a:blipFill>
            <a:blip r:embed="rId3">
              <a:extLst>
                <a:ext uri="{96DAC541-7B7A-43D3-8B79-37D633B846F1}">
                  <asvg:svgBlip xmlns:asvg="http://schemas.microsoft.com/office/drawing/2016/SVG/main" r:embed="rId4"/>
                </a:ext>
              </a:extLst>
            </a:blip>
            <a:stretch>
              <a:fillRect t="-51576"/>
            </a:stretch>
          </a:blipFill>
        </p:spPr>
        <p:txBody>
          <a:bodyPr/>
          <a:lstStyle/>
          <a:p>
            <a:endParaRPr lang="vi-VN"/>
          </a:p>
        </p:txBody>
      </p:sp>
      <p:grpSp>
        <p:nvGrpSpPr>
          <p:cNvPr id="4" name="Group 3"/>
          <p:cNvGrpSpPr/>
          <p:nvPr/>
        </p:nvGrpSpPr>
        <p:grpSpPr>
          <a:xfrm>
            <a:off x="1259756" y="5083965"/>
            <a:ext cx="431397" cy="385689"/>
            <a:chOff x="864828" y="5051692"/>
            <a:chExt cx="431397" cy="385689"/>
          </a:xfrm>
        </p:grpSpPr>
        <p:sp>
          <p:nvSpPr>
            <p:cNvPr id="16" name="AutoShape 16"/>
            <p:cNvSpPr/>
            <p:nvPr/>
          </p:nvSpPr>
          <p:spPr>
            <a:xfrm>
              <a:off x="864828" y="5064844"/>
              <a:ext cx="419100" cy="372537"/>
            </a:xfrm>
            <a:prstGeom prst="rect">
              <a:avLst/>
            </a:prstGeom>
            <a:solidFill>
              <a:srgbClr val="A066CB"/>
            </a:solidFill>
          </p:spPr>
          <p:txBody>
            <a:bodyPr/>
            <a:lstStyle/>
            <a:p>
              <a:endParaRPr lang="vi-VN"/>
            </a:p>
          </p:txBody>
        </p:sp>
        <p:sp>
          <p:nvSpPr>
            <p:cNvPr id="30" name="TextBox 29">
              <a:extLst>
                <a:ext uri="{FF2B5EF4-FFF2-40B4-BE49-F238E27FC236}">
                  <a16:creationId xmlns:a16="http://schemas.microsoft.com/office/drawing/2014/main" id="{B73E373A-83B6-426D-3A11-7E3143039773}"/>
                </a:ext>
              </a:extLst>
            </p:cNvPr>
            <p:cNvSpPr txBox="1"/>
            <p:nvPr/>
          </p:nvSpPr>
          <p:spPr>
            <a:xfrm>
              <a:off x="915225" y="5051692"/>
              <a:ext cx="381000" cy="369332"/>
            </a:xfrm>
            <a:prstGeom prst="rect">
              <a:avLst/>
            </a:prstGeom>
            <a:noFill/>
          </p:spPr>
          <p:txBody>
            <a:bodyPr wrap="square" rtlCol="0">
              <a:spAutoFit/>
            </a:bodyPr>
            <a:lstStyle/>
            <a:p>
              <a:r>
                <a:rPr lang="en-US">
                  <a:solidFill>
                    <a:schemeClr val="bg1"/>
                  </a:solidFill>
                </a:rPr>
                <a:t>1</a:t>
              </a:r>
              <a:endParaRPr lang="vi-VN">
                <a:solidFill>
                  <a:schemeClr val="bg1"/>
                </a:solidFill>
              </a:endParaRPr>
            </a:p>
          </p:txBody>
        </p:sp>
      </p:grpSp>
      <p:grpSp>
        <p:nvGrpSpPr>
          <p:cNvPr id="10" name="Group 9"/>
          <p:cNvGrpSpPr/>
          <p:nvPr/>
        </p:nvGrpSpPr>
        <p:grpSpPr>
          <a:xfrm>
            <a:off x="4169239" y="5037019"/>
            <a:ext cx="434340" cy="400362"/>
            <a:chOff x="4169239" y="5037019"/>
            <a:chExt cx="434340" cy="400362"/>
          </a:xfrm>
        </p:grpSpPr>
        <p:sp>
          <p:nvSpPr>
            <p:cNvPr id="25" name="AutoShape 16">
              <a:extLst>
                <a:ext uri="{FF2B5EF4-FFF2-40B4-BE49-F238E27FC236}">
                  <a16:creationId xmlns:a16="http://schemas.microsoft.com/office/drawing/2014/main" id="{5F656632-971E-4446-686A-3BDCFFA6AAAA}"/>
                </a:ext>
              </a:extLst>
            </p:cNvPr>
            <p:cNvSpPr/>
            <p:nvPr/>
          </p:nvSpPr>
          <p:spPr>
            <a:xfrm>
              <a:off x="4169239" y="5064844"/>
              <a:ext cx="419100" cy="372537"/>
            </a:xfrm>
            <a:prstGeom prst="rect">
              <a:avLst/>
            </a:prstGeom>
            <a:solidFill>
              <a:srgbClr val="A066CB"/>
            </a:solidFill>
          </p:spPr>
          <p:txBody>
            <a:bodyPr/>
            <a:lstStyle/>
            <a:p>
              <a:endParaRPr lang="vi-VN"/>
            </a:p>
          </p:txBody>
        </p:sp>
        <p:sp>
          <p:nvSpPr>
            <p:cNvPr id="31" name="TextBox 30">
              <a:extLst>
                <a:ext uri="{FF2B5EF4-FFF2-40B4-BE49-F238E27FC236}">
                  <a16:creationId xmlns:a16="http://schemas.microsoft.com/office/drawing/2014/main" id="{154064ED-EAF8-8CCB-8458-9700014A7BA8}"/>
                </a:ext>
              </a:extLst>
            </p:cNvPr>
            <p:cNvSpPr txBox="1"/>
            <p:nvPr/>
          </p:nvSpPr>
          <p:spPr>
            <a:xfrm>
              <a:off x="4222579" y="5037019"/>
              <a:ext cx="381000" cy="369332"/>
            </a:xfrm>
            <a:prstGeom prst="rect">
              <a:avLst/>
            </a:prstGeom>
            <a:noFill/>
          </p:spPr>
          <p:txBody>
            <a:bodyPr wrap="square" rtlCol="0">
              <a:spAutoFit/>
            </a:bodyPr>
            <a:lstStyle/>
            <a:p>
              <a:r>
                <a:rPr lang="en-US">
                  <a:solidFill>
                    <a:schemeClr val="bg1"/>
                  </a:solidFill>
                </a:rPr>
                <a:t>2</a:t>
              </a:r>
              <a:endParaRPr lang="vi-VN">
                <a:solidFill>
                  <a:schemeClr val="bg1"/>
                </a:solidFill>
              </a:endParaRPr>
            </a:p>
          </p:txBody>
        </p:sp>
      </p:grpSp>
      <p:grpSp>
        <p:nvGrpSpPr>
          <p:cNvPr id="9" name="Group 8"/>
          <p:cNvGrpSpPr/>
          <p:nvPr/>
        </p:nvGrpSpPr>
        <p:grpSpPr>
          <a:xfrm>
            <a:off x="7020779" y="5037019"/>
            <a:ext cx="420658" cy="413589"/>
            <a:chOff x="7441437" y="5037019"/>
            <a:chExt cx="420658" cy="413589"/>
          </a:xfrm>
        </p:grpSpPr>
        <p:sp>
          <p:nvSpPr>
            <p:cNvPr id="18" name="AutoShape 18"/>
            <p:cNvSpPr/>
            <p:nvPr/>
          </p:nvSpPr>
          <p:spPr>
            <a:xfrm>
              <a:off x="7488890" y="5145385"/>
              <a:ext cx="239988" cy="262851"/>
            </a:xfrm>
            <a:prstGeom prst="rect">
              <a:avLst/>
            </a:prstGeom>
            <a:solidFill>
              <a:srgbClr val="A066CB"/>
            </a:solidFill>
          </p:spPr>
          <p:txBody>
            <a:bodyPr/>
            <a:lstStyle/>
            <a:p>
              <a:endParaRPr lang="vi-VN"/>
            </a:p>
          </p:txBody>
        </p:sp>
        <p:sp>
          <p:nvSpPr>
            <p:cNvPr id="26" name="AutoShape 16">
              <a:extLst>
                <a:ext uri="{FF2B5EF4-FFF2-40B4-BE49-F238E27FC236}">
                  <a16:creationId xmlns:a16="http://schemas.microsoft.com/office/drawing/2014/main" id="{F8BD53E8-13F5-F565-1DD0-F37458460363}"/>
                </a:ext>
              </a:extLst>
            </p:cNvPr>
            <p:cNvSpPr/>
            <p:nvPr/>
          </p:nvSpPr>
          <p:spPr>
            <a:xfrm>
              <a:off x="7441437" y="5078071"/>
              <a:ext cx="419100" cy="372537"/>
            </a:xfrm>
            <a:prstGeom prst="rect">
              <a:avLst/>
            </a:prstGeom>
            <a:solidFill>
              <a:srgbClr val="A066CB"/>
            </a:solidFill>
          </p:spPr>
          <p:txBody>
            <a:bodyPr/>
            <a:lstStyle/>
            <a:p>
              <a:endParaRPr lang="vi-VN"/>
            </a:p>
          </p:txBody>
        </p:sp>
        <p:sp>
          <p:nvSpPr>
            <p:cNvPr id="32" name="TextBox 31">
              <a:extLst>
                <a:ext uri="{FF2B5EF4-FFF2-40B4-BE49-F238E27FC236}">
                  <a16:creationId xmlns:a16="http://schemas.microsoft.com/office/drawing/2014/main" id="{CC77D843-2B2B-AB99-EBCD-CDC0D9000A43}"/>
                </a:ext>
              </a:extLst>
            </p:cNvPr>
            <p:cNvSpPr txBox="1"/>
            <p:nvPr/>
          </p:nvSpPr>
          <p:spPr>
            <a:xfrm>
              <a:off x="7481095" y="5037019"/>
              <a:ext cx="381000" cy="369332"/>
            </a:xfrm>
            <a:prstGeom prst="rect">
              <a:avLst/>
            </a:prstGeom>
            <a:noFill/>
          </p:spPr>
          <p:txBody>
            <a:bodyPr wrap="square" rtlCol="0">
              <a:spAutoFit/>
            </a:bodyPr>
            <a:lstStyle/>
            <a:p>
              <a:r>
                <a:rPr lang="en-US">
                  <a:solidFill>
                    <a:schemeClr val="bg1"/>
                  </a:solidFill>
                </a:rPr>
                <a:t>3</a:t>
              </a:r>
              <a:endParaRPr lang="vi-VN">
                <a:solidFill>
                  <a:schemeClr val="bg1"/>
                </a:solidFill>
              </a:endParaRPr>
            </a:p>
          </p:txBody>
        </p:sp>
      </p:grpSp>
      <p:grpSp>
        <p:nvGrpSpPr>
          <p:cNvPr id="8" name="Group 7"/>
          <p:cNvGrpSpPr/>
          <p:nvPr/>
        </p:nvGrpSpPr>
        <p:grpSpPr>
          <a:xfrm>
            <a:off x="10180646" y="5020766"/>
            <a:ext cx="447364" cy="385585"/>
            <a:chOff x="10628010" y="5020766"/>
            <a:chExt cx="447364" cy="385585"/>
          </a:xfrm>
        </p:grpSpPr>
        <p:sp>
          <p:nvSpPr>
            <p:cNvPr id="19" name="AutoShape 19"/>
            <p:cNvSpPr/>
            <p:nvPr/>
          </p:nvSpPr>
          <p:spPr>
            <a:xfrm>
              <a:off x="10718985" y="5121572"/>
              <a:ext cx="239988" cy="262851"/>
            </a:xfrm>
            <a:prstGeom prst="rect">
              <a:avLst/>
            </a:prstGeom>
            <a:solidFill>
              <a:srgbClr val="A066CB"/>
            </a:solidFill>
          </p:spPr>
          <p:txBody>
            <a:bodyPr/>
            <a:lstStyle/>
            <a:p>
              <a:endParaRPr lang="vi-VN"/>
            </a:p>
          </p:txBody>
        </p:sp>
        <p:sp>
          <p:nvSpPr>
            <p:cNvPr id="27" name="AutoShape 16">
              <a:extLst>
                <a:ext uri="{FF2B5EF4-FFF2-40B4-BE49-F238E27FC236}">
                  <a16:creationId xmlns:a16="http://schemas.microsoft.com/office/drawing/2014/main" id="{621B0141-F123-02A0-86F4-1A559F9021C7}"/>
                </a:ext>
              </a:extLst>
            </p:cNvPr>
            <p:cNvSpPr/>
            <p:nvPr/>
          </p:nvSpPr>
          <p:spPr>
            <a:xfrm>
              <a:off x="10628010" y="5033814"/>
              <a:ext cx="419100" cy="372537"/>
            </a:xfrm>
            <a:prstGeom prst="rect">
              <a:avLst/>
            </a:prstGeom>
            <a:solidFill>
              <a:srgbClr val="A066CB"/>
            </a:solidFill>
          </p:spPr>
          <p:txBody>
            <a:bodyPr/>
            <a:lstStyle/>
            <a:p>
              <a:endParaRPr lang="vi-VN"/>
            </a:p>
          </p:txBody>
        </p:sp>
        <p:sp>
          <p:nvSpPr>
            <p:cNvPr id="33" name="TextBox 32">
              <a:extLst>
                <a:ext uri="{FF2B5EF4-FFF2-40B4-BE49-F238E27FC236}">
                  <a16:creationId xmlns:a16="http://schemas.microsoft.com/office/drawing/2014/main" id="{DF476A3A-B5EE-C228-0562-7D6F97058D22}"/>
                </a:ext>
              </a:extLst>
            </p:cNvPr>
            <p:cNvSpPr txBox="1"/>
            <p:nvPr/>
          </p:nvSpPr>
          <p:spPr>
            <a:xfrm>
              <a:off x="10694374" y="5020766"/>
              <a:ext cx="381000" cy="369332"/>
            </a:xfrm>
            <a:prstGeom prst="rect">
              <a:avLst/>
            </a:prstGeom>
            <a:noFill/>
          </p:spPr>
          <p:txBody>
            <a:bodyPr wrap="square" rtlCol="0">
              <a:spAutoFit/>
            </a:bodyPr>
            <a:lstStyle/>
            <a:p>
              <a:r>
                <a:rPr lang="en-US">
                  <a:solidFill>
                    <a:schemeClr val="bg1"/>
                  </a:solidFill>
                </a:rPr>
                <a:t>4</a:t>
              </a:r>
              <a:endParaRPr lang="vi-VN">
                <a:solidFill>
                  <a:schemeClr val="bg1"/>
                </a:solidFill>
              </a:endParaRPr>
            </a:p>
          </p:txBody>
        </p:sp>
      </p:grpSp>
      <p:grpSp>
        <p:nvGrpSpPr>
          <p:cNvPr id="7" name="Group 6"/>
          <p:cNvGrpSpPr/>
          <p:nvPr/>
        </p:nvGrpSpPr>
        <p:grpSpPr>
          <a:xfrm>
            <a:off x="13423381" y="5066446"/>
            <a:ext cx="433844" cy="384162"/>
            <a:chOff x="13909211" y="5066446"/>
            <a:chExt cx="433844" cy="384162"/>
          </a:xfrm>
        </p:grpSpPr>
        <p:sp>
          <p:nvSpPr>
            <p:cNvPr id="23" name="AutoShape 19">
              <a:extLst>
                <a:ext uri="{FF2B5EF4-FFF2-40B4-BE49-F238E27FC236}">
                  <a16:creationId xmlns:a16="http://schemas.microsoft.com/office/drawing/2014/main" id="{134B4763-3B66-CA8B-382A-7E3B0068562A}"/>
                </a:ext>
              </a:extLst>
            </p:cNvPr>
            <p:cNvSpPr/>
            <p:nvPr/>
          </p:nvSpPr>
          <p:spPr>
            <a:xfrm>
              <a:off x="13989142" y="5121572"/>
              <a:ext cx="239988" cy="262851"/>
            </a:xfrm>
            <a:prstGeom prst="rect">
              <a:avLst/>
            </a:prstGeom>
            <a:solidFill>
              <a:srgbClr val="A066CB"/>
            </a:solidFill>
          </p:spPr>
          <p:txBody>
            <a:bodyPr/>
            <a:lstStyle/>
            <a:p>
              <a:endParaRPr lang="vi-VN"/>
            </a:p>
          </p:txBody>
        </p:sp>
        <p:sp>
          <p:nvSpPr>
            <p:cNvPr id="28" name="AutoShape 16">
              <a:extLst>
                <a:ext uri="{FF2B5EF4-FFF2-40B4-BE49-F238E27FC236}">
                  <a16:creationId xmlns:a16="http://schemas.microsoft.com/office/drawing/2014/main" id="{FFDB0F60-1F3C-6145-1F0D-7845AEC23C5E}"/>
                </a:ext>
              </a:extLst>
            </p:cNvPr>
            <p:cNvSpPr/>
            <p:nvPr/>
          </p:nvSpPr>
          <p:spPr>
            <a:xfrm>
              <a:off x="13909211" y="5078071"/>
              <a:ext cx="419100" cy="372537"/>
            </a:xfrm>
            <a:prstGeom prst="rect">
              <a:avLst/>
            </a:prstGeom>
            <a:solidFill>
              <a:srgbClr val="A066CB"/>
            </a:solidFill>
          </p:spPr>
          <p:txBody>
            <a:bodyPr/>
            <a:lstStyle/>
            <a:p>
              <a:endParaRPr lang="vi-VN"/>
            </a:p>
          </p:txBody>
        </p:sp>
        <p:sp>
          <p:nvSpPr>
            <p:cNvPr id="34" name="TextBox 33">
              <a:extLst>
                <a:ext uri="{FF2B5EF4-FFF2-40B4-BE49-F238E27FC236}">
                  <a16:creationId xmlns:a16="http://schemas.microsoft.com/office/drawing/2014/main" id="{94B32FD7-737E-174A-2DA3-A1A451EB4A2B}"/>
                </a:ext>
              </a:extLst>
            </p:cNvPr>
            <p:cNvSpPr txBox="1"/>
            <p:nvPr/>
          </p:nvSpPr>
          <p:spPr>
            <a:xfrm>
              <a:off x="13962055" y="5066446"/>
              <a:ext cx="381000" cy="369332"/>
            </a:xfrm>
            <a:prstGeom prst="rect">
              <a:avLst/>
            </a:prstGeom>
            <a:noFill/>
          </p:spPr>
          <p:txBody>
            <a:bodyPr wrap="square" rtlCol="0">
              <a:spAutoFit/>
            </a:bodyPr>
            <a:lstStyle/>
            <a:p>
              <a:r>
                <a:rPr lang="en-US">
                  <a:solidFill>
                    <a:schemeClr val="bg1"/>
                  </a:solidFill>
                </a:rPr>
                <a:t>5</a:t>
              </a:r>
              <a:endParaRPr lang="vi-VN">
                <a:solidFill>
                  <a:schemeClr val="bg1"/>
                </a:solidFill>
              </a:endParaRPr>
            </a:p>
          </p:txBody>
        </p:sp>
      </p:grpSp>
      <p:grpSp>
        <p:nvGrpSpPr>
          <p:cNvPr id="5" name="Group 4"/>
          <p:cNvGrpSpPr/>
          <p:nvPr/>
        </p:nvGrpSpPr>
        <p:grpSpPr>
          <a:xfrm>
            <a:off x="16366585" y="5078256"/>
            <a:ext cx="434473" cy="384162"/>
            <a:chOff x="17213622" y="5066446"/>
            <a:chExt cx="434473" cy="384162"/>
          </a:xfrm>
        </p:grpSpPr>
        <p:sp>
          <p:nvSpPr>
            <p:cNvPr id="24" name="AutoShape 19">
              <a:extLst>
                <a:ext uri="{FF2B5EF4-FFF2-40B4-BE49-F238E27FC236}">
                  <a16:creationId xmlns:a16="http://schemas.microsoft.com/office/drawing/2014/main" id="{1E78EB48-2102-75E2-6E3B-837CA59D753F}"/>
                </a:ext>
              </a:extLst>
            </p:cNvPr>
            <p:cNvSpPr/>
            <p:nvPr/>
          </p:nvSpPr>
          <p:spPr>
            <a:xfrm>
              <a:off x="17259299" y="5143500"/>
              <a:ext cx="239988" cy="262851"/>
            </a:xfrm>
            <a:prstGeom prst="rect">
              <a:avLst/>
            </a:prstGeom>
            <a:solidFill>
              <a:srgbClr val="A066CB"/>
            </a:solidFill>
          </p:spPr>
          <p:txBody>
            <a:bodyPr/>
            <a:lstStyle/>
            <a:p>
              <a:endParaRPr lang="vi-VN"/>
            </a:p>
          </p:txBody>
        </p:sp>
        <p:sp>
          <p:nvSpPr>
            <p:cNvPr id="29" name="AutoShape 16">
              <a:extLst>
                <a:ext uri="{FF2B5EF4-FFF2-40B4-BE49-F238E27FC236}">
                  <a16:creationId xmlns:a16="http://schemas.microsoft.com/office/drawing/2014/main" id="{80AB478A-ED9B-13B3-8674-167019475EB3}"/>
                </a:ext>
              </a:extLst>
            </p:cNvPr>
            <p:cNvSpPr/>
            <p:nvPr/>
          </p:nvSpPr>
          <p:spPr>
            <a:xfrm>
              <a:off x="17213622" y="5078071"/>
              <a:ext cx="419100" cy="372537"/>
            </a:xfrm>
            <a:prstGeom prst="rect">
              <a:avLst/>
            </a:prstGeom>
            <a:solidFill>
              <a:srgbClr val="A066CB"/>
            </a:solidFill>
          </p:spPr>
          <p:txBody>
            <a:bodyPr/>
            <a:lstStyle/>
            <a:p>
              <a:endParaRPr lang="vi-VN"/>
            </a:p>
          </p:txBody>
        </p:sp>
        <p:sp>
          <p:nvSpPr>
            <p:cNvPr id="38" name="TextBox 37">
              <a:extLst>
                <a:ext uri="{FF2B5EF4-FFF2-40B4-BE49-F238E27FC236}">
                  <a16:creationId xmlns:a16="http://schemas.microsoft.com/office/drawing/2014/main" id="{813792C6-9058-2BDF-557F-DF108DCB25C0}"/>
                </a:ext>
              </a:extLst>
            </p:cNvPr>
            <p:cNvSpPr txBox="1"/>
            <p:nvPr/>
          </p:nvSpPr>
          <p:spPr>
            <a:xfrm>
              <a:off x="17267095" y="5066446"/>
              <a:ext cx="381000" cy="369332"/>
            </a:xfrm>
            <a:prstGeom prst="rect">
              <a:avLst/>
            </a:prstGeom>
            <a:noFill/>
          </p:spPr>
          <p:txBody>
            <a:bodyPr wrap="square" rtlCol="0">
              <a:spAutoFit/>
            </a:bodyPr>
            <a:lstStyle/>
            <a:p>
              <a:r>
                <a:rPr lang="en-US">
                  <a:solidFill>
                    <a:schemeClr val="bg1"/>
                  </a:solidFill>
                </a:rPr>
                <a:t>6</a:t>
              </a:r>
              <a:endParaRPr lang="vi-VN">
                <a:solidFill>
                  <a:schemeClr val="bg1"/>
                </a:solidFill>
              </a:endParaRPr>
            </a:p>
          </p:txBody>
        </p:sp>
      </p:grpSp>
      <p:sp>
        <p:nvSpPr>
          <p:cNvPr id="39" name="TextBox 6">
            <a:extLst>
              <a:ext uri="{FF2B5EF4-FFF2-40B4-BE49-F238E27FC236}">
                <a16:creationId xmlns:a16="http://schemas.microsoft.com/office/drawing/2014/main" id="{7B0E9FD0-2986-8C0D-4C27-8870582FE96E}"/>
              </a:ext>
            </a:extLst>
          </p:cNvPr>
          <p:cNvSpPr txBox="1"/>
          <p:nvPr/>
        </p:nvSpPr>
        <p:spPr>
          <a:xfrm>
            <a:off x="3048000" y="4385972"/>
            <a:ext cx="2730524" cy="370743"/>
          </a:xfrm>
          <a:prstGeom prst="rect">
            <a:avLst/>
          </a:prstGeom>
        </p:spPr>
        <p:txBody>
          <a:bodyPr wrap="square" lIns="0" tIns="0" rIns="0" bIns="0" rtlCol="0" anchor="t">
            <a:spAutoFit/>
          </a:bodyPr>
          <a:lstStyle/>
          <a:p>
            <a:pPr lvl="0" algn="ctr">
              <a:lnSpc>
                <a:spcPct val="150000"/>
              </a:lnSpc>
              <a:spcBef>
                <a:spcPts val="600"/>
              </a:spcBef>
              <a:spcAft>
                <a:spcPts val="600"/>
              </a:spcAft>
            </a:pPr>
            <a:r>
              <a:rPr lang="en-US" b="1" dirty="0"/>
              <a:t>Quản </a:t>
            </a:r>
            <a:r>
              <a:rPr lang="en-US" b="1" dirty="0" err="1"/>
              <a:t>lý</a:t>
            </a:r>
            <a:r>
              <a:rPr lang="en-US" b="1" dirty="0"/>
              <a:t> </a:t>
            </a:r>
            <a:r>
              <a:rPr lang="en-US" b="1" dirty="0" err="1"/>
              <a:t>công</a:t>
            </a:r>
            <a:r>
              <a:rPr lang="en-US" b="1" dirty="0"/>
              <a:t> </a:t>
            </a:r>
            <a:r>
              <a:rPr lang="en-US" b="1" dirty="0" err="1"/>
              <a:t>việc</a:t>
            </a:r>
            <a:endParaRPr lang="vi-VN" sz="2200" b="1" dirty="0">
              <a:effectLst/>
              <a:ea typeface="SimSun" panose="02010600030101010101" pitchFamily="2" charset="-122"/>
              <a:cs typeface="Times New Roman" panose="02020603050405020304" pitchFamily="18" charset="0"/>
            </a:endParaRPr>
          </a:p>
        </p:txBody>
      </p:sp>
      <p:sp>
        <p:nvSpPr>
          <p:cNvPr id="40" name="TextBox 6">
            <a:extLst>
              <a:ext uri="{FF2B5EF4-FFF2-40B4-BE49-F238E27FC236}">
                <a16:creationId xmlns:a16="http://schemas.microsoft.com/office/drawing/2014/main" id="{344C5596-297D-686A-62F5-AFCAA774FBFB}"/>
              </a:ext>
            </a:extLst>
          </p:cNvPr>
          <p:cNvSpPr txBox="1"/>
          <p:nvPr/>
        </p:nvSpPr>
        <p:spPr>
          <a:xfrm>
            <a:off x="5854725" y="5510283"/>
            <a:ext cx="2667001" cy="370743"/>
          </a:xfrm>
          <a:prstGeom prst="rect">
            <a:avLst/>
          </a:prstGeom>
        </p:spPr>
        <p:txBody>
          <a:bodyPr wrap="square" lIns="0" tIns="0" rIns="0" bIns="0" rtlCol="0" anchor="t">
            <a:spAutoFit/>
          </a:bodyPr>
          <a:lstStyle/>
          <a:p>
            <a:pPr lvl="0" algn="ctr">
              <a:lnSpc>
                <a:spcPct val="150000"/>
              </a:lnSpc>
              <a:spcBef>
                <a:spcPts val="600"/>
              </a:spcBef>
              <a:spcAft>
                <a:spcPts val="600"/>
              </a:spcAft>
            </a:pPr>
            <a:r>
              <a:rPr lang="en-US" b="1" dirty="0"/>
              <a:t>Pomodoro Timer</a:t>
            </a:r>
            <a:endParaRPr lang="vi-VN" sz="2200" b="1" dirty="0">
              <a:effectLst/>
              <a:latin typeface="Arial (Body)"/>
              <a:ea typeface="SimSun" panose="02010600030101010101" pitchFamily="2" charset="-122"/>
              <a:cs typeface="Times New Roman" panose="02020603050405020304" pitchFamily="18" charset="0"/>
            </a:endParaRPr>
          </a:p>
        </p:txBody>
      </p:sp>
      <p:sp>
        <p:nvSpPr>
          <p:cNvPr id="41" name="TextBox 6">
            <a:extLst>
              <a:ext uri="{FF2B5EF4-FFF2-40B4-BE49-F238E27FC236}">
                <a16:creationId xmlns:a16="http://schemas.microsoft.com/office/drawing/2014/main" id="{87E7C51A-9266-48C4-D612-13B833D9D822}"/>
              </a:ext>
            </a:extLst>
          </p:cNvPr>
          <p:cNvSpPr txBox="1"/>
          <p:nvPr/>
        </p:nvSpPr>
        <p:spPr>
          <a:xfrm>
            <a:off x="8915400" y="4385973"/>
            <a:ext cx="3009047" cy="371064"/>
          </a:xfrm>
          <a:prstGeom prst="rect">
            <a:avLst/>
          </a:prstGeom>
        </p:spPr>
        <p:txBody>
          <a:bodyPr wrap="square" lIns="0" tIns="0" rIns="0" bIns="0" rtlCol="0" anchor="t">
            <a:spAutoFit/>
          </a:bodyPr>
          <a:lstStyle/>
          <a:p>
            <a:pPr lvl="0" algn="ctr">
              <a:lnSpc>
                <a:spcPct val="150000"/>
              </a:lnSpc>
              <a:spcBef>
                <a:spcPts val="600"/>
              </a:spcBef>
              <a:spcAft>
                <a:spcPts val="600"/>
              </a:spcAft>
            </a:pPr>
            <a:r>
              <a:rPr lang="en-US" b="1" dirty="0" err="1"/>
              <a:t>Trợ</a:t>
            </a:r>
            <a:r>
              <a:rPr lang="en-US" b="1" dirty="0"/>
              <a:t> </a:t>
            </a:r>
            <a:r>
              <a:rPr lang="en-US" b="1" dirty="0" err="1"/>
              <a:t>lý</a:t>
            </a:r>
            <a:r>
              <a:rPr lang="en-US" b="1" dirty="0"/>
              <a:t> AI</a:t>
            </a:r>
            <a:endParaRPr lang="vi-VN" sz="2200" b="1" dirty="0">
              <a:effectLst/>
              <a:latin typeface="Times New Roman" panose="02020603050405020304" pitchFamily="18" charset="0"/>
              <a:ea typeface="SimSun" panose="02010600030101010101" pitchFamily="2" charset="-122"/>
              <a:cs typeface="Times New Roman" panose="02020603050405020304" pitchFamily="18" charset="0"/>
            </a:endParaRPr>
          </a:p>
        </p:txBody>
      </p:sp>
      <p:sp>
        <p:nvSpPr>
          <p:cNvPr id="44" name="Freeform 2">
            <a:extLst>
              <a:ext uri="{FF2B5EF4-FFF2-40B4-BE49-F238E27FC236}">
                <a16:creationId xmlns:a16="http://schemas.microsoft.com/office/drawing/2014/main" id="{7F1F07F3-3940-AD3F-FF01-8C88BDB162FB}"/>
              </a:ext>
            </a:extLst>
          </p:cNvPr>
          <p:cNvSpPr/>
          <p:nvPr/>
        </p:nvSpPr>
        <p:spPr>
          <a:xfrm>
            <a:off x="14935200" y="6896100"/>
            <a:ext cx="5886688" cy="5196158"/>
          </a:xfrm>
          <a:custGeom>
            <a:avLst/>
            <a:gdLst/>
            <a:ahLst/>
            <a:cxnLst/>
            <a:rect l="l" t="t" r="r" b="b"/>
            <a:pathLst>
              <a:path w="749691" h="769273">
                <a:moveTo>
                  <a:pt x="0" y="0"/>
                </a:moveTo>
                <a:lnTo>
                  <a:pt x="749691" y="0"/>
                </a:lnTo>
                <a:lnTo>
                  <a:pt x="749691" y="769273"/>
                </a:lnTo>
                <a:lnTo>
                  <a:pt x="0" y="76927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vi-VN"/>
          </a:p>
        </p:txBody>
      </p:sp>
      <p:grpSp>
        <p:nvGrpSpPr>
          <p:cNvPr id="45" name="Group 2">
            <a:extLst>
              <a:ext uri="{FF2B5EF4-FFF2-40B4-BE49-F238E27FC236}">
                <a16:creationId xmlns:a16="http://schemas.microsoft.com/office/drawing/2014/main" id="{7E4DE8B1-8D48-63AC-FFE9-CB696AD7D2A2}"/>
              </a:ext>
            </a:extLst>
          </p:cNvPr>
          <p:cNvGrpSpPr/>
          <p:nvPr/>
        </p:nvGrpSpPr>
        <p:grpSpPr>
          <a:xfrm>
            <a:off x="-1992840" y="7429500"/>
            <a:ext cx="4742962" cy="4392438"/>
            <a:chOff x="0" y="0"/>
            <a:chExt cx="5800804" cy="5372100"/>
          </a:xfrm>
        </p:grpSpPr>
        <p:sp>
          <p:nvSpPr>
            <p:cNvPr id="46" name="Freeform 3">
              <a:extLst>
                <a:ext uri="{FF2B5EF4-FFF2-40B4-BE49-F238E27FC236}">
                  <a16:creationId xmlns:a16="http://schemas.microsoft.com/office/drawing/2014/main" id="{AA8ED684-77D3-F7D3-BEAB-C3C88DC1A5A7}"/>
                </a:ext>
              </a:extLst>
            </p:cNvPr>
            <p:cNvSpPr/>
            <p:nvPr/>
          </p:nvSpPr>
          <p:spPr>
            <a:xfrm>
              <a:off x="0" y="0"/>
              <a:ext cx="5800804" cy="5372100"/>
            </a:xfrm>
            <a:custGeom>
              <a:avLst/>
              <a:gdLst/>
              <a:ahLst/>
              <a:cxnLst/>
              <a:rect l="l" t="t" r="r" b="b"/>
              <a:pathLst>
                <a:path w="5800804" h="5372100">
                  <a:moveTo>
                    <a:pt x="4250134" y="0"/>
                  </a:moveTo>
                  <a:lnTo>
                    <a:pt x="1550670" y="0"/>
                  </a:lnTo>
                  <a:lnTo>
                    <a:pt x="0" y="2686050"/>
                  </a:lnTo>
                  <a:lnTo>
                    <a:pt x="1550670" y="5372100"/>
                  </a:lnTo>
                  <a:lnTo>
                    <a:pt x="4250134" y="5372100"/>
                  </a:lnTo>
                  <a:lnTo>
                    <a:pt x="5800804" y="2686050"/>
                  </a:lnTo>
                  <a:lnTo>
                    <a:pt x="4250134" y="0"/>
                  </a:lnTo>
                  <a:close/>
                </a:path>
              </a:pathLst>
            </a:custGeom>
            <a:solidFill>
              <a:srgbClr val="A066CB"/>
            </a:solidFill>
          </p:spPr>
          <p:txBody>
            <a:bodyPr/>
            <a:lstStyle/>
            <a:p>
              <a:endParaRPr lang="vi-VN"/>
            </a:p>
          </p:txBody>
        </p:sp>
      </p:grpSp>
      <p:sp>
        <p:nvSpPr>
          <p:cNvPr id="35" name="TextBox 6">
            <a:extLst>
              <a:ext uri="{FF2B5EF4-FFF2-40B4-BE49-F238E27FC236}">
                <a16:creationId xmlns:a16="http://schemas.microsoft.com/office/drawing/2014/main" id="{87E7C51A-9266-48C4-D612-13B833D9D822}"/>
              </a:ext>
            </a:extLst>
          </p:cNvPr>
          <p:cNvSpPr txBox="1"/>
          <p:nvPr/>
        </p:nvSpPr>
        <p:spPr>
          <a:xfrm>
            <a:off x="11848247" y="5510105"/>
            <a:ext cx="3636955" cy="371064"/>
          </a:xfrm>
          <a:prstGeom prst="rect">
            <a:avLst/>
          </a:prstGeom>
        </p:spPr>
        <p:txBody>
          <a:bodyPr wrap="square" lIns="0" tIns="0" rIns="0" bIns="0" rtlCol="0" anchor="t">
            <a:spAutoFit/>
          </a:bodyPr>
          <a:lstStyle/>
          <a:p>
            <a:pPr lvl="0" algn="ctr">
              <a:lnSpc>
                <a:spcPct val="150000"/>
              </a:lnSpc>
              <a:spcBef>
                <a:spcPts val="600"/>
              </a:spcBef>
              <a:spcAft>
                <a:spcPts val="600"/>
              </a:spcAft>
            </a:pPr>
            <a:r>
              <a:rPr lang="en-US" b="1" dirty="0"/>
              <a:t>Gamification</a:t>
            </a:r>
            <a:endParaRPr lang="vi-VN" sz="2200" b="1" dirty="0">
              <a:effectLst/>
              <a:latin typeface="Times New Roman" panose="02020603050405020304" pitchFamily="18" charset="0"/>
              <a:ea typeface="SimSun" panose="02010600030101010101" pitchFamily="2" charset="-122"/>
              <a:cs typeface="Times New Roman" panose="02020603050405020304" pitchFamily="18" charset="0"/>
            </a:endParaRPr>
          </a:p>
        </p:txBody>
      </p:sp>
      <p:sp>
        <p:nvSpPr>
          <p:cNvPr id="36" name="TextBox 6">
            <a:extLst>
              <a:ext uri="{FF2B5EF4-FFF2-40B4-BE49-F238E27FC236}">
                <a16:creationId xmlns:a16="http://schemas.microsoft.com/office/drawing/2014/main" id="{87E7C51A-9266-48C4-D612-13B833D9D822}"/>
              </a:ext>
            </a:extLst>
          </p:cNvPr>
          <p:cNvSpPr txBox="1"/>
          <p:nvPr/>
        </p:nvSpPr>
        <p:spPr>
          <a:xfrm>
            <a:off x="14879645" y="4323198"/>
            <a:ext cx="3408355" cy="371064"/>
          </a:xfrm>
          <a:prstGeom prst="rect">
            <a:avLst/>
          </a:prstGeom>
        </p:spPr>
        <p:txBody>
          <a:bodyPr wrap="square" lIns="0" tIns="0" rIns="0" bIns="0" rtlCol="0" anchor="t">
            <a:spAutoFit/>
          </a:bodyPr>
          <a:lstStyle/>
          <a:p>
            <a:pPr lvl="0" algn="ctr">
              <a:lnSpc>
                <a:spcPct val="150000"/>
              </a:lnSpc>
              <a:spcBef>
                <a:spcPts val="600"/>
              </a:spcBef>
              <a:spcAft>
                <a:spcPts val="600"/>
              </a:spcAft>
            </a:pPr>
            <a:r>
              <a:rPr lang="en-US" b="1" dirty="0"/>
              <a:t>Quản </a:t>
            </a:r>
            <a:r>
              <a:rPr lang="en-US" b="1" dirty="0" err="1"/>
              <a:t>lý</a:t>
            </a:r>
            <a:r>
              <a:rPr lang="en-US" b="1" dirty="0"/>
              <a:t> </a:t>
            </a:r>
            <a:r>
              <a:rPr lang="en-US" b="1" dirty="0" err="1"/>
              <a:t>học</a:t>
            </a:r>
            <a:r>
              <a:rPr lang="en-US" b="1" dirty="0"/>
              <a:t> </a:t>
            </a:r>
            <a:r>
              <a:rPr lang="en-US" b="1" dirty="0" err="1"/>
              <a:t>tập</a:t>
            </a:r>
            <a:endParaRPr lang="vi-VN" sz="2200" b="1" dirty="0">
              <a:effectLst/>
              <a:latin typeface="Times New Roman" panose="02020603050405020304" pitchFamily="18" charset="0"/>
              <a:ea typeface="SimSun" panose="02010600030101010101" pitchFamily="2" charset="-122"/>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304800" y="2428294"/>
            <a:ext cx="8001000" cy="6850201"/>
            <a:chOff x="0" y="66675"/>
            <a:chExt cx="9807831" cy="7928675"/>
          </a:xfrm>
        </p:grpSpPr>
        <p:sp>
          <p:nvSpPr>
            <p:cNvPr id="5" name="TextBox 5"/>
            <p:cNvSpPr txBox="1"/>
            <p:nvPr/>
          </p:nvSpPr>
          <p:spPr>
            <a:xfrm>
              <a:off x="0" y="66675"/>
              <a:ext cx="9267709" cy="1273825"/>
            </a:xfrm>
            <a:prstGeom prst="rect">
              <a:avLst/>
            </a:prstGeom>
          </p:spPr>
          <p:txBody>
            <a:bodyPr lIns="0" tIns="0" rIns="0" bIns="0" rtlCol="0" anchor="t">
              <a:spAutoFit/>
            </a:bodyPr>
            <a:lstStyle/>
            <a:p>
              <a:pPr marL="0" lvl="0" indent="0" algn="l">
                <a:lnSpc>
                  <a:spcPts val="8717"/>
                </a:lnSpc>
                <a:spcBef>
                  <a:spcPct val="0"/>
                </a:spcBef>
              </a:pPr>
              <a:r>
                <a:rPr lang="en-US" sz="6000" b="1">
                  <a:solidFill>
                    <a:srgbClr val="1836B2"/>
                  </a:solidFill>
                  <a:latin typeface="+mj-lt"/>
                  <a:ea typeface="Cabin Semi-Bold"/>
                  <a:cs typeface="Times New Roman" panose="02020603050405020304" pitchFamily="18" charset="0"/>
                  <a:sym typeface="Cabin Semi-Bold"/>
                </a:rPr>
                <a:t>Sơ đồ Use Case</a:t>
              </a:r>
              <a:endParaRPr lang="en-US" sz="6000" b="1" u="none">
                <a:solidFill>
                  <a:srgbClr val="1836B2"/>
                </a:solidFill>
                <a:latin typeface="+mj-lt"/>
                <a:ea typeface="Cabin Semi-Bold"/>
                <a:cs typeface="Times New Roman" panose="02020603050405020304" pitchFamily="18" charset="0"/>
                <a:sym typeface="Cabin Semi-Bold"/>
              </a:endParaRPr>
            </a:p>
          </p:txBody>
        </p:sp>
        <p:sp>
          <p:nvSpPr>
            <p:cNvPr id="6" name="TextBox 6"/>
            <p:cNvSpPr txBox="1"/>
            <p:nvPr/>
          </p:nvSpPr>
          <p:spPr>
            <a:xfrm>
              <a:off x="0" y="1316000"/>
              <a:ext cx="9807831" cy="6679350"/>
            </a:xfrm>
            <a:prstGeom prst="rect">
              <a:avLst/>
            </a:prstGeom>
          </p:spPr>
          <p:txBody>
            <a:bodyPr wrap="square" lIns="0" tIns="0" rIns="0" bIns="0" rtlCol="0" anchor="t">
              <a:spAutoFit/>
            </a:bodyPr>
            <a:lstStyle/>
            <a:p>
              <a:pPr algn="just"/>
              <a:r>
                <a:rPr lang="vi-VN" sz="2500" dirty="0"/>
                <a:t>Khách (Guest): </a:t>
              </a:r>
              <a:endParaRPr lang="en-US" sz="2500" dirty="0"/>
            </a:p>
            <a:p>
              <a:pPr algn="just"/>
              <a:r>
                <a:rPr lang="vi-VN" sz="2500" dirty="0"/>
                <a:t> · Đăng ký tài khoản</a:t>
              </a:r>
              <a:endParaRPr lang="en-US" sz="2500" dirty="0"/>
            </a:p>
            <a:p>
              <a:pPr algn="just"/>
              <a:r>
                <a:rPr lang="vi-VN" sz="2500" dirty="0"/>
                <a:t> · Đăng nhập</a:t>
              </a:r>
              <a:endParaRPr lang="en-US" sz="2500" dirty="0"/>
            </a:p>
            <a:p>
              <a:pPr algn="just"/>
              <a:r>
                <a:rPr lang="vi-VN" sz="2500" dirty="0"/>
                <a:t> · Khôi phục mật khẩu</a:t>
              </a:r>
            </a:p>
            <a:p>
              <a:pPr algn="just"/>
              <a:r>
                <a:rPr lang="vi-VN" sz="2500" dirty="0"/>
                <a:t>Người dùng (User): Quản lý công việc: </a:t>
              </a:r>
              <a:endParaRPr lang="en-US" sz="2500" dirty="0"/>
            </a:p>
            <a:p>
              <a:pPr algn="just"/>
              <a:r>
                <a:rPr lang="vi-VN" sz="2500" dirty="0"/>
                <a:t> · Thêm/Sửa/Xóa </a:t>
              </a:r>
              <a:endParaRPr lang="en-US" sz="2500" dirty="0"/>
            </a:p>
            <a:p>
              <a:pPr algn="just"/>
              <a:r>
                <a:rPr lang="vi-VN" sz="2500" dirty="0"/>
                <a:t>· Quản lý chi tiết: Subtask &amp; Phụ thuộc </a:t>
              </a:r>
              <a:endParaRPr lang="en-US" sz="2500" dirty="0"/>
            </a:p>
            <a:p>
              <a:pPr algn="just"/>
              <a:r>
                <a:rPr lang="vi-VN" sz="2500" dirty="0"/>
                <a:t>· Tương tác: Bình luận &amp; Tệp đính kèm </a:t>
              </a:r>
              <a:endParaRPr lang="en-US" sz="2500" dirty="0"/>
            </a:p>
            <a:p>
              <a:pPr algn="just"/>
              <a:r>
                <a:rPr lang="vi-VN" sz="2500" dirty="0"/>
                <a:t>· Trò chuyện với Trợ lý AI Gemini </a:t>
              </a:r>
              <a:endParaRPr lang="en-US" sz="2500" dirty="0"/>
            </a:p>
            <a:p>
              <a:pPr algn="just"/>
              <a:r>
                <a:rPr lang="vi-VN" sz="2500" dirty="0"/>
                <a:t>· Xem Dashboard &amp; Thống kê cá nhân </a:t>
              </a:r>
              <a:endParaRPr lang="en-US" sz="2500" dirty="0"/>
            </a:p>
            <a:p>
              <a:pPr algn="just"/>
              <a:r>
                <a:rPr lang="vi-VN" sz="2500" dirty="0"/>
                <a:t>· Quản lý Thùng rác</a:t>
              </a:r>
            </a:p>
            <a:p>
              <a:pPr algn="just"/>
              <a:r>
                <a:rPr lang="vi-VN" sz="2500" dirty="0"/>
                <a:t>Quản trị viên (Admin): </a:t>
              </a:r>
              <a:endParaRPr lang="en-US" sz="2500" dirty="0"/>
            </a:p>
            <a:p>
              <a:pPr algn="just"/>
              <a:r>
                <a:rPr lang="vi-VN" sz="2500" dirty="0"/>
                <a:t> · Kế thừa mọi quyền hạn của User </a:t>
              </a:r>
              <a:endParaRPr lang="en-US" sz="2500" dirty="0"/>
            </a:p>
            <a:p>
              <a:pPr algn="just"/>
              <a:r>
                <a:rPr lang="vi-VN" sz="2500" dirty="0"/>
                <a:t>· Quản lý tài khoản toàn hệ thống </a:t>
              </a:r>
              <a:endParaRPr lang="en-US" sz="2500" dirty="0"/>
            </a:p>
            <a:p>
              <a:pPr algn="just"/>
              <a:r>
                <a:rPr lang="vi-VN" sz="2500" dirty="0"/>
                <a:t>· Theo dõi thống kê tổng quan</a:t>
              </a:r>
            </a:p>
          </p:txBody>
        </p:sp>
      </p:grpSp>
      <p:sp>
        <p:nvSpPr>
          <p:cNvPr id="30" name="AutoShape 30"/>
          <p:cNvSpPr/>
          <p:nvPr/>
        </p:nvSpPr>
        <p:spPr>
          <a:xfrm>
            <a:off x="4790415" y="-446411"/>
            <a:ext cx="13497585" cy="791631"/>
          </a:xfrm>
          <a:prstGeom prst="rect">
            <a:avLst/>
          </a:prstGeom>
          <a:solidFill>
            <a:srgbClr val="1836B2"/>
          </a:solidFill>
        </p:spPr>
        <p:txBody>
          <a:bodyPr/>
          <a:lstStyle/>
          <a:p>
            <a:endParaRPr lang="vi-VN"/>
          </a:p>
        </p:txBody>
      </p:sp>
      <p:sp>
        <p:nvSpPr>
          <p:cNvPr id="31" name="Freeform 31"/>
          <p:cNvSpPr/>
          <p:nvPr/>
        </p:nvSpPr>
        <p:spPr>
          <a:xfrm flipH="1" flipV="1">
            <a:off x="0" y="-1169840"/>
            <a:ext cx="5660104" cy="3231734"/>
          </a:xfrm>
          <a:custGeom>
            <a:avLst/>
            <a:gdLst/>
            <a:ahLst/>
            <a:cxnLst/>
            <a:rect l="l" t="t" r="r" b="b"/>
            <a:pathLst>
              <a:path w="5660104" h="3231734">
                <a:moveTo>
                  <a:pt x="5660104" y="3231734"/>
                </a:moveTo>
                <a:lnTo>
                  <a:pt x="0" y="3231734"/>
                </a:lnTo>
                <a:lnTo>
                  <a:pt x="0" y="0"/>
                </a:lnTo>
                <a:lnTo>
                  <a:pt x="5660104" y="0"/>
                </a:lnTo>
                <a:lnTo>
                  <a:pt x="5660104" y="3231734"/>
                </a:lnTo>
                <a:close/>
              </a:path>
            </a:pathLst>
          </a:custGeom>
          <a:blipFill>
            <a:blip r:embed="rId3">
              <a:extLst>
                <a:ext uri="{96DAC541-7B7A-43D3-8B79-37D633B846F1}">
                  <asvg:svgBlip xmlns:asvg="http://schemas.microsoft.com/office/drawing/2016/SVG/main" r:embed="rId4"/>
                </a:ext>
              </a:extLst>
            </a:blip>
            <a:stretch>
              <a:fillRect t="-51576"/>
            </a:stretch>
          </a:blipFill>
        </p:spPr>
        <p:txBody>
          <a:bodyPr/>
          <a:lstStyle/>
          <a:p>
            <a:endParaRPr lang="vi-VN"/>
          </a:p>
        </p:txBody>
      </p:sp>
      <p:sp>
        <p:nvSpPr>
          <p:cNvPr id="10" name="TextBox 3"/>
          <p:cNvSpPr txBox="1"/>
          <p:nvPr/>
        </p:nvSpPr>
        <p:spPr>
          <a:xfrm>
            <a:off x="5334000" y="446027"/>
            <a:ext cx="10370415" cy="973087"/>
          </a:xfrm>
          <a:prstGeom prst="rect">
            <a:avLst/>
          </a:prstGeom>
        </p:spPr>
        <p:txBody>
          <a:bodyPr wrap="square" lIns="0" tIns="0" rIns="0" bIns="0" rtlCol="0" anchor="t">
            <a:spAutoFit/>
          </a:bodyPr>
          <a:lstStyle/>
          <a:p>
            <a:pPr lvl="0">
              <a:lnSpc>
                <a:spcPts val="8635"/>
              </a:lnSpc>
              <a:spcBef>
                <a:spcPct val="0"/>
              </a:spcBef>
            </a:pPr>
            <a:r>
              <a:rPr lang="en-US" sz="5000" b="1" dirty="0" err="1">
                <a:solidFill>
                  <a:srgbClr val="1836B2"/>
                </a:solidFill>
                <a:latin typeface="+mj-lt"/>
                <a:ea typeface="Cabin Semi-Bold"/>
                <a:cs typeface="Cabin Semi-Bold"/>
                <a:sym typeface="Cabin Semi-Bold"/>
              </a:rPr>
              <a:t>Thiết</a:t>
            </a:r>
            <a:r>
              <a:rPr lang="en-US" sz="5000" b="1" dirty="0">
                <a:solidFill>
                  <a:srgbClr val="1836B2"/>
                </a:solidFill>
                <a:latin typeface="+mj-lt"/>
                <a:ea typeface="Cabin Semi-Bold"/>
                <a:cs typeface="Cabin Semi-Bold"/>
                <a:sym typeface="Cabin Semi-Bold"/>
              </a:rPr>
              <a:t> </a:t>
            </a:r>
            <a:r>
              <a:rPr lang="en-US" sz="5000" b="1" dirty="0" err="1">
                <a:solidFill>
                  <a:srgbClr val="1836B2"/>
                </a:solidFill>
                <a:latin typeface="+mj-lt"/>
                <a:ea typeface="Cabin Semi-Bold"/>
                <a:cs typeface="Cabin Semi-Bold"/>
                <a:sym typeface="Cabin Semi-Bold"/>
              </a:rPr>
              <a:t>kế</a:t>
            </a:r>
            <a:r>
              <a:rPr lang="en-US" sz="5000" b="1" dirty="0">
                <a:solidFill>
                  <a:srgbClr val="1836B2"/>
                </a:solidFill>
                <a:latin typeface="+mj-lt"/>
                <a:ea typeface="Cabin Semi-Bold"/>
                <a:cs typeface="Cabin Semi-Bold"/>
                <a:sym typeface="Cabin Semi-Bold"/>
              </a:rPr>
              <a:t> </a:t>
            </a:r>
            <a:r>
              <a:rPr lang="vi-VN" sz="5000" b="1" dirty="0">
                <a:solidFill>
                  <a:srgbClr val="1836B2"/>
                </a:solidFill>
                <a:latin typeface="+mj-lt"/>
                <a:ea typeface="Cabin Semi-Bold"/>
                <a:cs typeface="Cabin Semi-Bold"/>
                <a:sym typeface="Cabin Semi-Bold"/>
              </a:rPr>
              <a:t>hệ thống</a:t>
            </a:r>
            <a:endParaRPr lang="en-US" sz="5000" b="1" u="none" dirty="0">
              <a:solidFill>
                <a:srgbClr val="1836B2"/>
              </a:solidFill>
              <a:latin typeface="+mj-lt"/>
              <a:ea typeface="Cabin Semi-Bold"/>
              <a:cs typeface="Cabin Semi-Bold"/>
              <a:sym typeface="Cabin Semi-Bold"/>
            </a:endParaRPr>
          </a:p>
        </p:txBody>
      </p:sp>
      <p:pic>
        <p:nvPicPr>
          <p:cNvPr id="8" name="Picture 7">
            <a:extLst>
              <a:ext uri="{FF2B5EF4-FFF2-40B4-BE49-F238E27FC236}">
                <a16:creationId xmlns:a16="http://schemas.microsoft.com/office/drawing/2014/main" id="{7BAB2849-272C-B480-1B74-AED7FE59CA55}"/>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686800" y="1519921"/>
            <a:ext cx="8686800" cy="85112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304800" y="2428294"/>
            <a:ext cx="8686800" cy="5055827"/>
            <a:chOff x="0" y="66675"/>
            <a:chExt cx="9267709" cy="5851803"/>
          </a:xfrm>
        </p:grpSpPr>
        <p:sp>
          <p:nvSpPr>
            <p:cNvPr id="5" name="TextBox 5"/>
            <p:cNvSpPr txBox="1"/>
            <p:nvPr/>
          </p:nvSpPr>
          <p:spPr>
            <a:xfrm>
              <a:off x="0" y="66675"/>
              <a:ext cx="9267709" cy="1090145"/>
            </a:xfrm>
            <a:prstGeom prst="rect">
              <a:avLst/>
            </a:prstGeom>
          </p:spPr>
          <p:txBody>
            <a:bodyPr lIns="0" tIns="0" rIns="0" bIns="0" rtlCol="0" anchor="t">
              <a:spAutoFit/>
            </a:bodyPr>
            <a:lstStyle/>
            <a:p>
              <a:pPr marL="0" lvl="0" indent="0" algn="l">
                <a:lnSpc>
                  <a:spcPts val="8717"/>
                </a:lnSpc>
                <a:spcBef>
                  <a:spcPct val="0"/>
                </a:spcBef>
              </a:pPr>
              <a:r>
                <a:rPr lang="en-US" sz="3600" b="1" dirty="0" err="1">
                  <a:solidFill>
                    <a:srgbClr val="1836B2"/>
                  </a:solidFill>
                  <a:latin typeface="+mj-lt"/>
                  <a:ea typeface="Cabin Semi-Bold"/>
                  <a:cs typeface="Times New Roman" panose="02020603050405020304" pitchFamily="18" charset="0"/>
                  <a:sym typeface="Cabin Semi-Bold"/>
                </a:rPr>
                <a:t>Sơ</a:t>
              </a:r>
              <a:r>
                <a:rPr lang="en-US" sz="3600" b="1" dirty="0">
                  <a:solidFill>
                    <a:srgbClr val="1836B2"/>
                  </a:solidFill>
                  <a:latin typeface="+mj-lt"/>
                  <a:ea typeface="Cabin Semi-Bold"/>
                  <a:cs typeface="Times New Roman" panose="02020603050405020304" pitchFamily="18" charset="0"/>
                  <a:sym typeface="Cabin Semi-Bold"/>
                </a:rPr>
                <a:t> </a:t>
              </a:r>
              <a:r>
                <a:rPr lang="en-US" sz="3600" b="1" dirty="0" err="1">
                  <a:solidFill>
                    <a:srgbClr val="1836B2"/>
                  </a:solidFill>
                  <a:latin typeface="+mj-lt"/>
                  <a:ea typeface="Cabin Semi-Bold"/>
                  <a:cs typeface="Times New Roman" panose="02020603050405020304" pitchFamily="18" charset="0"/>
                  <a:sym typeface="Cabin Semi-Bold"/>
                </a:rPr>
                <a:t>đồ</a:t>
              </a:r>
              <a:r>
                <a:rPr lang="en-US" sz="3600" b="1" dirty="0">
                  <a:solidFill>
                    <a:srgbClr val="1836B2"/>
                  </a:solidFill>
                  <a:latin typeface="+mj-lt"/>
                  <a:ea typeface="Cabin Semi-Bold"/>
                  <a:cs typeface="Times New Roman" panose="02020603050405020304" pitchFamily="18" charset="0"/>
                  <a:sym typeface="Cabin Semi-Bold"/>
                </a:rPr>
                <a:t> </a:t>
              </a:r>
              <a:r>
                <a:rPr lang="en-US" sz="3600" b="1" dirty="0" err="1">
                  <a:solidFill>
                    <a:srgbClr val="1836B2"/>
                  </a:solidFill>
                  <a:latin typeface="+mj-lt"/>
                  <a:ea typeface="Cabin Semi-Bold"/>
                  <a:cs typeface="Times New Roman" panose="02020603050405020304" pitchFamily="18" charset="0"/>
                  <a:sym typeface="Cabin Semi-Bold"/>
                </a:rPr>
                <a:t>luồng</a:t>
              </a:r>
              <a:r>
                <a:rPr lang="en-US" sz="3600" b="1" dirty="0">
                  <a:solidFill>
                    <a:srgbClr val="1836B2"/>
                  </a:solidFill>
                  <a:latin typeface="+mj-lt"/>
                  <a:ea typeface="Cabin Semi-Bold"/>
                  <a:cs typeface="Times New Roman" panose="02020603050405020304" pitchFamily="18" charset="0"/>
                  <a:sym typeface="Cabin Semi-Bold"/>
                </a:rPr>
                <a:t> </a:t>
              </a:r>
              <a:r>
                <a:rPr lang="en-US" sz="3600" b="1" dirty="0" err="1">
                  <a:solidFill>
                    <a:srgbClr val="1836B2"/>
                  </a:solidFill>
                  <a:latin typeface="+mj-lt"/>
                  <a:ea typeface="Cabin Semi-Bold"/>
                  <a:cs typeface="Times New Roman" panose="02020603050405020304" pitchFamily="18" charset="0"/>
                  <a:sym typeface="Cabin Semi-Bold"/>
                </a:rPr>
                <a:t>hoạt</a:t>
              </a:r>
              <a:r>
                <a:rPr lang="en-US" sz="3600" b="1" dirty="0">
                  <a:solidFill>
                    <a:srgbClr val="1836B2"/>
                  </a:solidFill>
                  <a:latin typeface="+mj-lt"/>
                  <a:ea typeface="Cabin Semi-Bold"/>
                  <a:cs typeface="Times New Roman" panose="02020603050405020304" pitchFamily="18" charset="0"/>
                  <a:sym typeface="Cabin Semi-Bold"/>
                </a:rPr>
                <a:t> </a:t>
              </a:r>
              <a:r>
                <a:rPr lang="en-US" sz="3600" b="1" dirty="0" err="1">
                  <a:solidFill>
                    <a:srgbClr val="1836B2"/>
                  </a:solidFill>
                  <a:latin typeface="+mj-lt"/>
                  <a:ea typeface="Cabin Semi-Bold"/>
                  <a:cs typeface="Times New Roman" panose="02020603050405020304" pitchFamily="18" charset="0"/>
                  <a:sym typeface="Cabin Semi-Bold"/>
                </a:rPr>
                <a:t>động</a:t>
              </a:r>
              <a:r>
                <a:rPr lang="en-US" sz="3600" b="1" dirty="0">
                  <a:solidFill>
                    <a:srgbClr val="1836B2"/>
                  </a:solidFill>
                  <a:latin typeface="+mj-lt"/>
                  <a:ea typeface="Cabin Semi-Bold"/>
                  <a:cs typeface="Times New Roman" panose="02020603050405020304" pitchFamily="18" charset="0"/>
                  <a:sym typeface="Cabin Semi-Bold"/>
                </a:rPr>
                <a:t> </a:t>
              </a:r>
              <a:r>
                <a:rPr lang="en-US" sz="3600" b="1" dirty="0" err="1">
                  <a:solidFill>
                    <a:srgbClr val="1836B2"/>
                  </a:solidFill>
                  <a:latin typeface="+mj-lt"/>
                  <a:ea typeface="Cabin Semi-Bold"/>
                  <a:cs typeface="Times New Roman" panose="02020603050405020304" pitchFamily="18" charset="0"/>
                  <a:sym typeface="Cabin Semi-Bold"/>
                </a:rPr>
                <a:t>tổng</a:t>
              </a:r>
              <a:r>
                <a:rPr lang="en-US" sz="3600" b="1" dirty="0">
                  <a:solidFill>
                    <a:srgbClr val="1836B2"/>
                  </a:solidFill>
                  <a:latin typeface="+mj-lt"/>
                  <a:ea typeface="Cabin Semi-Bold"/>
                  <a:cs typeface="Times New Roman" panose="02020603050405020304" pitchFamily="18" charset="0"/>
                  <a:sym typeface="Cabin Semi-Bold"/>
                </a:rPr>
                <a:t> </a:t>
              </a:r>
              <a:r>
                <a:rPr lang="en-US" sz="3600" b="1" dirty="0" err="1">
                  <a:solidFill>
                    <a:srgbClr val="1836B2"/>
                  </a:solidFill>
                  <a:latin typeface="+mj-lt"/>
                  <a:ea typeface="Cabin Semi-Bold"/>
                  <a:cs typeface="Times New Roman" panose="02020603050405020304" pitchFamily="18" charset="0"/>
                  <a:sym typeface="Cabin Semi-Bold"/>
                </a:rPr>
                <a:t>quát</a:t>
              </a:r>
              <a:endParaRPr lang="en-US" sz="3600" b="1" u="none" dirty="0">
                <a:solidFill>
                  <a:srgbClr val="1836B2"/>
                </a:solidFill>
                <a:latin typeface="+mj-lt"/>
                <a:ea typeface="Cabin Semi-Bold"/>
                <a:cs typeface="Times New Roman" panose="02020603050405020304" pitchFamily="18" charset="0"/>
                <a:sym typeface="Cabin Semi-Bold"/>
              </a:endParaRPr>
            </a:p>
          </p:txBody>
        </p:sp>
        <p:sp>
          <p:nvSpPr>
            <p:cNvPr id="6" name="TextBox 6"/>
            <p:cNvSpPr txBox="1"/>
            <p:nvPr/>
          </p:nvSpPr>
          <p:spPr>
            <a:xfrm>
              <a:off x="0" y="1643693"/>
              <a:ext cx="8986798" cy="4274785"/>
            </a:xfrm>
            <a:prstGeom prst="rect">
              <a:avLst/>
            </a:prstGeom>
          </p:spPr>
          <p:txBody>
            <a:bodyPr lIns="0" tIns="0" rIns="0" bIns="0" rtlCol="0" anchor="t">
              <a:spAutoFit/>
            </a:bodyPr>
            <a:lstStyle/>
            <a:p>
              <a:r>
                <a:rPr lang="vi-VN" sz="3000" dirty="0"/>
                <a:t>Tài khoản → Đăng nhập / Đăng ký · Hồ sơ cá nhân</a:t>
              </a:r>
            </a:p>
            <a:p>
              <a:r>
                <a:rPr lang="vi-VN" sz="3000" dirty="0"/>
                <a:t>Công việc → Thêm / Sửa / Xóa Task · Chia Subtasks · Liên kết Phụ thuộc</a:t>
              </a:r>
            </a:p>
            <a:p>
              <a:r>
                <a:rPr lang="vi-VN" sz="3000" dirty="0"/>
                <a:t>Tương tác &amp; AI → Chat AI Gemini · Bình luận &amp; Tệp đính kèm</a:t>
              </a:r>
            </a:p>
            <a:p>
              <a:r>
                <a:rPr lang="vi-VN" sz="3000" dirty="0"/>
                <a:t>Quản trị → Dashboard Thống kê · Quản lý User toàn hệ thống</a:t>
              </a:r>
            </a:p>
          </p:txBody>
        </p:sp>
      </p:grpSp>
      <p:sp>
        <p:nvSpPr>
          <p:cNvPr id="30" name="AutoShape 30"/>
          <p:cNvSpPr/>
          <p:nvPr/>
        </p:nvSpPr>
        <p:spPr>
          <a:xfrm>
            <a:off x="4790415" y="-446411"/>
            <a:ext cx="13497585" cy="791631"/>
          </a:xfrm>
          <a:prstGeom prst="rect">
            <a:avLst/>
          </a:prstGeom>
          <a:solidFill>
            <a:srgbClr val="1836B2"/>
          </a:solidFill>
        </p:spPr>
        <p:txBody>
          <a:bodyPr/>
          <a:lstStyle/>
          <a:p>
            <a:endParaRPr lang="vi-VN"/>
          </a:p>
        </p:txBody>
      </p:sp>
      <p:sp>
        <p:nvSpPr>
          <p:cNvPr id="31" name="Freeform 31"/>
          <p:cNvSpPr/>
          <p:nvPr/>
        </p:nvSpPr>
        <p:spPr>
          <a:xfrm flipH="1" flipV="1">
            <a:off x="-228600" y="-1169840"/>
            <a:ext cx="5660104" cy="3231734"/>
          </a:xfrm>
          <a:custGeom>
            <a:avLst/>
            <a:gdLst/>
            <a:ahLst/>
            <a:cxnLst/>
            <a:rect l="l" t="t" r="r" b="b"/>
            <a:pathLst>
              <a:path w="5660104" h="3231734">
                <a:moveTo>
                  <a:pt x="5660104" y="3231734"/>
                </a:moveTo>
                <a:lnTo>
                  <a:pt x="0" y="3231734"/>
                </a:lnTo>
                <a:lnTo>
                  <a:pt x="0" y="0"/>
                </a:lnTo>
                <a:lnTo>
                  <a:pt x="5660104" y="0"/>
                </a:lnTo>
                <a:lnTo>
                  <a:pt x="5660104" y="3231734"/>
                </a:lnTo>
                <a:close/>
              </a:path>
            </a:pathLst>
          </a:custGeom>
          <a:blipFill>
            <a:blip r:embed="rId3">
              <a:extLst>
                <a:ext uri="{96DAC541-7B7A-43D3-8B79-37D633B846F1}">
                  <asvg:svgBlip xmlns:asvg="http://schemas.microsoft.com/office/drawing/2016/SVG/main" r:embed="rId4"/>
                </a:ext>
              </a:extLst>
            </a:blip>
            <a:stretch>
              <a:fillRect t="-51576"/>
            </a:stretch>
          </a:blipFill>
        </p:spPr>
        <p:txBody>
          <a:bodyPr/>
          <a:lstStyle/>
          <a:p>
            <a:endParaRPr lang="vi-VN"/>
          </a:p>
        </p:txBody>
      </p:sp>
      <p:sp>
        <p:nvSpPr>
          <p:cNvPr id="10" name="TextBox 3"/>
          <p:cNvSpPr txBox="1"/>
          <p:nvPr/>
        </p:nvSpPr>
        <p:spPr>
          <a:xfrm>
            <a:off x="5334000" y="446027"/>
            <a:ext cx="10370415" cy="973087"/>
          </a:xfrm>
          <a:prstGeom prst="rect">
            <a:avLst/>
          </a:prstGeom>
        </p:spPr>
        <p:txBody>
          <a:bodyPr wrap="square" lIns="0" tIns="0" rIns="0" bIns="0" rtlCol="0" anchor="t">
            <a:spAutoFit/>
          </a:bodyPr>
          <a:lstStyle/>
          <a:p>
            <a:pPr lvl="0">
              <a:lnSpc>
                <a:spcPts val="8635"/>
              </a:lnSpc>
              <a:spcBef>
                <a:spcPct val="0"/>
              </a:spcBef>
            </a:pPr>
            <a:r>
              <a:rPr lang="en-US" sz="5000" b="1" dirty="0" err="1">
                <a:solidFill>
                  <a:srgbClr val="1836B2"/>
                </a:solidFill>
                <a:latin typeface="+mj-lt"/>
                <a:ea typeface="Cabin Semi-Bold"/>
                <a:cs typeface="Cabin Semi-Bold"/>
                <a:sym typeface="Cabin Semi-Bold"/>
              </a:rPr>
              <a:t>Sơ</a:t>
            </a:r>
            <a:r>
              <a:rPr lang="en-US" sz="5000" b="1" dirty="0">
                <a:solidFill>
                  <a:srgbClr val="1836B2"/>
                </a:solidFill>
                <a:latin typeface="+mj-lt"/>
                <a:ea typeface="Cabin Semi-Bold"/>
                <a:cs typeface="Cabin Semi-Bold"/>
                <a:sym typeface="Cabin Semi-Bold"/>
              </a:rPr>
              <a:t> </a:t>
            </a:r>
            <a:r>
              <a:rPr lang="en-US" sz="5000" b="1" dirty="0" err="1">
                <a:solidFill>
                  <a:srgbClr val="1836B2"/>
                </a:solidFill>
                <a:latin typeface="+mj-lt"/>
                <a:ea typeface="Cabin Semi-Bold"/>
                <a:cs typeface="Cabin Semi-Bold"/>
                <a:sym typeface="Cabin Semi-Bold"/>
              </a:rPr>
              <a:t>đồ</a:t>
            </a:r>
            <a:r>
              <a:rPr lang="en-US" sz="5000" b="1" dirty="0">
                <a:solidFill>
                  <a:srgbClr val="1836B2"/>
                </a:solidFill>
                <a:latin typeface="+mj-lt"/>
                <a:ea typeface="Cabin Semi-Bold"/>
                <a:cs typeface="Cabin Semi-Bold"/>
                <a:sym typeface="Cabin Semi-Bold"/>
              </a:rPr>
              <a:t> website</a:t>
            </a:r>
            <a:endParaRPr lang="en-US" sz="5000" b="1" u="none" dirty="0">
              <a:solidFill>
                <a:srgbClr val="1836B2"/>
              </a:solidFill>
              <a:latin typeface="+mj-lt"/>
              <a:ea typeface="Cabin Semi-Bold"/>
              <a:cs typeface="Cabin Semi-Bold"/>
              <a:sym typeface="Cabin Semi-Bold"/>
            </a:endParaRPr>
          </a:p>
        </p:txBody>
      </p:sp>
      <p:pic>
        <p:nvPicPr>
          <p:cNvPr id="2" name="Picture 1">
            <a:extLst>
              <a:ext uri="{FF2B5EF4-FFF2-40B4-BE49-F238E27FC236}">
                <a16:creationId xmlns:a16="http://schemas.microsoft.com/office/drawing/2014/main" id="{892B0E26-F8EB-91A6-AB07-FE0C4E279A0D}"/>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788939" y="2920391"/>
            <a:ext cx="9194261" cy="6050171"/>
          </a:xfrm>
          <a:prstGeom prst="rect">
            <a:avLst/>
          </a:prstGeom>
          <a:noFill/>
          <a:ln>
            <a:noFill/>
          </a:ln>
        </p:spPr>
      </p:pic>
    </p:spTree>
    <p:extLst>
      <p:ext uri="{BB962C8B-B14F-4D97-AF65-F5344CB8AC3E}">
        <p14:creationId xmlns:p14="http://schemas.microsoft.com/office/powerpoint/2010/main" val="14520720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EE012D-4234-68E4-08CB-935E74B37D2A}"/>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60AAD685-A666-9C52-74D1-461431E5FC43}"/>
              </a:ext>
            </a:extLst>
          </p:cNvPr>
          <p:cNvPicPr>
            <a:picLocks noChangeAspect="1"/>
          </p:cNvPicPr>
          <p:nvPr/>
        </p:nvPicPr>
        <p:blipFill>
          <a:blip r:embed="rId3"/>
          <a:stretch>
            <a:fillRect/>
          </a:stretch>
        </p:blipFill>
        <p:spPr>
          <a:xfrm>
            <a:off x="10132375" y="7246953"/>
            <a:ext cx="5580380" cy="2576195"/>
          </a:xfrm>
          <a:prstGeom prst="rect">
            <a:avLst/>
          </a:prstGeom>
        </p:spPr>
      </p:pic>
      <p:sp>
        <p:nvSpPr>
          <p:cNvPr id="7" name="AutoShape 7">
            <a:extLst>
              <a:ext uri="{FF2B5EF4-FFF2-40B4-BE49-F238E27FC236}">
                <a16:creationId xmlns:a16="http://schemas.microsoft.com/office/drawing/2014/main" id="{0FDD5AEC-3CEA-77AC-378A-1CAA1AD3DF2E}"/>
              </a:ext>
            </a:extLst>
          </p:cNvPr>
          <p:cNvSpPr/>
          <p:nvPr/>
        </p:nvSpPr>
        <p:spPr>
          <a:xfrm>
            <a:off x="0" y="9986435"/>
            <a:ext cx="16445731" cy="791631"/>
          </a:xfrm>
          <a:prstGeom prst="rect">
            <a:avLst/>
          </a:prstGeom>
          <a:solidFill>
            <a:srgbClr val="1836B2"/>
          </a:solidFill>
        </p:spPr>
        <p:txBody>
          <a:bodyPr/>
          <a:lstStyle/>
          <a:p>
            <a:endParaRPr lang="vi-VN"/>
          </a:p>
        </p:txBody>
      </p:sp>
      <p:grpSp>
        <p:nvGrpSpPr>
          <p:cNvPr id="8" name="Group 8">
            <a:extLst>
              <a:ext uri="{FF2B5EF4-FFF2-40B4-BE49-F238E27FC236}">
                <a16:creationId xmlns:a16="http://schemas.microsoft.com/office/drawing/2014/main" id="{C40BE20F-1668-6757-E925-427E2515F520}"/>
              </a:ext>
            </a:extLst>
          </p:cNvPr>
          <p:cNvGrpSpPr/>
          <p:nvPr/>
        </p:nvGrpSpPr>
        <p:grpSpPr>
          <a:xfrm rot="-10800000">
            <a:off x="14141132" y="9258300"/>
            <a:ext cx="3194047" cy="4221147"/>
            <a:chOff x="0" y="0"/>
            <a:chExt cx="4064946" cy="5372100"/>
          </a:xfrm>
        </p:grpSpPr>
        <p:sp>
          <p:nvSpPr>
            <p:cNvPr id="9" name="Freeform 9">
              <a:extLst>
                <a:ext uri="{FF2B5EF4-FFF2-40B4-BE49-F238E27FC236}">
                  <a16:creationId xmlns:a16="http://schemas.microsoft.com/office/drawing/2014/main" id="{D683F4E3-1353-1CD4-4ED6-C4ED63036DEF}"/>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vi-VN"/>
            </a:p>
          </p:txBody>
        </p:sp>
      </p:grpSp>
      <p:grpSp>
        <p:nvGrpSpPr>
          <p:cNvPr id="10" name="Group 10">
            <a:extLst>
              <a:ext uri="{FF2B5EF4-FFF2-40B4-BE49-F238E27FC236}">
                <a16:creationId xmlns:a16="http://schemas.microsoft.com/office/drawing/2014/main" id="{06F41384-77E1-59D4-F75B-D4A8D117DCF7}"/>
              </a:ext>
            </a:extLst>
          </p:cNvPr>
          <p:cNvGrpSpPr/>
          <p:nvPr/>
        </p:nvGrpSpPr>
        <p:grpSpPr>
          <a:xfrm rot="-10800000">
            <a:off x="15663004" y="9258300"/>
            <a:ext cx="3194047" cy="4221147"/>
            <a:chOff x="0" y="0"/>
            <a:chExt cx="4064946" cy="5372100"/>
          </a:xfrm>
        </p:grpSpPr>
        <p:sp>
          <p:nvSpPr>
            <p:cNvPr id="11" name="Freeform 11">
              <a:extLst>
                <a:ext uri="{FF2B5EF4-FFF2-40B4-BE49-F238E27FC236}">
                  <a16:creationId xmlns:a16="http://schemas.microsoft.com/office/drawing/2014/main" id="{C5FD7EF0-3D8F-6A18-04D3-6864CDB66887}"/>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vi-VN"/>
            </a:p>
          </p:txBody>
        </p:sp>
      </p:grpSp>
      <p:sp>
        <p:nvSpPr>
          <p:cNvPr id="27" name="TextBox 27">
            <a:extLst>
              <a:ext uri="{FF2B5EF4-FFF2-40B4-BE49-F238E27FC236}">
                <a16:creationId xmlns:a16="http://schemas.microsoft.com/office/drawing/2014/main" id="{D211065D-AB08-F326-224A-B08795857AE7}"/>
              </a:ext>
            </a:extLst>
          </p:cNvPr>
          <p:cNvSpPr txBox="1"/>
          <p:nvPr/>
        </p:nvSpPr>
        <p:spPr>
          <a:xfrm>
            <a:off x="279399" y="2580010"/>
            <a:ext cx="8026401" cy="3662541"/>
          </a:xfrm>
          <a:prstGeom prst="rect">
            <a:avLst/>
          </a:prstGeom>
        </p:spPr>
        <p:txBody>
          <a:bodyPr wrap="square" lIns="0" tIns="0" rIns="0" bIns="0" rtlCol="0" anchor="t">
            <a:spAutoFit/>
          </a:bodyPr>
          <a:lstStyle/>
          <a:p>
            <a:r>
              <a:rPr lang="en-US" sz="4000" dirty="0"/>
              <a:t>MÔ TẢ GIAO DIỆN TRANG CHỦ ĐĂNG KÝ — ĐĂNG NHẬP</a:t>
            </a:r>
          </a:p>
          <a:p>
            <a:br>
              <a:rPr lang="en-US" sz="5400" dirty="0"/>
            </a:br>
            <a:br>
              <a:rPr lang="en-US" sz="5400" dirty="0"/>
            </a:br>
            <a:endParaRPr lang="en-US" sz="5000" b="1" u="none" dirty="0">
              <a:solidFill>
                <a:srgbClr val="1836B2"/>
              </a:solidFill>
              <a:latin typeface="+mj-lt"/>
              <a:ea typeface="Cabin Semi-Bold"/>
              <a:cs typeface="Cabin Semi-Bold"/>
              <a:sym typeface="Cabin Semi-Bold"/>
            </a:endParaRPr>
          </a:p>
        </p:txBody>
      </p:sp>
      <p:sp>
        <p:nvSpPr>
          <p:cNvPr id="4" name="TextBox 3">
            <a:extLst>
              <a:ext uri="{FF2B5EF4-FFF2-40B4-BE49-F238E27FC236}">
                <a16:creationId xmlns:a16="http://schemas.microsoft.com/office/drawing/2014/main" id="{12B12E01-67A9-F158-733B-C925DE199E48}"/>
              </a:ext>
            </a:extLst>
          </p:cNvPr>
          <p:cNvSpPr txBox="1"/>
          <p:nvPr/>
        </p:nvSpPr>
        <p:spPr>
          <a:xfrm>
            <a:off x="279399" y="4149670"/>
            <a:ext cx="8839200" cy="4154984"/>
          </a:xfrm>
          <a:prstGeom prst="rect">
            <a:avLst/>
          </a:prstGeom>
          <a:noFill/>
        </p:spPr>
        <p:txBody>
          <a:bodyPr wrap="square" rtlCol="0">
            <a:spAutoFit/>
          </a:bodyPr>
          <a:lstStyle/>
          <a:p>
            <a:pPr algn="just"/>
            <a:r>
              <a:rPr lang="vi-VN" sz="2400" b="1" dirty="0"/>
              <a:t>Trang chủ TaskFlow </a:t>
            </a:r>
            <a:r>
              <a:rPr lang="vi-VN" sz="2400" dirty="0"/>
              <a:t>hiển thị thông điệp chính "Quản lý công việc cá nhân hiệu quả và thông minh" với nút "Bắt đầu ngay" dẫn đến trang đăng ký. Thiết kế responsive trên Desktop và Mobile, hình minh họa mascot bên phải, menu trên cùng gồm: Trang chủ, Giới thiệu, Tính năng, Liên hệ.</a:t>
            </a:r>
          </a:p>
          <a:p>
            <a:pPr algn="just"/>
            <a:r>
              <a:rPr lang="vi-VN" sz="2400" b="1" dirty="0"/>
              <a:t>Trang đăng ký gồm: </a:t>
            </a:r>
            <a:r>
              <a:rPr lang="vi-VN" sz="2400" dirty="0"/>
              <a:t>Họ tên, Email, Mật khẩu, Xác nhận mật khẩu — nút "Tạo tài khoản" màu xanh lá "Đã có tài khoản? Đăng nhập" phía dưới.</a:t>
            </a:r>
          </a:p>
          <a:p>
            <a:pPr algn="just"/>
            <a:r>
              <a:rPr lang="vi-VN" sz="2400" b="1" dirty="0"/>
              <a:t>Trang đăng nhập gồm: </a:t>
            </a:r>
            <a:r>
              <a:rPr lang="vi-VN" sz="2400" dirty="0"/>
              <a:t>Email, Mật khẩu nút "Đăng nhập" checkbox "Ghi nhớ đăng nhập"Chưa có tài khoản? Đăng ký" phía dưới.</a:t>
            </a:r>
          </a:p>
        </p:txBody>
      </p:sp>
      <p:sp>
        <p:nvSpPr>
          <p:cNvPr id="17" name="AutoShape 30"/>
          <p:cNvSpPr/>
          <p:nvPr/>
        </p:nvSpPr>
        <p:spPr>
          <a:xfrm>
            <a:off x="4790415" y="-446411"/>
            <a:ext cx="13497585" cy="791631"/>
          </a:xfrm>
          <a:prstGeom prst="rect">
            <a:avLst/>
          </a:prstGeom>
          <a:solidFill>
            <a:srgbClr val="1836B2"/>
          </a:solidFill>
        </p:spPr>
        <p:txBody>
          <a:bodyPr/>
          <a:lstStyle/>
          <a:p>
            <a:endParaRPr lang="vi-VN"/>
          </a:p>
        </p:txBody>
      </p:sp>
      <p:sp>
        <p:nvSpPr>
          <p:cNvPr id="18" name="Freeform 31"/>
          <p:cNvSpPr/>
          <p:nvPr/>
        </p:nvSpPr>
        <p:spPr>
          <a:xfrm flipH="1" flipV="1">
            <a:off x="-228600" y="-1169840"/>
            <a:ext cx="5660104" cy="3231734"/>
          </a:xfrm>
          <a:custGeom>
            <a:avLst/>
            <a:gdLst/>
            <a:ahLst/>
            <a:cxnLst/>
            <a:rect l="l" t="t" r="r" b="b"/>
            <a:pathLst>
              <a:path w="5660104" h="3231734">
                <a:moveTo>
                  <a:pt x="5660104" y="3231734"/>
                </a:moveTo>
                <a:lnTo>
                  <a:pt x="0" y="3231734"/>
                </a:lnTo>
                <a:lnTo>
                  <a:pt x="0" y="0"/>
                </a:lnTo>
                <a:lnTo>
                  <a:pt x="5660104" y="0"/>
                </a:lnTo>
                <a:lnTo>
                  <a:pt x="5660104" y="3231734"/>
                </a:lnTo>
                <a:close/>
              </a:path>
            </a:pathLst>
          </a:custGeom>
          <a:blipFill>
            <a:blip r:embed="rId4">
              <a:extLst>
                <a:ext uri="{96DAC541-7B7A-43D3-8B79-37D633B846F1}">
                  <asvg:svgBlip xmlns:asvg="http://schemas.microsoft.com/office/drawing/2016/SVG/main" r:embed="rId5"/>
                </a:ext>
              </a:extLst>
            </a:blip>
            <a:stretch>
              <a:fillRect t="-51576"/>
            </a:stretch>
          </a:blipFill>
        </p:spPr>
        <p:txBody>
          <a:bodyPr/>
          <a:lstStyle/>
          <a:p>
            <a:endParaRPr lang="vi-VN"/>
          </a:p>
        </p:txBody>
      </p:sp>
      <p:pic>
        <p:nvPicPr>
          <p:cNvPr id="2" name="Picture 1">
            <a:extLst>
              <a:ext uri="{FF2B5EF4-FFF2-40B4-BE49-F238E27FC236}">
                <a16:creationId xmlns:a16="http://schemas.microsoft.com/office/drawing/2014/main" id="{AF008250-4069-E598-AF47-5B93C702B63E}"/>
              </a:ext>
            </a:extLst>
          </p:cNvPr>
          <p:cNvPicPr>
            <a:picLocks noChangeAspect="1"/>
          </p:cNvPicPr>
          <p:nvPr/>
        </p:nvPicPr>
        <p:blipFill>
          <a:blip r:embed="rId6"/>
          <a:stretch>
            <a:fillRect/>
          </a:stretch>
        </p:blipFill>
        <p:spPr>
          <a:xfrm>
            <a:off x="9738705" y="1139375"/>
            <a:ext cx="6235586" cy="2692768"/>
          </a:xfrm>
          <a:prstGeom prst="rect">
            <a:avLst/>
          </a:prstGeom>
        </p:spPr>
      </p:pic>
      <p:pic>
        <p:nvPicPr>
          <p:cNvPr id="5" name="Picture 4">
            <a:extLst>
              <a:ext uri="{FF2B5EF4-FFF2-40B4-BE49-F238E27FC236}">
                <a16:creationId xmlns:a16="http://schemas.microsoft.com/office/drawing/2014/main" id="{4BD71C3A-7A4C-5524-8A99-9308D4BAF5C2}"/>
              </a:ext>
            </a:extLst>
          </p:cNvPr>
          <p:cNvPicPr>
            <a:picLocks noChangeAspect="1"/>
          </p:cNvPicPr>
          <p:nvPr/>
        </p:nvPicPr>
        <p:blipFill>
          <a:blip r:embed="rId7"/>
          <a:stretch>
            <a:fillRect/>
          </a:stretch>
        </p:blipFill>
        <p:spPr>
          <a:xfrm>
            <a:off x="10132375" y="4104480"/>
            <a:ext cx="5580380" cy="2664460"/>
          </a:xfrm>
          <a:prstGeom prst="rect">
            <a:avLst/>
          </a:prstGeom>
        </p:spPr>
      </p:pic>
    </p:spTree>
    <p:extLst>
      <p:ext uri="{BB962C8B-B14F-4D97-AF65-F5344CB8AC3E}">
        <p14:creationId xmlns:p14="http://schemas.microsoft.com/office/powerpoint/2010/main" val="12242964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EE012D-4234-68E4-08CB-935E74B37D2A}"/>
            </a:ext>
          </a:extLst>
        </p:cNvPr>
        <p:cNvGrpSpPr/>
        <p:nvPr/>
      </p:nvGrpSpPr>
      <p:grpSpPr>
        <a:xfrm>
          <a:off x="0" y="0"/>
          <a:ext cx="0" cy="0"/>
          <a:chOff x="0" y="0"/>
          <a:chExt cx="0" cy="0"/>
        </a:xfrm>
      </p:grpSpPr>
      <p:sp>
        <p:nvSpPr>
          <p:cNvPr id="7" name="AutoShape 7">
            <a:extLst>
              <a:ext uri="{FF2B5EF4-FFF2-40B4-BE49-F238E27FC236}">
                <a16:creationId xmlns:a16="http://schemas.microsoft.com/office/drawing/2014/main" id="{0FDD5AEC-3CEA-77AC-378A-1CAA1AD3DF2E}"/>
              </a:ext>
            </a:extLst>
          </p:cNvPr>
          <p:cNvSpPr/>
          <p:nvPr/>
        </p:nvSpPr>
        <p:spPr>
          <a:xfrm>
            <a:off x="0" y="9986435"/>
            <a:ext cx="16445731" cy="791631"/>
          </a:xfrm>
          <a:prstGeom prst="rect">
            <a:avLst/>
          </a:prstGeom>
          <a:solidFill>
            <a:srgbClr val="1836B2"/>
          </a:solidFill>
        </p:spPr>
        <p:txBody>
          <a:bodyPr/>
          <a:lstStyle/>
          <a:p>
            <a:endParaRPr lang="vi-VN"/>
          </a:p>
        </p:txBody>
      </p:sp>
      <p:grpSp>
        <p:nvGrpSpPr>
          <p:cNvPr id="8" name="Group 8">
            <a:extLst>
              <a:ext uri="{FF2B5EF4-FFF2-40B4-BE49-F238E27FC236}">
                <a16:creationId xmlns:a16="http://schemas.microsoft.com/office/drawing/2014/main" id="{C40BE20F-1668-6757-E925-427E2515F520}"/>
              </a:ext>
            </a:extLst>
          </p:cNvPr>
          <p:cNvGrpSpPr/>
          <p:nvPr/>
        </p:nvGrpSpPr>
        <p:grpSpPr>
          <a:xfrm rot="-10800000">
            <a:off x="14141132" y="9258300"/>
            <a:ext cx="3194047" cy="4221147"/>
            <a:chOff x="0" y="0"/>
            <a:chExt cx="4064946" cy="5372100"/>
          </a:xfrm>
        </p:grpSpPr>
        <p:sp>
          <p:nvSpPr>
            <p:cNvPr id="9" name="Freeform 9">
              <a:extLst>
                <a:ext uri="{FF2B5EF4-FFF2-40B4-BE49-F238E27FC236}">
                  <a16:creationId xmlns:a16="http://schemas.microsoft.com/office/drawing/2014/main" id="{D683F4E3-1353-1CD4-4ED6-C4ED63036DEF}"/>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vi-VN"/>
            </a:p>
          </p:txBody>
        </p:sp>
      </p:grpSp>
      <p:grpSp>
        <p:nvGrpSpPr>
          <p:cNvPr id="10" name="Group 10">
            <a:extLst>
              <a:ext uri="{FF2B5EF4-FFF2-40B4-BE49-F238E27FC236}">
                <a16:creationId xmlns:a16="http://schemas.microsoft.com/office/drawing/2014/main" id="{06F41384-77E1-59D4-F75B-D4A8D117DCF7}"/>
              </a:ext>
            </a:extLst>
          </p:cNvPr>
          <p:cNvGrpSpPr/>
          <p:nvPr/>
        </p:nvGrpSpPr>
        <p:grpSpPr>
          <a:xfrm rot="-10800000">
            <a:off x="15329413" y="8997153"/>
            <a:ext cx="3194047" cy="4221147"/>
            <a:chOff x="0" y="0"/>
            <a:chExt cx="4064946" cy="5372100"/>
          </a:xfrm>
        </p:grpSpPr>
        <p:sp>
          <p:nvSpPr>
            <p:cNvPr id="11" name="Freeform 11">
              <a:extLst>
                <a:ext uri="{FF2B5EF4-FFF2-40B4-BE49-F238E27FC236}">
                  <a16:creationId xmlns:a16="http://schemas.microsoft.com/office/drawing/2014/main" id="{C5FD7EF0-3D8F-6A18-04D3-6864CDB66887}"/>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vi-VN"/>
            </a:p>
          </p:txBody>
        </p:sp>
      </p:grpSp>
      <p:sp>
        <p:nvSpPr>
          <p:cNvPr id="27" name="TextBox 27">
            <a:extLst>
              <a:ext uri="{FF2B5EF4-FFF2-40B4-BE49-F238E27FC236}">
                <a16:creationId xmlns:a16="http://schemas.microsoft.com/office/drawing/2014/main" id="{D211065D-AB08-F326-224A-B08795857AE7}"/>
              </a:ext>
            </a:extLst>
          </p:cNvPr>
          <p:cNvSpPr txBox="1"/>
          <p:nvPr/>
        </p:nvSpPr>
        <p:spPr>
          <a:xfrm>
            <a:off x="279400" y="807235"/>
            <a:ext cx="6789382" cy="982705"/>
          </a:xfrm>
          <a:prstGeom prst="rect">
            <a:avLst/>
          </a:prstGeom>
        </p:spPr>
        <p:txBody>
          <a:bodyPr wrap="square" lIns="0" tIns="0" rIns="0" bIns="0" rtlCol="0" anchor="t">
            <a:spAutoFit/>
          </a:bodyPr>
          <a:lstStyle/>
          <a:p>
            <a:pPr marL="0" lvl="0" indent="0" algn="l">
              <a:lnSpc>
                <a:spcPts val="8717"/>
              </a:lnSpc>
              <a:spcBef>
                <a:spcPct val="0"/>
              </a:spcBef>
            </a:pPr>
            <a:r>
              <a:rPr lang="en-US" sz="5000" b="1" u="none" dirty="0">
                <a:solidFill>
                  <a:srgbClr val="1836B2"/>
                </a:solidFill>
                <a:latin typeface="+mj-lt"/>
                <a:ea typeface="Cabin Semi-Bold"/>
                <a:cs typeface="Cabin Semi-Bold"/>
                <a:sym typeface="Cabin Semi-Bold"/>
              </a:rPr>
              <a:t> </a:t>
            </a:r>
            <a:r>
              <a:rPr lang="vi-VN" sz="5000" b="1" u="none" dirty="0">
                <a:solidFill>
                  <a:srgbClr val="1836B2"/>
                </a:solidFill>
                <a:latin typeface="+mj-lt"/>
                <a:ea typeface="Cabin Semi-Bold"/>
                <a:cs typeface="Cabin Semi-Bold"/>
                <a:sym typeface="Cabin Semi-Bold"/>
              </a:rPr>
              <a:t>Kết quả nghiên cứu </a:t>
            </a:r>
            <a:endParaRPr lang="en-US" sz="5000" b="1" u="none" dirty="0">
              <a:solidFill>
                <a:srgbClr val="1836B2"/>
              </a:solidFill>
              <a:latin typeface="+mj-lt"/>
              <a:ea typeface="Cabin Semi-Bold"/>
              <a:cs typeface="Cabin Semi-Bold"/>
              <a:sym typeface="Cabin Semi-Bold"/>
            </a:endParaRPr>
          </a:p>
        </p:txBody>
      </p:sp>
      <p:sp>
        <p:nvSpPr>
          <p:cNvPr id="4" name="TextBox 3">
            <a:extLst>
              <a:ext uri="{FF2B5EF4-FFF2-40B4-BE49-F238E27FC236}">
                <a16:creationId xmlns:a16="http://schemas.microsoft.com/office/drawing/2014/main" id="{12B12E01-67A9-F158-733B-C925DE199E48}"/>
              </a:ext>
            </a:extLst>
          </p:cNvPr>
          <p:cNvSpPr txBox="1"/>
          <p:nvPr/>
        </p:nvSpPr>
        <p:spPr>
          <a:xfrm>
            <a:off x="337782" y="2126544"/>
            <a:ext cx="8839200" cy="3477875"/>
          </a:xfrm>
          <a:prstGeom prst="rect">
            <a:avLst/>
          </a:prstGeom>
          <a:noFill/>
        </p:spPr>
        <p:txBody>
          <a:bodyPr wrap="square" rtlCol="0">
            <a:spAutoFit/>
          </a:bodyPr>
          <a:lstStyle/>
          <a:p>
            <a:pPr algn="just"/>
            <a:r>
              <a:rPr lang="vi-VN" sz="2000" dirty="0"/>
              <a:t>Dashboard hiển thị tổng quan công việc: số task cần làm, đang làm, đã xong biểu đồ phân bố trạng thái và phân tích theo danh mục phần "Phân Tích Hiệu Suất" thể hiện xu hướng 7 ngày qua và ngày trì hoãn  sidebar trái hiển thị thông tin người dùng, cấp độ, XP và menu điều hướng 10 trang.</a:t>
            </a:r>
          </a:p>
          <a:p>
            <a:pPr algn="just"/>
            <a:r>
              <a:rPr lang="vi-VN" sz="2000" dirty="0"/>
              <a:t>Trang "Dự án cá nhân" cho phép tạo và quản lý nhóm công việc lớn  mỗi dự án hiển thị tên, số công việc, tỷ lệ hoàn thành nút "+ Dự án mới" tạo dự án nhanh  click "Xem chi tiết" vào bên trong để quản lý task con.</a:t>
            </a:r>
          </a:p>
          <a:p>
            <a:pPr algn="just"/>
            <a:r>
              <a:rPr lang="vi-VN" sz="2000" dirty="0"/>
              <a:t>Trang "Nhiệm vụ" quản lý danh sách công việc cá nhân  bộ lọc: Tất cả, Chưa làm, Đang làm, Hoàn thành, Quá hạn  mỗi task hiển thị tên, mức ưu tiên, danh mục, loại nút "+ Tạo Nhiệm Vụ" thêm task mới  bộ lọc phải: Ưu tiên, Danh mục, Sắp xếp.</a:t>
            </a:r>
          </a:p>
        </p:txBody>
      </p:sp>
      <p:sp>
        <p:nvSpPr>
          <p:cNvPr id="21" name="AutoShape 7">
            <a:extLst>
              <a:ext uri="{FF2B5EF4-FFF2-40B4-BE49-F238E27FC236}">
                <a16:creationId xmlns:a16="http://schemas.microsoft.com/office/drawing/2014/main" id="{0FDD5AEC-3CEA-77AC-378A-1CAA1AD3DF2E}"/>
              </a:ext>
            </a:extLst>
          </p:cNvPr>
          <p:cNvSpPr/>
          <p:nvPr/>
        </p:nvSpPr>
        <p:spPr>
          <a:xfrm flipH="1" flipV="1">
            <a:off x="1842269" y="-460919"/>
            <a:ext cx="16445731" cy="791631"/>
          </a:xfrm>
          <a:prstGeom prst="rect">
            <a:avLst/>
          </a:prstGeom>
          <a:solidFill>
            <a:srgbClr val="1836B2"/>
          </a:solidFill>
        </p:spPr>
        <p:txBody>
          <a:bodyPr/>
          <a:lstStyle/>
          <a:p>
            <a:endParaRPr lang="vi-VN"/>
          </a:p>
        </p:txBody>
      </p:sp>
      <p:grpSp>
        <p:nvGrpSpPr>
          <p:cNvPr id="22" name="Group 8">
            <a:extLst>
              <a:ext uri="{FF2B5EF4-FFF2-40B4-BE49-F238E27FC236}">
                <a16:creationId xmlns:a16="http://schemas.microsoft.com/office/drawing/2014/main" id="{C40BE20F-1668-6757-E925-427E2515F520}"/>
              </a:ext>
            </a:extLst>
          </p:cNvPr>
          <p:cNvGrpSpPr/>
          <p:nvPr/>
        </p:nvGrpSpPr>
        <p:grpSpPr>
          <a:xfrm rot="10800000" flipH="1" flipV="1">
            <a:off x="844552" y="-3390900"/>
            <a:ext cx="3194047" cy="4221147"/>
            <a:chOff x="0" y="0"/>
            <a:chExt cx="4064946" cy="5372100"/>
          </a:xfrm>
        </p:grpSpPr>
        <p:sp>
          <p:nvSpPr>
            <p:cNvPr id="23" name="Freeform 9">
              <a:extLst>
                <a:ext uri="{FF2B5EF4-FFF2-40B4-BE49-F238E27FC236}">
                  <a16:creationId xmlns:a16="http://schemas.microsoft.com/office/drawing/2014/main" id="{D683F4E3-1353-1CD4-4ED6-C4ED63036DEF}"/>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vi-VN"/>
            </a:p>
          </p:txBody>
        </p:sp>
      </p:grpSp>
      <p:grpSp>
        <p:nvGrpSpPr>
          <p:cNvPr id="24" name="Group 10">
            <a:extLst>
              <a:ext uri="{FF2B5EF4-FFF2-40B4-BE49-F238E27FC236}">
                <a16:creationId xmlns:a16="http://schemas.microsoft.com/office/drawing/2014/main" id="{06F41384-77E1-59D4-F75B-D4A8D117DCF7}"/>
              </a:ext>
            </a:extLst>
          </p:cNvPr>
          <p:cNvGrpSpPr/>
          <p:nvPr/>
        </p:nvGrpSpPr>
        <p:grpSpPr>
          <a:xfrm rot="10800000" flipH="1" flipV="1">
            <a:off x="-677320" y="-3390900"/>
            <a:ext cx="3194047" cy="4221147"/>
            <a:chOff x="0" y="0"/>
            <a:chExt cx="4064946" cy="5372100"/>
          </a:xfrm>
        </p:grpSpPr>
        <p:sp>
          <p:nvSpPr>
            <p:cNvPr id="25" name="Freeform 11">
              <a:extLst>
                <a:ext uri="{FF2B5EF4-FFF2-40B4-BE49-F238E27FC236}">
                  <a16:creationId xmlns:a16="http://schemas.microsoft.com/office/drawing/2014/main" id="{C5FD7EF0-3D8F-6A18-04D3-6864CDB66887}"/>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vi-VN"/>
            </a:p>
          </p:txBody>
        </p:sp>
      </p:grpSp>
      <p:pic>
        <p:nvPicPr>
          <p:cNvPr id="2" name="Picture 1">
            <a:extLst>
              <a:ext uri="{FF2B5EF4-FFF2-40B4-BE49-F238E27FC236}">
                <a16:creationId xmlns:a16="http://schemas.microsoft.com/office/drawing/2014/main" id="{831B2965-3250-7A52-2AD6-FE4CA58FA749}"/>
              </a:ext>
            </a:extLst>
          </p:cNvPr>
          <p:cNvPicPr>
            <a:picLocks noChangeAspect="1"/>
          </p:cNvPicPr>
          <p:nvPr/>
        </p:nvPicPr>
        <p:blipFill>
          <a:blip r:embed="rId3"/>
          <a:stretch>
            <a:fillRect/>
          </a:stretch>
        </p:blipFill>
        <p:spPr>
          <a:xfrm>
            <a:off x="9887200" y="1424000"/>
            <a:ext cx="6870498" cy="3371923"/>
          </a:xfrm>
          <a:prstGeom prst="rect">
            <a:avLst/>
          </a:prstGeom>
        </p:spPr>
      </p:pic>
      <p:pic>
        <p:nvPicPr>
          <p:cNvPr id="3" name="Picture 2">
            <a:extLst>
              <a:ext uri="{FF2B5EF4-FFF2-40B4-BE49-F238E27FC236}">
                <a16:creationId xmlns:a16="http://schemas.microsoft.com/office/drawing/2014/main" id="{D88402A0-6B2D-AC74-07BE-173D870D73D5}"/>
              </a:ext>
            </a:extLst>
          </p:cNvPr>
          <p:cNvPicPr>
            <a:picLocks noChangeAspect="1"/>
          </p:cNvPicPr>
          <p:nvPr/>
        </p:nvPicPr>
        <p:blipFill>
          <a:blip r:embed="rId4"/>
          <a:stretch>
            <a:fillRect/>
          </a:stretch>
        </p:blipFill>
        <p:spPr>
          <a:xfrm>
            <a:off x="9856948" y="5600186"/>
            <a:ext cx="7461298" cy="3392734"/>
          </a:xfrm>
          <a:prstGeom prst="rect">
            <a:avLst/>
          </a:prstGeom>
        </p:spPr>
      </p:pic>
      <p:pic>
        <p:nvPicPr>
          <p:cNvPr id="14" name="Picture 13">
            <a:extLst>
              <a:ext uri="{FF2B5EF4-FFF2-40B4-BE49-F238E27FC236}">
                <a16:creationId xmlns:a16="http://schemas.microsoft.com/office/drawing/2014/main" id="{2A57F708-7326-A315-3DB9-E89ECFE23A5F}"/>
              </a:ext>
            </a:extLst>
          </p:cNvPr>
          <p:cNvPicPr>
            <a:picLocks noChangeAspect="1"/>
          </p:cNvPicPr>
          <p:nvPr/>
        </p:nvPicPr>
        <p:blipFill>
          <a:blip r:embed="rId5"/>
          <a:stretch>
            <a:fillRect/>
          </a:stretch>
        </p:blipFill>
        <p:spPr>
          <a:xfrm>
            <a:off x="844552" y="5806372"/>
            <a:ext cx="7091110" cy="3220371"/>
          </a:xfrm>
          <a:prstGeom prst="rect">
            <a:avLst/>
          </a:prstGeom>
        </p:spPr>
      </p:pic>
    </p:spTree>
    <p:extLst>
      <p:ext uri="{BB962C8B-B14F-4D97-AF65-F5344CB8AC3E}">
        <p14:creationId xmlns:p14="http://schemas.microsoft.com/office/powerpoint/2010/main" val="28585309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EE012D-4234-68E4-08CB-935E74B37D2A}"/>
            </a:ext>
          </a:extLst>
        </p:cNvPr>
        <p:cNvGrpSpPr/>
        <p:nvPr/>
      </p:nvGrpSpPr>
      <p:grpSpPr>
        <a:xfrm>
          <a:off x="0" y="0"/>
          <a:ext cx="0" cy="0"/>
          <a:chOff x="0" y="0"/>
          <a:chExt cx="0" cy="0"/>
        </a:xfrm>
      </p:grpSpPr>
      <p:sp>
        <p:nvSpPr>
          <p:cNvPr id="7" name="AutoShape 7">
            <a:extLst>
              <a:ext uri="{FF2B5EF4-FFF2-40B4-BE49-F238E27FC236}">
                <a16:creationId xmlns:a16="http://schemas.microsoft.com/office/drawing/2014/main" id="{0FDD5AEC-3CEA-77AC-378A-1CAA1AD3DF2E}"/>
              </a:ext>
            </a:extLst>
          </p:cNvPr>
          <p:cNvSpPr/>
          <p:nvPr/>
        </p:nvSpPr>
        <p:spPr>
          <a:xfrm>
            <a:off x="0" y="9986435"/>
            <a:ext cx="16445731" cy="791631"/>
          </a:xfrm>
          <a:prstGeom prst="rect">
            <a:avLst/>
          </a:prstGeom>
          <a:solidFill>
            <a:srgbClr val="1836B2"/>
          </a:solidFill>
        </p:spPr>
        <p:txBody>
          <a:bodyPr/>
          <a:lstStyle/>
          <a:p>
            <a:endParaRPr lang="vi-VN"/>
          </a:p>
        </p:txBody>
      </p:sp>
      <p:grpSp>
        <p:nvGrpSpPr>
          <p:cNvPr id="8" name="Group 8">
            <a:extLst>
              <a:ext uri="{FF2B5EF4-FFF2-40B4-BE49-F238E27FC236}">
                <a16:creationId xmlns:a16="http://schemas.microsoft.com/office/drawing/2014/main" id="{C40BE20F-1668-6757-E925-427E2515F520}"/>
              </a:ext>
            </a:extLst>
          </p:cNvPr>
          <p:cNvGrpSpPr/>
          <p:nvPr/>
        </p:nvGrpSpPr>
        <p:grpSpPr>
          <a:xfrm rot="-10800000">
            <a:off x="14141132" y="9258300"/>
            <a:ext cx="3194047" cy="4221147"/>
            <a:chOff x="0" y="0"/>
            <a:chExt cx="4064946" cy="5372100"/>
          </a:xfrm>
        </p:grpSpPr>
        <p:sp>
          <p:nvSpPr>
            <p:cNvPr id="9" name="Freeform 9">
              <a:extLst>
                <a:ext uri="{FF2B5EF4-FFF2-40B4-BE49-F238E27FC236}">
                  <a16:creationId xmlns:a16="http://schemas.microsoft.com/office/drawing/2014/main" id="{D683F4E3-1353-1CD4-4ED6-C4ED63036DEF}"/>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vi-VN"/>
            </a:p>
          </p:txBody>
        </p:sp>
      </p:grpSp>
      <p:grpSp>
        <p:nvGrpSpPr>
          <p:cNvPr id="10" name="Group 10">
            <a:extLst>
              <a:ext uri="{FF2B5EF4-FFF2-40B4-BE49-F238E27FC236}">
                <a16:creationId xmlns:a16="http://schemas.microsoft.com/office/drawing/2014/main" id="{06F41384-77E1-59D4-F75B-D4A8D117DCF7}"/>
              </a:ext>
            </a:extLst>
          </p:cNvPr>
          <p:cNvGrpSpPr/>
          <p:nvPr/>
        </p:nvGrpSpPr>
        <p:grpSpPr>
          <a:xfrm rot="-10800000">
            <a:off x="15663004" y="9258300"/>
            <a:ext cx="3194047" cy="4221147"/>
            <a:chOff x="0" y="0"/>
            <a:chExt cx="4064946" cy="5372100"/>
          </a:xfrm>
        </p:grpSpPr>
        <p:sp>
          <p:nvSpPr>
            <p:cNvPr id="11" name="Freeform 11">
              <a:extLst>
                <a:ext uri="{FF2B5EF4-FFF2-40B4-BE49-F238E27FC236}">
                  <a16:creationId xmlns:a16="http://schemas.microsoft.com/office/drawing/2014/main" id="{C5FD7EF0-3D8F-6A18-04D3-6864CDB66887}"/>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vi-VN"/>
            </a:p>
          </p:txBody>
        </p:sp>
      </p:grpSp>
      <p:sp>
        <p:nvSpPr>
          <p:cNvPr id="27" name="TextBox 27">
            <a:extLst>
              <a:ext uri="{FF2B5EF4-FFF2-40B4-BE49-F238E27FC236}">
                <a16:creationId xmlns:a16="http://schemas.microsoft.com/office/drawing/2014/main" id="{D211065D-AB08-F326-224A-B08795857AE7}"/>
              </a:ext>
            </a:extLst>
          </p:cNvPr>
          <p:cNvSpPr txBox="1"/>
          <p:nvPr/>
        </p:nvSpPr>
        <p:spPr>
          <a:xfrm>
            <a:off x="279400" y="807235"/>
            <a:ext cx="6789382" cy="982705"/>
          </a:xfrm>
          <a:prstGeom prst="rect">
            <a:avLst/>
          </a:prstGeom>
        </p:spPr>
        <p:txBody>
          <a:bodyPr wrap="square" lIns="0" tIns="0" rIns="0" bIns="0" rtlCol="0" anchor="t">
            <a:spAutoFit/>
          </a:bodyPr>
          <a:lstStyle/>
          <a:p>
            <a:pPr marL="0" lvl="0" indent="0" algn="l">
              <a:lnSpc>
                <a:spcPts val="8717"/>
              </a:lnSpc>
              <a:spcBef>
                <a:spcPct val="0"/>
              </a:spcBef>
            </a:pPr>
            <a:r>
              <a:rPr lang="en-US" sz="5000" b="1" u="none" dirty="0">
                <a:solidFill>
                  <a:srgbClr val="1836B2"/>
                </a:solidFill>
                <a:latin typeface="+mj-lt"/>
                <a:ea typeface="Cabin Semi-Bold"/>
                <a:cs typeface="Cabin Semi-Bold"/>
                <a:sym typeface="Cabin Semi-Bold"/>
              </a:rPr>
              <a:t> </a:t>
            </a:r>
            <a:r>
              <a:rPr lang="vi-VN" sz="5000" b="1" u="none" dirty="0">
                <a:solidFill>
                  <a:srgbClr val="1836B2"/>
                </a:solidFill>
                <a:latin typeface="+mj-lt"/>
                <a:ea typeface="Cabin Semi-Bold"/>
                <a:cs typeface="Cabin Semi-Bold"/>
                <a:sym typeface="Cabin Semi-Bold"/>
              </a:rPr>
              <a:t>Kết quả nghiên cứu </a:t>
            </a:r>
            <a:endParaRPr lang="en-US" sz="5000" b="1" u="none" dirty="0">
              <a:solidFill>
                <a:srgbClr val="1836B2"/>
              </a:solidFill>
              <a:latin typeface="+mj-lt"/>
              <a:ea typeface="Cabin Semi-Bold"/>
              <a:cs typeface="Cabin Semi-Bold"/>
              <a:sym typeface="Cabin Semi-Bold"/>
            </a:endParaRPr>
          </a:p>
        </p:txBody>
      </p:sp>
      <p:sp>
        <p:nvSpPr>
          <p:cNvPr id="4" name="TextBox 3">
            <a:extLst>
              <a:ext uri="{FF2B5EF4-FFF2-40B4-BE49-F238E27FC236}">
                <a16:creationId xmlns:a16="http://schemas.microsoft.com/office/drawing/2014/main" id="{12B12E01-67A9-F158-733B-C925DE199E48}"/>
              </a:ext>
            </a:extLst>
          </p:cNvPr>
          <p:cNvSpPr txBox="1"/>
          <p:nvPr/>
        </p:nvSpPr>
        <p:spPr>
          <a:xfrm>
            <a:off x="304800" y="2019300"/>
            <a:ext cx="8839200" cy="4154984"/>
          </a:xfrm>
          <a:prstGeom prst="rect">
            <a:avLst/>
          </a:prstGeom>
          <a:noFill/>
        </p:spPr>
        <p:txBody>
          <a:bodyPr wrap="square" rtlCol="0">
            <a:spAutoFit/>
          </a:bodyPr>
          <a:lstStyle/>
          <a:p>
            <a:pPr algn="just"/>
            <a:r>
              <a:rPr lang="vi-VN" sz="2200" dirty="0"/>
              <a:t>Trang "Lịch tự học &amp; lịch thi" hiển thị lịch tháng theo dõi thời hạn task và ngày thi, màu sắc phân loại cần làm, đang làm, hoàn thành, trễ hạn, nút "Xuất File Lịch (.ics)" tải về Google Calendar, mũi tên chuyển tháng, nút "Hôm nay" quay về ngày hiện tại.</a:t>
            </a:r>
          </a:p>
          <a:p>
            <a:pPr algn="just"/>
            <a:r>
              <a:rPr lang="vi-VN" sz="2200" dirty="0"/>
              <a:t>Trang "Ghi chú nhanh" quản lý ý tưởng và nội dung học tập, thanh tìm kiếm theo tiêu đề hoặc nội dung, nút "Viết Ghi Chú Mới" tạo ghi chú, nút "Ôn Tập AI Quiz" chuyển ghi chú thành câu hỏi trắc nghiệm tự động bằng AI Google Gemini.</a:t>
            </a:r>
          </a:p>
          <a:p>
            <a:pPr algn="just"/>
            <a:r>
              <a:rPr lang="vi-VN" sz="2200" dirty="0"/>
              <a:t>Trang "Mục tiêu &amp; Kế hoạch" thiết lập mục tiêu theo phương pháp OKR, đặt mục tiêu, đo lường tiến độ bằng chỉ số then chốt và liên kết với nhiệm vụ, nút "+ Kế hoạch mới" tạo kế hoạch đầu tiên, hiển thị thông báo khi chưa có kế hoạch nào.</a:t>
            </a:r>
          </a:p>
        </p:txBody>
      </p:sp>
      <p:sp>
        <p:nvSpPr>
          <p:cNvPr id="17" name="AutoShape 7">
            <a:extLst>
              <a:ext uri="{FF2B5EF4-FFF2-40B4-BE49-F238E27FC236}">
                <a16:creationId xmlns:a16="http://schemas.microsoft.com/office/drawing/2014/main" id="{0FDD5AEC-3CEA-77AC-378A-1CAA1AD3DF2E}"/>
              </a:ext>
            </a:extLst>
          </p:cNvPr>
          <p:cNvSpPr/>
          <p:nvPr/>
        </p:nvSpPr>
        <p:spPr>
          <a:xfrm flipH="1" flipV="1">
            <a:off x="1842269" y="-460919"/>
            <a:ext cx="16445731" cy="791631"/>
          </a:xfrm>
          <a:prstGeom prst="rect">
            <a:avLst/>
          </a:prstGeom>
          <a:solidFill>
            <a:srgbClr val="1836B2"/>
          </a:solidFill>
        </p:spPr>
        <p:txBody>
          <a:bodyPr/>
          <a:lstStyle/>
          <a:p>
            <a:endParaRPr lang="vi-VN"/>
          </a:p>
        </p:txBody>
      </p:sp>
      <p:grpSp>
        <p:nvGrpSpPr>
          <p:cNvPr id="18" name="Group 8">
            <a:extLst>
              <a:ext uri="{FF2B5EF4-FFF2-40B4-BE49-F238E27FC236}">
                <a16:creationId xmlns:a16="http://schemas.microsoft.com/office/drawing/2014/main" id="{C40BE20F-1668-6757-E925-427E2515F520}"/>
              </a:ext>
            </a:extLst>
          </p:cNvPr>
          <p:cNvGrpSpPr/>
          <p:nvPr/>
        </p:nvGrpSpPr>
        <p:grpSpPr>
          <a:xfrm rot="10800000" flipH="1" flipV="1">
            <a:off x="844552" y="-3390900"/>
            <a:ext cx="3194047" cy="4221147"/>
            <a:chOff x="0" y="0"/>
            <a:chExt cx="4064946" cy="5372100"/>
          </a:xfrm>
        </p:grpSpPr>
        <p:sp>
          <p:nvSpPr>
            <p:cNvPr id="19" name="Freeform 9">
              <a:extLst>
                <a:ext uri="{FF2B5EF4-FFF2-40B4-BE49-F238E27FC236}">
                  <a16:creationId xmlns:a16="http://schemas.microsoft.com/office/drawing/2014/main" id="{D683F4E3-1353-1CD4-4ED6-C4ED63036DEF}"/>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vi-VN"/>
            </a:p>
          </p:txBody>
        </p:sp>
      </p:grpSp>
      <p:grpSp>
        <p:nvGrpSpPr>
          <p:cNvPr id="20" name="Group 10">
            <a:extLst>
              <a:ext uri="{FF2B5EF4-FFF2-40B4-BE49-F238E27FC236}">
                <a16:creationId xmlns:a16="http://schemas.microsoft.com/office/drawing/2014/main" id="{06F41384-77E1-59D4-F75B-D4A8D117DCF7}"/>
              </a:ext>
            </a:extLst>
          </p:cNvPr>
          <p:cNvGrpSpPr/>
          <p:nvPr/>
        </p:nvGrpSpPr>
        <p:grpSpPr>
          <a:xfrm rot="10800000" flipH="1" flipV="1">
            <a:off x="-677320" y="-3390900"/>
            <a:ext cx="3194047" cy="4221147"/>
            <a:chOff x="0" y="0"/>
            <a:chExt cx="4064946" cy="5372100"/>
          </a:xfrm>
        </p:grpSpPr>
        <p:sp>
          <p:nvSpPr>
            <p:cNvPr id="21" name="Freeform 11">
              <a:extLst>
                <a:ext uri="{FF2B5EF4-FFF2-40B4-BE49-F238E27FC236}">
                  <a16:creationId xmlns:a16="http://schemas.microsoft.com/office/drawing/2014/main" id="{C5FD7EF0-3D8F-6A18-04D3-6864CDB66887}"/>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vi-VN"/>
            </a:p>
          </p:txBody>
        </p:sp>
      </p:grpSp>
      <p:pic>
        <p:nvPicPr>
          <p:cNvPr id="2" name="Picture 1">
            <a:extLst>
              <a:ext uri="{FF2B5EF4-FFF2-40B4-BE49-F238E27FC236}">
                <a16:creationId xmlns:a16="http://schemas.microsoft.com/office/drawing/2014/main" id="{F63A987E-8B22-4488-2D87-AEBEE09F1C8F}"/>
              </a:ext>
            </a:extLst>
          </p:cNvPr>
          <p:cNvPicPr>
            <a:picLocks noChangeAspect="1"/>
          </p:cNvPicPr>
          <p:nvPr/>
        </p:nvPicPr>
        <p:blipFill>
          <a:blip r:embed="rId3"/>
          <a:stretch>
            <a:fillRect/>
          </a:stretch>
        </p:blipFill>
        <p:spPr>
          <a:xfrm>
            <a:off x="10065134" y="1251747"/>
            <a:ext cx="6546466" cy="3446057"/>
          </a:xfrm>
          <a:prstGeom prst="rect">
            <a:avLst/>
          </a:prstGeom>
        </p:spPr>
      </p:pic>
      <p:pic>
        <p:nvPicPr>
          <p:cNvPr id="3" name="Picture 2">
            <a:extLst>
              <a:ext uri="{FF2B5EF4-FFF2-40B4-BE49-F238E27FC236}">
                <a16:creationId xmlns:a16="http://schemas.microsoft.com/office/drawing/2014/main" id="{F4B95EA3-EB2B-86D0-A1DD-291D745252FE}"/>
              </a:ext>
            </a:extLst>
          </p:cNvPr>
          <p:cNvPicPr>
            <a:picLocks noChangeAspect="1"/>
          </p:cNvPicPr>
          <p:nvPr/>
        </p:nvPicPr>
        <p:blipFill>
          <a:blip r:embed="rId4"/>
          <a:stretch>
            <a:fillRect/>
          </a:stretch>
        </p:blipFill>
        <p:spPr>
          <a:xfrm>
            <a:off x="10019553" y="5207423"/>
            <a:ext cx="7057572" cy="3593677"/>
          </a:xfrm>
          <a:prstGeom prst="rect">
            <a:avLst/>
          </a:prstGeom>
        </p:spPr>
      </p:pic>
      <p:pic>
        <p:nvPicPr>
          <p:cNvPr id="5" name="Picture 4">
            <a:extLst>
              <a:ext uri="{FF2B5EF4-FFF2-40B4-BE49-F238E27FC236}">
                <a16:creationId xmlns:a16="http://schemas.microsoft.com/office/drawing/2014/main" id="{00FA167E-E266-4E3E-5E31-FF6FBC234954}"/>
              </a:ext>
            </a:extLst>
          </p:cNvPr>
          <p:cNvPicPr>
            <a:picLocks noChangeAspect="1"/>
          </p:cNvPicPr>
          <p:nvPr/>
        </p:nvPicPr>
        <p:blipFill>
          <a:blip r:embed="rId5"/>
          <a:stretch>
            <a:fillRect/>
          </a:stretch>
        </p:blipFill>
        <p:spPr>
          <a:xfrm>
            <a:off x="533400" y="6500077"/>
            <a:ext cx="7393200" cy="3160565"/>
          </a:xfrm>
          <a:prstGeom prst="rect">
            <a:avLst/>
          </a:prstGeom>
        </p:spPr>
      </p:pic>
    </p:spTree>
    <p:extLst>
      <p:ext uri="{BB962C8B-B14F-4D97-AF65-F5344CB8AC3E}">
        <p14:creationId xmlns:p14="http://schemas.microsoft.com/office/powerpoint/2010/main" val="38966650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EE012D-4234-68E4-08CB-935E74B37D2A}"/>
            </a:ext>
          </a:extLst>
        </p:cNvPr>
        <p:cNvGrpSpPr/>
        <p:nvPr/>
      </p:nvGrpSpPr>
      <p:grpSpPr>
        <a:xfrm>
          <a:off x="0" y="0"/>
          <a:ext cx="0" cy="0"/>
          <a:chOff x="0" y="0"/>
          <a:chExt cx="0" cy="0"/>
        </a:xfrm>
      </p:grpSpPr>
      <p:sp>
        <p:nvSpPr>
          <p:cNvPr id="7" name="AutoShape 7">
            <a:extLst>
              <a:ext uri="{FF2B5EF4-FFF2-40B4-BE49-F238E27FC236}">
                <a16:creationId xmlns:a16="http://schemas.microsoft.com/office/drawing/2014/main" id="{0FDD5AEC-3CEA-77AC-378A-1CAA1AD3DF2E}"/>
              </a:ext>
            </a:extLst>
          </p:cNvPr>
          <p:cNvSpPr/>
          <p:nvPr/>
        </p:nvSpPr>
        <p:spPr>
          <a:xfrm>
            <a:off x="0" y="9986435"/>
            <a:ext cx="16445731" cy="791631"/>
          </a:xfrm>
          <a:prstGeom prst="rect">
            <a:avLst/>
          </a:prstGeom>
          <a:solidFill>
            <a:srgbClr val="1836B2"/>
          </a:solidFill>
        </p:spPr>
        <p:txBody>
          <a:bodyPr/>
          <a:lstStyle/>
          <a:p>
            <a:endParaRPr lang="vi-VN"/>
          </a:p>
        </p:txBody>
      </p:sp>
      <p:grpSp>
        <p:nvGrpSpPr>
          <p:cNvPr id="8" name="Group 8">
            <a:extLst>
              <a:ext uri="{FF2B5EF4-FFF2-40B4-BE49-F238E27FC236}">
                <a16:creationId xmlns:a16="http://schemas.microsoft.com/office/drawing/2014/main" id="{C40BE20F-1668-6757-E925-427E2515F520}"/>
              </a:ext>
            </a:extLst>
          </p:cNvPr>
          <p:cNvGrpSpPr/>
          <p:nvPr/>
        </p:nvGrpSpPr>
        <p:grpSpPr>
          <a:xfrm rot="-10800000">
            <a:off x="14141132" y="9258300"/>
            <a:ext cx="3194047" cy="4221147"/>
            <a:chOff x="0" y="0"/>
            <a:chExt cx="4064946" cy="5372100"/>
          </a:xfrm>
        </p:grpSpPr>
        <p:sp>
          <p:nvSpPr>
            <p:cNvPr id="9" name="Freeform 9">
              <a:extLst>
                <a:ext uri="{FF2B5EF4-FFF2-40B4-BE49-F238E27FC236}">
                  <a16:creationId xmlns:a16="http://schemas.microsoft.com/office/drawing/2014/main" id="{D683F4E3-1353-1CD4-4ED6-C4ED63036DEF}"/>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vi-VN"/>
            </a:p>
          </p:txBody>
        </p:sp>
      </p:grpSp>
      <p:grpSp>
        <p:nvGrpSpPr>
          <p:cNvPr id="10" name="Group 10">
            <a:extLst>
              <a:ext uri="{FF2B5EF4-FFF2-40B4-BE49-F238E27FC236}">
                <a16:creationId xmlns:a16="http://schemas.microsoft.com/office/drawing/2014/main" id="{06F41384-77E1-59D4-F75B-D4A8D117DCF7}"/>
              </a:ext>
            </a:extLst>
          </p:cNvPr>
          <p:cNvGrpSpPr/>
          <p:nvPr/>
        </p:nvGrpSpPr>
        <p:grpSpPr>
          <a:xfrm rot="-10800000">
            <a:off x="15663004" y="9258300"/>
            <a:ext cx="3194047" cy="4221147"/>
            <a:chOff x="0" y="0"/>
            <a:chExt cx="4064946" cy="5372100"/>
          </a:xfrm>
        </p:grpSpPr>
        <p:sp>
          <p:nvSpPr>
            <p:cNvPr id="11" name="Freeform 11">
              <a:extLst>
                <a:ext uri="{FF2B5EF4-FFF2-40B4-BE49-F238E27FC236}">
                  <a16:creationId xmlns:a16="http://schemas.microsoft.com/office/drawing/2014/main" id="{C5FD7EF0-3D8F-6A18-04D3-6864CDB66887}"/>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vi-VN"/>
            </a:p>
          </p:txBody>
        </p:sp>
      </p:grpSp>
      <p:sp>
        <p:nvSpPr>
          <p:cNvPr id="27" name="TextBox 27">
            <a:extLst>
              <a:ext uri="{FF2B5EF4-FFF2-40B4-BE49-F238E27FC236}">
                <a16:creationId xmlns:a16="http://schemas.microsoft.com/office/drawing/2014/main" id="{D211065D-AB08-F326-224A-B08795857AE7}"/>
              </a:ext>
            </a:extLst>
          </p:cNvPr>
          <p:cNvSpPr txBox="1"/>
          <p:nvPr/>
        </p:nvSpPr>
        <p:spPr>
          <a:xfrm>
            <a:off x="279400" y="807235"/>
            <a:ext cx="6789382" cy="982705"/>
          </a:xfrm>
          <a:prstGeom prst="rect">
            <a:avLst/>
          </a:prstGeom>
        </p:spPr>
        <p:txBody>
          <a:bodyPr wrap="square" lIns="0" tIns="0" rIns="0" bIns="0" rtlCol="0" anchor="t">
            <a:spAutoFit/>
          </a:bodyPr>
          <a:lstStyle/>
          <a:p>
            <a:pPr marL="0" lvl="0" indent="0" algn="l">
              <a:lnSpc>
                <a:spcPts val="8717"/>
              </a:lnSpc>
              <a:spcBef>
                <a:spcPct val="0"/>
              </a:spcBef>
            </a:pPr>
            <a:r>
              <a:rPr lang="vi-VN" sz="5000" b="1" u="none" dirty="0">
                <a:solidFill>
                  <a:srgbClr val="1836B2"/>
                </a:solidFill>
                <a:latin typeface="+mj-lt"/>
                <a:ea typeface="Cabin Semi-Bold"/>
                <a:cs typeface="Cabin Semi-Bold"/>
                <a:sym typeface="Cabin Semi-Bold"/>
              </a:rPr>
              <a:t>Kết quả nghiên cứu </a:t>
            </a:r>
            <a:endParaRPr lang="en-US" sz="5000" b="1" u="none" dirty="0">
              <a:solidFill>
                <a:srgbClr val="1836B2"/>
              </a:solidFill>
              <a:latin typeface="+mj-lt"/>
              <a:ea typeface="Cabin Semi-Bold"/>
              <a:cs typeface="Cabin Semi-Bold"/>
              <a:sym typeface="Cabin Semi-Bold"/>
            </a:endParaRPr>
          </a:p>
        </p:txBody>
      </p:sp>
      <p:sp>
        <p:nvSpPr>
          <p:cNvPr id="4" name="TextBox 3">
            <a:extLst>
              <a:ext uri="{FF2B5EF4-FFF2-40B4-BE49-F238E27FC236}">
                <a16:creationId xmlns:a16="http://schemas.microsoft.com/office/drawing/2014/main" id="{12B12E01-67A9-F158-733B-C925DE199E48}"/>
              </a:ext>
            </a:extLst>
          </p:cNvPr>
          <p:cNvSpPr txBox="1"/>
          <p:nvPr/>
        </p:nvSpPr>
        <p:spPr>
          <a:xfrm>
            <a:off x="304800" y="2019300"/>
            <a:ext cx="9296400" cy="4154984"/>
          </a:xfrm>
          <a:prstGeom prst="rect">
            <a:avLst/>
          </a:prstGeom>
          <a:noFill/>
        </p:spPr>
        <p:txBody>
          <a:bodyPr wrap="square" rtlCol="0">
            <a:spAutoFit/>
          </a:bodyPr>
          <a:lstStyle/>
          <a:p>
            <a:pPr algn="just"/>
            <a:r>
              <a:rPr lang="vi-VN" sz="2200" dirty="0"/>
              <a:t>Trang "Dashboard quản trị" hiển thị tổng quan hệ thống: 7 người dùng, 14 công việc, 10 đang hoạt động, 3 hoàn thành, 1 quá hạn  biểu đồ xu hướng 30 ngày, phân bố theo danh mục, trạng thái công việc, top người dùng tích cực nút "Xuất dữ liệu" tải báo cáo.</a:t>
            </a:r>
          </a:p>
          <a:p>
            <a:pPr algn="just"/>
            <a:r>
              <a:rPr lang="vi-VN" sz="2200" dirty="0"/>
              <a:t>Trang "Phân Tích &amp; Báo Cáo" theo dõi xu hướng, phân tích năng suất AI, lộ trình Gantt và nhắc nhock deadline  bộ lọc 7 ngày, 30 ngày, 12 tháng phần "Phân tích năng suất AI" đánh giá tổng quan và gợi ý cải thiện dựa trên dữ liệu thực tế  nút "Xuất PDF" tải báo cáo.</a:t>
            </a:r>
          </a:p>
          <a:p>
            <a:pPr algn="just"/>
            <a:r>
              <a:rPr lang="vi-VN" sz="2200" dirty="0"/>
              <a:t>Trang "Hồ Sơ Cá Nhân" quản lý thông tin tài khoản: tên, email, mật khẩu thống kê: tổng task, hoàn thành, đang làm, quá hạn —vòng tròn hiệu suất nút "Lưu Thay Đổi" cập nhật thông tin  nút "Đăng xuất" </a:t>
            </a:r>
            <a:r>
              <a:rPr lang="ja-JP" altLang="en-US" sz="2200" dirty="0"/>
              <a:t> </a:t>
            </a:r>
            <a:r>
              <a:rPr lang="vi-VN" sz="2200" dirty="0"/>
              <a:t>hiển thị "Bảng nhiệt &amp; Đóng góp" theo dõi hoạt động 365 ngày.</a:t>
            </a:r>
          </a:p>
        </p:txBody>
      </p:sp>
      <p:sp>
        <p:nvSpPr>
          <p:cNvPr id="20" name="AutoShape 7">
            <a:extLst>
              <a:ext uri="{FF2B5EF4-FFF2-40B4-BE49-F238E27FC236}">
                <a16:creationId xmlns:a16="http://schemas.microsoft.com/office/drawing/2014/main" id="{0FDD5AEC-3CEA-77AC-378A-1CAA1AD3DF2E}"/>
              </a:ext>
            </a:extLst>
          </p:cNvPr>
          <p:cNvSpPr/>
          <p:nvPr/>
        </p:nvSpPr>
        <p:spPr>
          <a:xfrm flipH="1" flipV="1">
            <a:off x="1842269" y="-460919"/>
            <a:ext cx="16445731" cy="791631"/>
          </a:xfrm>
          <a:prstGeom prst="rect">
            <a:avLst/>
          </a:prstGeom>
          <a:solidFill>
            <a:srgbClr val="1836B2"/>
          </a:solidFill>
        </p:spPr>
        <p:txBody>
          <a:bodyPr/>
          <a:lstStyle/>
          <a:p>
            <a:endParaRPr lang="vi-VN"/>
          </a:p>
        </p:txBody>
      </p:sp>
      <p:grpSp>
        <p:nvGrpSpPr>
          <p:cNvPr id="21" name="Group 8">
            <a:extLst>
              <a:ext uri="{FF2B5EF4-FFF2-40B4-BE49-F238E27FC236}">
                <a16:creationId xmlns:a16="http://schemas.microsoft.com/office/drawing/2014/main" id="{C40BE20F-1668-6757-E925-427E2515F520}"/>
              </a:ext>
            </a:extLst>
          </p:cNvPr>
          <p:cNvGrpSpPr/>
          <p:nvPr/>
        </p:nvGrpSpPr>
        <p:grpSpPr>
          <a:xfrm rot="10800000" flipH="1" flipV="1">
            <a:off x="844552" y="-3390900"/>
            <a:ext cx="3194047" cy="4221147"/>
            <a:chOff x="0" y="0"/>
            <a:chExt cx="4064946" cy="5372100"/>
          </a:xfrm>
        </p:grpSpPr>
        <p:sp>
          <p:nvSpPr>
            <p:cNvPr id="22" name="Freeform 9">
              <a:extLst>
                <a:ext uri="{FF2B5EF4-FFF2-40B4-BE49-F238E27FC236}">
                  <a16:creationId xmlns:a16="http://schemas.microsoft.com/office/drawing/2014/main" id="{D683F4E3-1353-1CD4-4ED6-C4ED63036DEF}"/>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vi-VN"/>
            </a:p>
          </p:txBody>
        </p:sp>
      </p:grpSp>
      <p:grpSp>
        <p:nvGrpSpPr>
          <p:cNvPr id="23" name="Group 10">
            <a:extLst>
              <a:ext uri="{FF2B5EF4-FFF2-40B4-BE49-F238E27FC236}">
                <a16:creationId xmlns:a16="http://schemas.microsoft.com/office/drawing/2014/main" id="{06F41384-77E1-59D4-F75B-D4A8D117DCF7}"/>
              </a:ext>
            </a:extLst>
          </p:cNvPr>
          <p:cNvGrpSpPr/>
          <p:nvPr/>
        </p:nvGrpSpPr>
        <p:grpSpPr>
          <a:xfrm rot="10800000" flipH="1" flipV="1">
            <a:off x="-677320" y="-3390900"/>
            <a:ext cx="3194047" cy="4221147"/>
            <a:chOff x="0" y="0"/>
            <a:chExt cx="4064946" cy="5372100"/>
          </a:xfrm>
        </p:grpSpPr>
        <p:sp>
          <p:nvSpPr>
            <p:cNvPr id="24" name="Freeform 11">
              <a:extLst>
                <a:ext uri="{FF2B5EF4-FFF2-40B4-BE49-F238E27FC236}">
                  <a16:creationId xmlns:a16="http://schemas.microsoft.com/office/drawing/2014/main" id="{C5FD7EF0-3D8F-6A18-04D3-6864CDB66887}"/>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vi-VN"/>
            </a:p>
          </p:txBody>
        </p:sp>
      </p:grpSp>
      <p:pic>
        <p:nvPicPr>
          <p:cNvPr id="2" name="Picture 1">
            <a:extLst>
              <a:ext uri="{FF2B5EF4-FFF2-40B4-BE49-F238E27FC236}">
                <a16:creationId xmlns:a16="http://schemas.microsoft.com/office/drawing/2014/main" id="{C28C180B-B089-B4DA-CE02-50BAFD061607}"/>
              </a:ext>
            </a:extLst>
          </p:cNvPr>
          <p:cNvPicPr>
            <a:picLocks noChangeAspect="1"/>
          </p:cNvPicPr>
          <p:nvPr/>
        </p:nvPicPr>
        <p:blipFill>
          <a:blip r:embed="rId3"/>
          <a:stretch>
            <a:fillRect/>
          </a:stretch>
        </p:blipFill>
        <p:spPr>
          <a:xfrm>
            <a:off x="10439399" y="1347621"/>
            <a:ext cx="6884975" cy="3134591"/>
          </a:xfrm>
          <a:prstGeom prst="rect">
            <a:avLst/>
          </a:prstGeom>
        </p:spPr>
      </p:pic>
      <p:pic>
        <p:nvPicPr>
          <p:cNvPr id="3" name="Picture 2">
            <a:extLst>
              <a:ext uri="{FF2B5EF4-FFF2-40B4-BE49-F238E27FC236}">
                <a16:creationId xmlns:a16="http://schemas.microsoft.com/office/drawing/2014/main" id="{8534491B-4D88-5C0B-A085-1664D8C104C8}"/>
              </a:ext>
            </a:extLst>
          </p:cNvPr>
          <p:cNvPicPr>
            <a:picLocks noChangeAspect="1"/>
          </p:cNvPicPr>
          <p:nvPr/>
        </p:nvPicPr>
        <p:blipFill>
          <a:blip r:embed="rId4"/>
          <a:stretch>
            <a:fillRect/>
          </a:stretch>
        </p:blipFill>
        <p:spPr>
          <a:xfrm>
            <a:off x="10533770" y="5700756"/>
            <a:ext cx="6801409" cy="3067135"/>
          </a:xfrm>
          <a:prstGeom prst="rect">
            <a:avLst/>
          </a:prstGeom>
        </p:spPr>
      </p:pic>
      <p:pic>
        <p:nvPicPr>
          <p:cNvPr id="5" name="Picture 4">
            <a:extLst>
              <a:ext uri="{FF2B5EF4-FFF2-40B4-BE49-F238E27FC236}">
                <a16:creationId xmlns:a16="http://schemas.microsoft.com/office/drawing/2014/main" id="{8D9D5957-14C4-E872-A777-A053C5DB34EA}"/>
              </a:ext>
            </a:extLst>
          </p:cNvPr>
          <p:cNvPicPr>
            <a:picLocks noChangeAspect="1"/>
          </p:cNvPicPr>
          <p:nvPr/>
        </p:nvPicPr>
        <p:blipFill>
          <a:blip r:embed="rId5"/>
          <a:stretch>
            <a:fillRect/>
          </a:stretch>
        </p:blipFill>
        <p:spPr>
          <a:xfrm>
            <a:off x="827619" y="6459212"/>
            <a:ext cx="7128669" cy="3242295"/>
          </a:xfrm>
          <a:prstGeom prst="rect">
            <a:avLst/>
          </a:prstGeom>
        </p:spPr>
      </p:pic>
    </p:spTree>
    <p:extLst>
      <p:ext uri="{BB962C8B-B14F-4D97-AF65-F5344CB8AC3E}">
        <p14:creationId xmlns:p14="http://schemas.microsoft.com/office/powerpoint/2010/main" val="32451450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73353-AE97-3794-4DF8-A2BCE8BB1A75}"/>
            </a:ext>
          </a:extLst>
        </p:cNvPr>
        <p:cNvGrpSpPr/>
        <p:nvPr/>
      </p:nvGrpSpPr>
      <p:grpSpPr>
        <a:xfrm>
          <a:off x="0" y="0"/>
          <a:ext cx="0" cy="0"/>
          <a:chOff x="0" y="0"/>
          <a:chExt cx="0" cy="0"/>
        </a:xfrm>
      </p:grpSpPr>
      <p:sp>
        <p:nvSpPr>
          <p:cNvPr id="7" name="AutoShape 7">
            <a:extLst>
              <a:ext uri="{FF2B5EF4-FFF2-40B4-BE49-F238E27FC236}">
                <a16:creationId xmlns:a16="http://schemas.microsoft.com/office/drawing/2014/main" id="{2ABDB4CA-555E-B3C7-AC07-9425A8FA7313}"/>
              </a:ext>
            </a:extLst>
          </p:cNvPr>
          <p:cNvSpPr/>
          <p:nvPr/>
        </p:nvSpPr>
        <p:spPr>
          <a:xfrm>
            <a:off x="1537469" y="9986435"/>
            <a:ext cx="16445731" cy="791631"/>
          </a:xfrm>
          <a:prstGeom prst="rect">
            <a:avLst/>
          </a:prstGeom>
          <a:solidFill>
            <a:srgbClr val="1836B2"/>
          </a:solidFill>
        </p:spPr>
        <p:txBody>
          <a:bodyPr/>
          <a:lstStyle/>
          <a:p>
            <a:endParaRPr lang="vi-VN"/>
          </a:p>
        </p:txBody>
      </p:sp>
      <p:grpSp>
        <p:nvGrpSpPr>
          <p:cNvPr id="8" name="Group 8">
            <a:extLst>
              <a:ext uri="{FF2B5EF4-FFF2-40B4-BE49-F238E27FC236}">
                <a16:creationId xmlns:a16="http://schemas.microsoft.com/office/drawing/2014/main" id="{154F636E-5789-ABEE-40A8-4ECB49ABC8B7}"/>
              </a:ext>
            </a:extLst>
          </p:cNvPr>
          <p:cNvGrpSpPr/>
          <p:nvPr/>
        </p:nvGrpSpPr>
        <p:grpSpPr>
          <a:xfrm rot="-10800000">
            <a:off x="-685799" y="9258300"/>
            <a:ext cx="3194047" cy="4221147"/>
            <a:chOff x="0" y="0"/>
            <a:chExt cx="4064946" cy="5372100"/>
          </a:xfrm>
        </p:grpSpPr>
        <p:sp>
          <p:nvSpPr>
            <p:cNvPr id="9" name="Freeform 9">
              <a:extLst>
                <a:ext uri="{FF2B5EF4-FFF2-40B4-BE49-F238E27FC236}">
                  <a16:creationId xmlns:a16="http://schemas.microsoft.com/office/drawing/2014/main" id="{A61E71BF-25F0-B1F6-65D7-F96ABEDB7CBC}"/>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vi-VN"/>
            </a:p>
          </p:txBody>
        </p:sp>
      </p:grpSp>
      <p:grpSp>
        <p:nvGrpSpPr>
          <p:cNvPr id="10" name="Group 10">
            <a:extLst>
              <a:ext uri="{FF2B5EF4-FFF2-40B4-BE49-F238E27FC236}">
                <a16:creationId xmlns:a16="http://schemas.microsoft.com/office/drawing/2014/main" id="{401E4E9A-4C50-F0B3-0CFA-CEDE470F3F5C}"/>
              </a:ext>
            </a:extLst>
          </p:cNvPr>
          <p:cNvGrpSpPr/>
          <p:nvPr/>
        </p:nvGrpSpPr>
        <p:grpSpPr>
          <a:xfrm rot="-10800000">
            <a:off x="836073" y="9258300"/>
            <a:ext cx="3194047" cy="4221147"/>
            <a:chOff x="0" y="0"/>
            <a:chExt cx="4064946" cy="5372100"/>
          </a:xfrm>
        </p:grpSpPr>
        <p:sp>
          <p:nvSpPr>
            <p:cNvPr id="11" name="Freeform 11">
              <a:extLst>
                <a:ext uri="{FF2B5EF4-FFF2-40B4-BE49-F238E27FC236}">
                  <a16:creationId xmlns:a16="http://schemas.microsoft.com/office/drawing/2014/main" id="{EB31E9CB-6DE9-7635-2B17-0068AFB450DF}"/>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vi-VN"/>
            </a:p>
          </p:txBody>
        </p:sp>
      </p:grpSp>
      <p:sp>
        <p:nvSpPr>
          <p:cNvPr id="27" name="TextBox 27">
            <a:extLst>
              <a:ext uri="{FF2B5EF4-FFF2-40B4-BE49-F238E27FC236}">
                <a16:creationId xmlns:a16="http://schemas.microsoft.com/office/drawing/2014/main" id="{B51128AE-9AFE-D91A-92DC-FFC724CC4B7F}"/>
              </a:ext>
            </a:extLst>
          </p:cNvPr>
          <p:cNvSpPr txBox="1"/>
          <p:nvPr/>
        </p:nvSpPr>
        <p:spPr>
          <a:xfrm>
            <a:off x="525818" y="1132210"/>
            <a:ext cx="12351982" cy="982705"/>
          </a:xfrm>
          <a:prstGeom prst="rect">
            <a:avLst/>
          </a:prstGeom>
        </p:spPr>
        <p:txBody>
          <a:bodyPr wrap="square" lIns="0" tIns="0" rIns="0" bIns="0" rtlCol="0" anchor="t">
            <a:spAutoFit/>
          </a:bodyPr>
          <a:lstStyle/>
          <a:p>
            <a:pPr marL="0" lvl="0" indent="0" algn="l">
              <a:lnSpc>
                <a:spcPts val="8717"/>
              </a:lnSpc>
              <a:spcBef>
                <a:spcPct val="0"/>
              </a:spcBef>
            </a:pPr>
            <a:r>
              <a:rPr lang="en-US" sz="5000" b="1" u="none" dirty="0">
                <a:solidFill>
                  <a:srgbClr val="1836B2"/>
                </a:solidFill>
                <a:latin typeface="+mj-lt"/>
                <a:ea typeface="Cabin Semi-Bold"/>
                <a:cs typeface="Cabin Semi-Bold"/>
                <a:sym typeface="Cabin Semi-Bold"/>
              </a:rPr>
              <a:t> </a:t>
            </a:r>
            <a:r>
              <a:rPr lang="vi-VN" sz="5000" b="1" u="none" dirty="0">
                <a:solidFill>
                  <a:srgbClr val="1836B2"/>
                </a:solidFill>
                <a:latin typeface="+mj-lt"/>
                <a:ea typeface="Cabin Semi-Bold"/>
                <a:cs typeface="Cabin Semi-Bold"/>
                <a:sym typeface="Cabin Semi-Bold"/>
              </a:rPr>
              <a:t>Kết luận và Phương hướng phát triển</a:t>
            </a:r>
            <a:endParaRPr lang="en-US" sz="5000" b="1" u="none" dirty="0">
              <a:solidFill>
                <a:srgbClr val="1836B2"/>
              </a:solidFill>
              <a:latin typeface="+mj-lt"/>
              <a:ea typeface="Cabin Semi-Bold"/>
              <a:cs typeface="Cabin Semi-Bold"/>
              <a:sym typeface="Cabin Semi-Bold"/>
            </a:endParaRPr>
          </a:p>
        </p:txBody>
      </p:sp>
      <p:sp>
        <p:nvSpPr>
          <p:cNvPr id="4" name="TextBox 3">
            <a:extLst>
              <a:ext uri="{FF2B5EF4-FFF2-40B4-BE49-F238E27FC236}">
                <a16:creationId xmlns:a16="http://schemas.microsoft.com/office/drawing/2014/main" id="{A03D4972-5B6A-CFCB-4E59-9C3672A75E7C}"/>
              </a:ext>
            </a:extLst>
          </p:cNvPr>
          <p:cNvSpPr txBox="1"/>
          <p:nvPr/>
        </p:nvSpPr>
        <p:spPr>
          <a:xfrm>
            <a:off x="827606" y="2316454"/>
            <a:ext cx="10134600" cy="6740307"/>
          </a:xfrm>
          <a:prstGeom prst="rect">
            <a:avLst/>
          </a:prstGeom>
          <a:noFill/>
        </p:spPr>
        <p:txBody>
          <a:bodyPr wrap="square" rtlCol="0">
            <a:spAutoFit/>
          </a:bodyPr>
          <a:lstStyle/>
          <a:p>
            <a:pPr algn="just"/>
            <a:r>
              <a:rPr lang="en-US" sz="2400" b="1" dirty="0" err="1"/>
              <a:t>Kết</a:t>
            </a:r>
            <a:r>
              <a:rPr lang="en-US" sz="2400" b="1" dirty="0"/>
              <a:t> </a:t>
            </a:r>
            <a:r>
              <a:rPr lang="en-US" sz="2400" b="1" dirty="0" err="1"/>
              <a:t>luận</a:t>
            </a:r>
            <a:endParaRPr lang="en-US" sz="2400" b="1" dirty="0"/>
          </a:p>
          <a:p>
            <a:pPr algn="just"/>
            <a:r>
              <a:rPr lang="en-US" sz="2400" dirty="0"/>
              <a:t>• Hoàn </a:t>
            </a:r>
            <a:r>
              <a:rPr lang="en-US" sz="2400" dirty="0" err="1"/>
              <a:t>thành</a:t>
            </a:r>
            <a:r>
              <a:rPr lang="en-US" sz="2400" dirty="0"/>
              <a:t> </a:t>
            </a:r>
            <a:r>
              <a:rPr lang="en-US" sz="2400" dirty="0" err="1"/>
              <a:t>hệ</a:t>
            </a:r>
            <a:r>
              <a:rPr lang="en-US" sz="2400" dirty="0"/>
              <a:t> </a:t>
            </a:r>
            <a:r>
              <a:rPr lang="en-US" sz="2400" dirty="0" err="1"/>
              <a:t>thống</a:t>
            </a:r>
            <a:r>
              <a:rPr lang="en-US" sz="2400" dirty="0"/>
              <a:t> </a:t>
            </a:r>
            <a:r>
              <a:rPr lang="en-US" sz="2400" dirty="0" err="1"/>
              <a:t>quản</a:t>
            </a:r>
            <a:r>
              <a:rPr lang="en-US" sz="2400" dirty="0"/>
              <a:t> </a:t>
            </a:r>
            <a:r>
              <a:rPr lang="en-US" sz="2400" dirty="0" err="1"/>
              <a:t>lý</a:t>
            </a:r>
            <a:r>
              <a:rPr lang="en-US" sz="2400" dirty="0"/>
              <a:t> </a:t>
            </a:r>
            <a:r>
              <a:rPr lang="en-US" sz="2400" dirty="0" err="1"/>
              <a:t>công</a:t>
            </a:r>
            <a:r>
              <a:rPr lang="en-US" sz="2400" dirty="0"/>
              <a:t> </a:t>
            </a:r>
            <a:r>
              <a:rPr lang="en-US" sz="2400" dirty="0" err="1"/>
              <a:t>việc</a:t>
            </a:r>
            <a:r>
              <a:rPr lang="en-US" sz="2400" dirty="0"/>
              <a:t> </a:t>
            </a:r>
            <a:r>
              <a:rPr lang="en-US" sz="2400" dirty="0" err="1"/>
              <a:t>cá</a:t>
            </a:r>
            <a:r>
              <a:rPr lang="en-US" sz="2400" dirty="0"/>
              <a:t> </a:t>
            </a:r>
            <a:r>
              <a:rPr lang="en-US" sz="2400" dirty="0" err="1"/>
              <a:t>nhân</a:t>
            </a:r>
            <a:r>
              <a:rPr lang="en-US" sz="2400" dirty="0"/>
              <a:t> </a:t>
            </a:r>
            <a:r>
              <a:rPr lang="en-US" sz="2400" dirty="0" err="1"/>
              <a:t>với</a:t>
            </a:r>
            <a:r>
              <a:rPr lang="en-US" sz="2400" dirty="0"/>
              <a:t> 15+ </a:t>
            </a:r>
            <a:r>
              <a:rPr lang="en-US" sz="2400" dirty="0" err="1"/>
              <a:t>giao</a:t>
            </a:r>
            <a:r>
              <a:rPr lang="en-US" sz="2400" dirty="0"/>
              <a:t> </a:t>
            </a:r>
            <a:r>
              <a:rPr lang="en-US" sz="2400" dirty="0" err="1"/>
              <a:t>diện</a:t>
            </a:r>
            <a:r>
              <a:rPr lang="en-US" sz="2400" dirty="0"/>
              <a:t>, 50+ API, 29 </a:t>
            </a:r>
            <a:r>
              <a:rPr lang="en-US" sz="2400" dirty="0" err="1"/>
              <a:t>bảng</a:t>
            </a:r>
            <a:r>
              <a:rPr lang="en-US" sz="2400" dirty="0"/>
              <a:t> CSDL</a:t>
            </a:r>
          </a:p>
          <a:p>
            <a:pPr algn="just"/>
            <a:r>
              <a:rPr lang="en-US" sz="2400" dirty="0"/>
              <a:t>• </a:t>
            </a:r>
            <a:r>
              <a:rPr lang="en-US" sz="2400" dirty="0" err="1"/>
              <a:t>Tích</a:t>
            </a:r>
            <a:r>
              <a:rPr lang="en-US" sz="2400" dirty="0"/>
              <a:t> </a:t>
            </a:r>
            <a:r>
              <a:rPr lang="en-US" sz="2400" dirty="0" err="1"/>
              <a:t>hợp</a:t>
            </a:r>
            <a:r>
              <a:rPr lang="en-US" sz="2400" dirty="0"/>
              <a:t> </a:t>
            </a:r>
            <a:r>
              <a:rPr lang="en-US" sz="2400" dirty="0" err="1"/>
              <a:t>thành</a:t>
            </a:r>
            <a:r>
              <a:rPr lang="en-US" sz="2400" dirty="0"/>
              <a:t> </a:t>
            </a:r>
            <a:r>
              <a:rPr lang="en-US" sz="2400" dirty="0" err="1"/>
              <a:t>công</a:t>
            </a:r>
            <a:r>
              <a:rPr lang="en-US" sz="2400" dirty="0"/>
              <a:t> AI Google Gemini </a:t>
            </a:r>
            <a:r>
              <a:rPr lang="en-US" sz="2400" dirty="0" err="1"/>
              <a:t>hỗ</a:t>
            </a:r>
            <a:r>
              <a:rPr lang="en-US" sz="2400" dirty="0"/>
              <a:t> </a:t>
            </a:r>
            <a:r>
              <a:rPr lang="en-US" sz="2400" dirty="0" err="1"/>
              <a:t>trợ</a:t>
            </a:r>
            <a:r>
              <a:rPr lang="en-US" sz="2400" dirty="0"/>
              <a:t> </a:t>
            </a:r>
            <a:r>
              <a:rPr lang="en-US" sz="2400" dirty="0" err="1"/>
              <a:t>tiếng</a:t>
            </a:r>
            <a:r>
              <a:rPr lang="en-US" sz="2400" dirty="0"/>
              <a:t> Việt: </a:t>
            </a:r>
            <a:r>
              <a:rPr lang="en-US" sz="2400" dirty="0" err="1"/>
              <a:t>tạo</a:t>
            </a:r>
            <a:r>
              <a:rPr lang="en-US" sz="2400" dirty="0"/>
              <a:t> task, </a:t>
            </a:r>
            <a:r>
              <a:rPr lang="en-US" sz="2400" dirty="0" err="1"/>
              <a:t>phân</a:t>
            </a:r>
            <a:r>
              <a:rPr lang="en-US" sz="2400" dirty="0"/>
              <a:t> </a:t>
            </a:r>
            <a:r>
              <a:rPr lang="en-US" sz="2400" dirty="0" err="1"/>
              <a:t>rã</a:t>
            </a:r>
            <a:r>
              <a:rPr lang="en-US" sz="2400" dirty="0"/>
              <a:t> subtask, chatbot </a:t>
            </a:r>
            <a:r>
              <a:rPr lang="en-US" sz="2400" dirty="0" err="1"/>
              <a:t>cố</a:t>
            </a:r>
            <a:r>
              <a:rPr lang="en-US" sz="2400" dirty="0"/>
              <a:t> </a:t>
            </a:r>
            <a:r>
              <a:rPr lang="en-US" sz="2400" dirty="0" err="1"/>
              <a:t>vấn</a:t>
            </a:r>
            <a:endParaRPr lang="en-US" sz="2400" dirty="0"/>
          </a:p>
          <a:p>
            <a:pPr algn="just"/>
            <a:r>
              <a:rPr lang="en-US" sz="2400" dirty="0"/>
              <a:t>• </a:t>
            </a:r>
            <a:r>
              <a:rPr lang="en-US" sz="2400" dirty="0" err="1"/>
              <a:t>Ứng</a:t>
            </a:r>
            <a:r>
              <a:rPr lang="en-US" sz="2400" dirty="0"/>
              <a:t> </a:t>
            </a:r>
            <a:r>
              <a:rPr lang="en-US" sz="2400" dirty="0" err="1"/>
              <a:t>dụng</a:t>
            </a:r>
            <a:r>
              <a:rPr lang="en-US" sz="2400" dirty="0"/>
              <a:t> gamification: XP, Level, Badge, Streak, Leaderboard </a:t>
            </a:r>
            <a:r>
              <a:rPr lang="en-US" sz="2400" dirty="0" err="1"/>
              <a:t>tạo</a:t>
            </a:r>
            <a:r>
              <a:rPr lang="en-US" sz="2400" dirty="0"/>
              <a:t> </a:t>
            </a:r>
            <a:r>
              <a:rPr lang="en-US" sz="2400" dirty="0" err="1"/>
              <a:t>động</a:t>
            </a:r>
            <a:r>
              <a:rPr lang="en-US" sz="2400" dirty="0"/>
              <a:t> </a:t>
            </a:r>
            <a:r>
              <a:rPr lang="en-US" sz="2400" dirty="0" err="1"/>
              <a:t>lực</a:t>
            </a:r>
            <a:r>
              <a:rPr lang="en-US" sz="2400" dirty="0"/>
              <a:t> </a:t>
            </a:r>
            <a:r>
              <a:rPr lang="en-US" sz="2400" dirty="0" err="1"/>
              <a:t>sử</a:t>
            </a:r>
            <a:r>
              <a:rPr lang="en-US" sz="2400" dirty="0"/>
              <a:t> </a:t>
            </a:r>
            <a:r>
              <a:rPr lang="en-US" sz="2400" dirty="0" err="1"/>
              <a:t>dụng</a:t>
            </a:r>
            <a:endParaRPr lang="en-US" sz="2400" dirty="0"/>
          </a:p>
          <a:p>
            <a:pPr algn="just"/>
            <a:r>
              <a:rPr lang="en-US" sz="2400" dirty="0"/>
              <a:t>• Deploy </a:t>
            </a:r>
            <a:r>
              <a:rPr lang="en-US" sz="2400" dirty="0" err="1"/>
              <a:t>thành</a:t>
            </a:r>
            <a:r>
              <a:rPr lang="en-US" sz="2400" dirty="0"/>
              <a:t> </a:t>
            </a:r>
            <a:r>
              <a:rPr lang="en-US" sz="2400" dirty="0" err="1"/>
              <a:t>công</a:t>
            </a:r>
            <a:r>
              <a:rPr lang="en-US" sz="2400" dirty="0"/>
              <a:t> </a:t>
            </a:r>
            <a:r>
              <a:rPr lang="en-US" sz="2400" dirty="0" err="1"/>
              <a:t>lên</a:t>
            </a:r>
            <a:r>
              <a:rPr lang="en-US" sz="2400" dirty="0"/>
              <a:t> Render.com + </a:t>
            </a:r>
            <a:r>
              <a:rPr lang="en-US" sz="2400" dirty="0" err="1"/>
              <a:t>TiDB</a:t>
            </a:r>
            <a:r>
              <a:rPr lang="en-US" sz="2400" dirty="0"/>
              <a:t> Cloud + APK Android </a:t>
            </a:r>
            <a:r>
              <a:rPr lang="en-US" sz="2400" dirty="0" err="1"/>
              <a:t>miễn</a:t>
            </a:r>
            <a:r>
              <a:rPr lang="en-US" sz="2400" dirty="0"/>
              <a:t> </a:t>
            </a:r>
            <a:r>
              <a:rPr lang="en-US" sz="2400" dirty="0" err="1"/>
              <a:t>phí</a:t>
            </a:r>
            <a:r>
              <a:rPr lang="en-US" sz="2400" dirty="0"/>
              <a:t>, </a:t>
            </a:r>
            <a:r>
              <a:rPr lang="en-US" sz="2400" dirty="0" err="1"/>
              <a:t>mã</a:t>
            </a:r>
            <a:r>
              <a:rPr lang="en-US" sz="2400" dirty="0"/>
              <a:t> </a:t>
            </a:r>
            <a:r>
              <a:rPr lang="en-US" sz="2400" dirty="0" err="1"/>
              <a:t>nguồn</a:t>
            </a:r>
            <a:r>
              <a:rPr lang="en-US" sz="2400" dirty="0"/>
              <a:t> </a:t>
            </a:r>
            <a:r>
              <a:rPr lang="en-US" sz="2400" dirty="0" err="1"/>
              <a:t>mở</a:t>
            </a:r>
            <a:endParaRPr lang="en-US" sz="2400" dirty="0"/>
          </a:p>
          <a:p>
            <a:pPr algn="just"/>
            <a:r>
              <a:rPr lang="vi-VN" sz="2400" b="1" dirty="0"/>
              <a:t>Phương hướng phát triển</a:t>
            </a:r>
          </a:p>
          <a:p>
            <a:pPr algn="just"/>
            <a:r>
              <a:rPr lang="vi-VN" sz="2400" dirty="0"/>
              <a:t>• Phát triển ứng dụng di động native với Flutter hoặc React Native</a:t>
            </a:r>
          </a:p>
          <a:p>
            <a:pPr algn="just"/>
            <a:r>
              <a:rPr lang="vi-VN" sz="2400" dirty="0"/>
              <a:t>• Tích hợp chế độ offline-first bằng Service Worker sử dụng khi không có mạng</a:t>
            </a:r>
          </a:p>
          <a:p>
            <a:pPr algn="just"/>
            <a:r>
              <a:rPr lang="vi-VN" sz="2400" dirty="0"/>
              <a:t>• Thêm Push Notification nhắc nhở deadline tự động</a:t>
            </a:r>
          </a:p>
          <a:p>
            <a:pPr algn="just"/>
            <a:r>
              <a:rPr lang="vi-VN" sz="2400" dirty="0"/>
              <a:t>• Nâng cấp AI sang mô hình GPT-4 hoặc Gemini Ultra  phân tích hành vi thông minh hơn</a:t>
            </a:r>
          </a:p>
          <a:p>
            <a:pPr algn="just"/>
            <a:r>
              <a:rPr lang="vi-VN" sz="2400" dirty="0"/>
              <a:t>• Phát triển API mở với Swagger/OpenAPI  cho phép bên thứ ba tích hợp</a:t>
            </a:r>
          </a:p>
          <a:p>
            <a:pPr algn="just"/>
            <a:endParaRPr lang="en-US" sz="2400" dirty="0"/>
          </a:p>
        </p:txBody>
      </p:sp>
      <p:grpSp>
        <p:nvGrpSpPr>
          <p:cNvPr id="12" name="Group 3"/>
          <p:cNvGrpSpPr/>
          <p:nvPr/>
        </p:nvGrpSpPr>
        <p:grpSpPr>
          <a:xfrm>
            <a:off x="12321487" y="-1181100"/>
            <a:ext cx="9852713" cy="11676274"/>
            <a:chOff x="0" y="0"/>
            <a:chExt cx="13136951" cy="15568366"/>
          </a:xfrm>
        </p:grpSpPr>
        <p:sp>
          <p:nvSpPr>
            <p:cNvPr id="13" name="Freeform 4"/>
            <p:cNvSpPr/>
            <p:nvPr/>
          </p:nvSpPr>
          <p:spPr>
            <a:xfrm flipV="1">
              <a:off x="0" y="0"/>
              <a:ext cx="10199044" cy="5823319"/>
            </a:xfrm>
            <a:custGeom>
              <a:avLst/>
              <a:gdLst/>
              <a:ahLst/>
              <a:cxnLst/>
              <a:rect l="l" t="t" r="r" b="b"/>
              <a:pathLst>
                <a:path w="10199044" h="5823319">
                  <a:moveTo>
                    <a:pt x="0" y="5823319"/>
                  </a:moveTo>
                  <a:lnTo>
                    <a:pt x="10199044" y="5823319"/>
                  </a:lnTo>
                  <a:lnTo>
                    <a:pt x="10199044" y="0"/>
                  </a:lnTo>
                  <a:lnTo>
                    <a:pt x="0" y="0"/>
                  </a:lnTo>
                  <a:lnTo>
                    <a:pt x="0" y="5823319"/>
                  </a:lnTo>
                  <a:close/>
                </a:path>
              </a:pathLst>
            </a:custGeom>
            <a:blipFill>
              <a:blip r:embed="rId3">
                <a:extLst>
                  <a:ext uri="{96DAC541-7B7A-43D3-8B79-37D633B846F1}">
                    <asvg:svgBlip xmlns:asvg="http://schemas.microsoft.com/office/drawing/2016/SVG/main" r:embed="rId4"/>
                  </a:ext>
                </a:extLst>
              </a:blip>
              <a:stretch>
                <a:fillRect t="-51576"/>
              </a:stretch>
            </a:blipFill>
          </p:spPr>
          <p:txBody>
            <a:bodyPr/>
            <a:lstStyle/>
            <a:p>
              <a:endParaRPr lang="vi-VN"/>
            </a:p>
          </p:txBody>
        </p:sp>
        <p:grpSp>
          <p:nvGrpSpPr>
            <p:cNvPr id="14" name="Group 5"/>
            <p:cNvGrpSpPr/>
            <p:nvPr/>
          </p:nvGrpSpPr>
          <p:grpSpPr>
            <a:xfrm rot="-10800000">
              <a:off x="2115666" y="3513875"/>
              <a:ext cx="11021285" cy="12054491"/>
              <a:chOff x="0" y="0"/>
              <a:chExt cx="4911651" cy="5372100"/>
            </a:xfrm>
          </p:grpSpPr>
          <p:sp>
            <p:nvSpPr>
              <p:cNvPr id="15" name="Freeform 6"/>
              <p:cNvSpPr/>
              <p:nvPr/>
            </p:nvSpPr>
            <p:spPr>
              <a:xfrm>
                <a:off x="0" y="0"/>
                <a:ext cx="4911651" cy="5372100"/>
              </a:xfrm>
              <a:custGeom>
                <a:avLst/>
                <a:gdLst/>
                <a:ahLst/>
                <a:cxnLst/>
                <a:rect l="l" t="t" r="r" b="b"/>
                <a:pathLst>
                  <a:path w="4911651" h="5372100">
                    <a:moveTo>
                      <a:pt x="3360981" y="0"/>
                    </a:moveTo>
                    <a:lnTo>
                      <a:pt x="1550670" y="0"/>
                    </a:lnTo>
                    <a:lnTo>
                      <a:pt x="0" y="2686050"/>
                    </a:lnTo>
                    <a:lnTo>
                      <a:pt x="1550670" y="5372100"/>
                    </a:lnTo>
                    <a:lnTo>
                      <a:pt x="3360981" y="5372100"/>
                    </a:lnTo>
                    <a:lnTo>
                      <a:pt x="4911651" y="2686050"/>
                    </a:lnTo>
                    <a:lnTo>
                      <a:pt x="3360981" y="0"/>
                    </a:lnTo>
                    <a:close/>
                  </a:path>
                </a:pathLst>
              </a:custGeom>
              <a:solidFill>
                <a:srgbClr val="1836B2"/>
              </a:solidFill>
            </p:spPr>
            <p:txBody>
              <a:bodyPr/>
              <a:lstStyle/>
              <a:p>
                <a:endParaRPr lang="vi-VN"/>
              </a:p>
            </p:txBody>
          </p:sp>
        </p:grpSp>
      </p:grpSp>
    </p:spTree>
    <p:extLst>
      <p:ext uri="{BB962C8B-B14F-4D97-AF65-F5344CB8AC3E}">
        <p14:creationId xmlns:p14="http://schemas.microsoft.com/office/powerpoint/2010/main" val="4732646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5"/>
          <p:cNvSpPr txBox="1"/>
          <p:nvPr/>
        </p:nvSpPr>
        <p:spPr>
          <a:xfrm>
            <a:off x="1126067" y="4561210"/>
            <a:ext cx="16002000" cy="1115690"/>
          </a:xfrm>
          <a:prstGeom prst="rect">
            <a:avLst/>
          </a:prstGeom>
        </p:spPr>
        <p:txBody>
          <a:bodyPr wrap="square" lIns="0" tIns="0" rIns="0" bIns="0" rtlCol="0" anchor="t">
            <a:spAutoFit/>
          </a:bodyPr>
          <a:lstStyle/>
          <a:p>
            <a:pPr lvl="0" algn="ctr">
              <a:lnSpc>
                <a:spcPts val="8717"/>
              </a:lnSpc>
              <a:spcBef>
                <a:spcPct val="0"/>
              </a:spcBef>
            </a:pPr>
            <a:r>
              <a:rPr lang="vi-VN" sz="5000" b="1">
                <a:solidFill>
                  <a:srgbClr val="1836B2"/>
                </a:solidFill>
                <a:latin typeface="+mj-lt"/>
                <a:ea typeface="Cabin Semi-Bold"/>
                <a:cs typeface="Cabin Semi-Bold"/>
              </a:rPr>
              <a:t>XIN CẢM ƠN QUÝ THẦY CÔ ĐÃ LẮNG NGHE!</a:t>
            </a:r>
            <a:endParaRPr lang="en-US" sz="2800" b="1" u="none">
              <a:solidFill>
                <a:srgbClr val="1836B2"/>
              </a:solidFill>
              <a:latin typeface="Cabin Semi-Bold"/>
              <a:ea typeface="Cabin Semi-Bold"/>
              <a:cs typeface="Cabin Semi-Bold"/>
              <a:sym typeface="Cabin Semi-Bold"/>
            </a:endParaRPr>
          </a:p>
        </p:txBody>
      </p:sp>
      <p:grpSp>
        <p:nvGrpSpPr>
          <p:cNvPr id="7" name="Group 7"/>
          <p:cNvGrpSpPr/>
          <p:nvPr/>
        </p:nvGrpSpPr>
        <p:grpSpPr>
          <a:xfrm rot="-10800000">
            <a:off x="2314816" y="-2086793"/>
            <a:ext cx="6208021" cy="4173585"/>
            <a:chOff x="0" y="0"/>
            <a:chExt cx="7990758" cy="5372100"/>
          </a:xfrm>
        </p:grpSpPr>
        <p:sp>
          <p:nvSpPr>
            <p:cNvPr id="8" name="Freeform 8"/>
            <p:cNvSpPr/>
            <p:nvPr/>
          </p:nvSpPr>
          <p:spPr>
            <a:xfrm>
              <a:off x="0" y="0"/>
              <a:ext cx="7990758" cy="5372100"/>
            </a:xfrm>
            <a:custGeom>
              <a:avLst/>
              <a:gdLst/>
              <a:ahLst/>
              <a:cxnLst/>
              <a:rect l="l" t="t" r="r" b="b"/>
              <a:pathLst>
                <a:path w="7990758" h="5372100">
                  <a:moveTo>
                    <a:pt x="6440088" y="0"/>
                  </a:moveTo>
                  <a:lnTo>
                    <a:pt x="1550670" y="0"/>
                  </a:lnTo>
                  <a:lnTo>
                    <a:pt x="0" y="2686050"/>
                  </a:lnTo>
                  <a:lnTo>
                    <a:pt x="1550670" y="5372100"/>
                  </a:lnTo>
                  <a:lnTo>
                    <a:pt x="6440088" y="5372100"/>
                  </a:lnTo>
                  <a:lnTo>
                    <a:pt x="7990758" y="2686050"/>
                  </a:lnTo>
                  <a:lnTo>
                    <a:pt x="6440088" y="0"/>
                  </a:lnTo>
                  <a:close/>
                </a:path>
              </a:pathLst>
            </a:custGeom>
            <a:solidFill>
              <a:srgbClr val="1836B2"/>
            </a:solidFill>
          </p:spPr>
          <p:txBody>
            <a:bodyPr/>
            <a:lstStyle/>
            <a:p>
              <a:endParaRPr lang="vi-VN"/>
            </a:p>
          </p:txBody>
        </p:sp>
      </p:grpSp>
      <p:grpSp>
        <p:nvGrpSpPr>
          <p:cNvPr id="9" name="Group 9"/>
          <p:cNvGrpSpPr/>
          <p:nvPr/>
        </p:nvGrpSpPr>
        <p:grpSpPr>
          <a:xfrm rot="-10800000">
            <a:off x="-1093063" y="7283541"/>
            <a:ext cx="2963586" cy="3459503"/>
            <a:chOff x="0" y="0"/>
            <a:chExt cx="4602013" cy="5372100"/>
          </a:xfrm>
        </p:grpSpPr>
        <p:sp>
          <p:nvSpPr>
            <p:cNvPr id="10" name="Freeform 10"/>
            <p:cNvSpPr/>
            <p:nvPr/>
          </p:nvSpPr>
          <p:spPr>
            <a:xfrm>
              <a:off x="0" y="0"/>
              <a:ext cx="4602013" cy="5372100"/>
            </a:xfrm>
            <a:custGeom>
              <a:avLst/>
              <a:gdLst/>
              <a:ahLst/>
              <a:cxnLst/>
              <a:rect l="l" t="t" r="r" b="b"/>
              <a:pathLst>
                <a:path w="4602013" h="5372100">
                  <a:moveTo>
                    <a:pt x="3051343" y="0"/>
                  </a:moveTo>
                  <a:lnTo>
                    <a:pt x="1550670" y="0"/>
                  </a:lnTo>
                  <a:lnTo>
                    <a:pt x="0" y="2686050"/>
                  </a:lnTo>
                  <a:lnTo>
                    <a:pt x="1550670" y="5372100"/>
                  </a:lnTo>
                  <a:lnTo>
                    <a:pt x="3051343" y="5372100"/>
                  </a:lnTo>
                  <a:lnTo>
                    <a:pt x="4602013" y="2686050"/>
                  </a:lnTo>
                  <a:lnTo>
                    <a:pt x="3051343" y="0"/>
                  </a:lnTo>
                  <a:close/>
                </a:path>
              </a:pathLst>
            </a:custGeom>
            <a:solidFill>
              <a:srgbClr val="A066CB"/>
            </a:solidFill>
          </p:spPr>
          <p:txBody>
            <a:bodyPr/>
            <a:lstStyle/>
            <a:p>
              <a:endParaRPr lang="vi-VN"/>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592</TotalTime>
  <Words>1900</Words>
  <Application>Microsoft Office PowerPoint</Application>
  <PresentationFormat>Custom</PresentationFormat>
  <Paragraphs>135</Paragraphs>
  <Slides>15</Slides>
  <Notes>14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Calibri</vt:lpstr>
      <vt:lpstr>Times New Roman</vt:lpstr>
      <vt:lpstr>Anton</vt:lpstr>
      <vt:lpstr>Cabin Semi-Bold</vt:lpstr>
      <vt:lpstr>SimSun</vt:lpstr>
      <vt:lpstr>Arial Bold</vt:lpstr>
      <vt:lpstr>Arial (Body)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CoSoNganh</dc:title>
  <dc:creator>Admin</dc:creator>
  <cp:lastModifiedBy>Administrator</cp:lastModifiedBy>
  <cp:revision>99</cp:revision>
  <dcterms:created xsi:type="dcterms:W3CDTF">2006-08-16T00:00:00Z</dcterms:created>
  <dcterms:modified xsi:type="dcterms:W3CDTF">2026-06-29T15:28:19Z</dcterms:modified>
  <dc:identifier>DAGbnXCPPBE</dc:identifier>
</cp:coreProperties>
</file>