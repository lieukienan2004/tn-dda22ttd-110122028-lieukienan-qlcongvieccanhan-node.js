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Times New Roman Bold" charset="1" panose="02020803070505020304"/>
      <p:regular r:id="rId21"/>
    </p:embeddedFont>
    <p:embeddedFont>
      <p:font typeface="Times New Roman" charset="1" panose="02020603050405020304"/>
      <p:regular r:id="rId22"/>
    </p:embeddedFont>
    <p:embeddedFont>
      <p:font typeface="Times New Roman Bold Italics" charset="1" panose="02020703060505090304"/>
      <p:regular r:id="rId23"/>
    </p:embeddedFont>
    <p:embeddedFont>
      <p:font typeface="Roboto Bold" charset="1" panose="02000000000000000000"/>
      <p:regular r:id="rId24"/>
    </p:embeddedFont>
    <p:embeddedFont>
      <p:font typeface="Noto Sans Bold" charset="1" panose="020B0802040504020204"/>
      <p:regular r:id="rId25"/>
    </p:embeddedFont>
    <p:embeddedFont>
      <p:font typeface="Noto Sans Bold Italics" charset="1" panose="020B080204050409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svg" Type="http://schemas.openxmlformats.org/officeDocument/2006/relationships/image"/><Relationship Id="rId6" Target="../media/image12.svg" Type="http://schemas.openxmlformats.org/officeDocument/2006/relationships/image"/><Relationship Id="rId7" Target="../media/image13.sv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5984" r="-65984" b="0"/>
            </a:stretch>
          </a:blipFill>
        </p:spPr>
      </p:sp>
      <p:sp>
        <p:nvSpPr>
          <p:cNvPr name="Freeform 3" id="3"/>
          <p:cNvSpPr/>
          <p:nvPr/>
        </p:nvSpPr>
        <p:spPr>
          <a:xfrm flipH="false" flipV="false" rot="0">
            <a:off x="-2477798" y="6005037"/>
            <a:ext cx="9438577" cy="6748583"/>
          </a:xfrm>
          <a:custGeom>
            <a:avLst/>
            <a:gdLst/>
            <a:ahLst/>
            <a:cxnLst/>
            <a:rect r="r" b="b" t="t" l="l"/>
            <a:pathLst>
              <a:path h="6748583" w="9438577">
                <a:moveTo>
                  <a:pt x="0" y="0"/>
                </a:moveTo>
                <a:lnTo>
                  <a:pt x="9438577" y="0"/>
                </a:lnTo>
                <a:lnTo>
                  <a:pt x="9438577" y="6748583"/>
                </a:lnTo>
                <a:lnTo>
                  <a:pt x="0" y="67485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6773" y="3435399"/>
            <a:ext cx="19649870" cy="3053259"/>
            <a:chOff x="0" y="0"/>
            <a:chExt cx="2204518" cy="342545"/>
          </a:xfrm>
        </p:grpSpPr>
        <p:sp>
          <p:nvSpPr>
            <p:cNvPr name="Freeform 5" id="5"/>
            <p:cNvSpPr/>
            <p:nvPr/>
          </p:nvSpPr>
          <p:spPr>
            <a:xfrm flipH="false" flipV="false" rot="0">
              <a:off x="0" y="0"/>
              <a:ext cx="2204518" cy="342545"/>
            </a:xfrm>
            <a:custGeom>
              <a:avLst/>
              <a:gdLst/>
              <a:ahLst/>
              <a:cxnLst/>
              <a:rect r="r" b="b" t="t" l="l"/>
              <a:pathLst>
                <a:path h="342545" w="2204518">
                  <a:moveTo>
                    <a:pt x="9850" y="0"/>
                  </a:moveTo>
                  <a:lnTo>
                    <a:pt x="2194668" y="0"/>
                  </a:lnTo>
                  <a:cubicBezTo>
                    <a:pt x="2197280" y="0"/>
                    <a:pt x="2199785" y="1038"/>
                    <a:pt x="2201633" y="2885"/>
                  </a:cubicBezTo>
                  <a:cubicBezTo>
                    <a:pt x="2203480" y="4732"/>
                    <a:pt x="2204518" y="7237"/>
                    <a:pt x="2204518" y="9850"/>
                  </a:cubicBezTo>
                  <a:lnTo>
                    <a:pt x="2204518" y="332695"/>
                  </a:lnTo>
                  <a:cubicBezTo>
                    <a:pt x="2204518" y="338135"/>
                    <a:pt x="2200108" y="342545"/>
                    <a:pt x="2194668" y="342545"/>
                  </a:cubicBezTo>
                  <a:lnTo>
                    <a:pt x="9850" y="342545"/>
                  </a:lnTo>
                  <a:cubicBezTo>
                    <a:pt x="7237" y="342545"/>
                    <a:pt x="4732" y="341507"/>
                    <a:pt x="2885" y="339660"/>
                  </a:cubicBezTo>
                  <a:cubicBezTo>
                    <a:pt x="1038" y="337813"/>
                    <a:pt x="0" y="335307"/>
                    <a:pt x="0" y="332695"/>
                  </a:cubicBezTo>
                  <a:lnTo>
                    <a:pt x="0" y="9850"/>
                  </a:lnTo>
                  <a:cubicBezTo>
                    <a:pt x="0" y="7237"/>
                    <a:pt x="1038" y="4732"/>
                    <a:pt x="2885" y="2885"/>
                  </a:cubicBezTo>
                  <a:cubicBezTo>
                    <a:pt x="4732" y="1038"/>
                    <a:pt x="7237" y="0"/>
                    <a:pt x="9850" y="0"/>
                  </a:cubicBezTo>
                  <a:close/>
                </a:path>
              </a:pathLst>
            </a:custGeom>
            <a:gradFill rotWithShape="true">
              <a:gsLst>
                <a:gs pos="0">
                  <a:srgbClr val="31A1D4">
                    <a:alpha val="100000"/>
                  </a:srgbClr>
                </a:gs>
                <a:gs pos="100000">
                  <a:srgbClr val="001C37">
                    <a:alpha val="100000"/>
                  </a:srgbClr>
                </a:gs>
              </a:gsLst>
              <a:lin ang="2700000"/>
            </a:gradFill>
          </p:spPr>
        </p:sp>
        <p:sp>
          <p:nvSpPr>
            <p:cNvPr name="TextBox 6" id="6"/>
            <p:cNvSpPr txBox="true"/>
            <p:nvPr/>
          </p:nvSpPr>
          <p:spPr>
            <a:xfrm>
              <a:off x="0" y="-57150"/>
              <a:ext cx="2204518" cy="399695"/>
            </a:xfrm>
            <a:prstGeom prst="rect">
              <a:avLst/>
            </a:prstGeom>
          </p:spPr>
          <p:txBody>
            <a:bodyPr anchor="ctr" rtlCol="false" tIns="50800" lIns="50800" bIns="50800" rIns="50800"/>
            <a:lstStyle/>
            <a:p>
              <a:pPr algn="ctr" marL="0" indent="0" lvl="0">
                <a:lnSpc>
                  <a:spcPts val="3357"/>
                </a:lnSpc>
                <a:spcBef>
                  <a:spcPct val="0"/>
                </a:spcBef>
              </a:pPr>
            </a:p>
          </p:txBody>
        </p:sp>
      </p:grpSp>
      <p:grpSp>
        <p:nvGrpSpPr>
          <p:cNvPr name="Group 7" id="7"/>
          <p:cNvGrpSpPr/>
          <p:nvPr/>
        </p:nvGrpSpPr>
        <p:grpSpPr>
          <a:xfrm rot="0">
            <a:off x="5072320" y="2011189"/>
            <a:ext cx="11085580" cy="1043210"/>
            <a:chOff x="0" y="0"/>
            <a:chExt cx="4318576" cy="406400"/>
          </a:xfrm>
        </p:grpSpPr>
        <p:sp>
          <p:nvSpPr>
            <p:cNvPr name="Freeform 8" id="8"/>
            <p:cNvSpPr/>
            <p:nvPr/>
          </p:nvSpPr>
          <p:spPr>
            <a:xfrm flipH="false" flipV="false" rot="0">
              <a:off x="0" y="0"/>
              <a:ext cx="4318576" cy="406400"/>
            </a:xfrm>
            <a:custGeom>
              <a:avLst/>
              <a:gdLst/>
              <a:ahLst/>
              <a:cxnLst/>
              <a:rect r="r" b="b" t="t" l="l"/>
              <a:pathLst>
                <a:path h="406400" w="4318576">
                  <a:moveTo>
                    <a:pt x="4115376" y="0"/>
                  </a:moveTo>
                  <a:cubicBezTo>
                    <a:pt x="4227600" y="0"/>
                    <a:pt x="4318576" y="90976"/>
                    <a:pt x="4318576" y="203200"/>
                  </a:cubicBezTo>
                  <a:cubicBezTo>
                    <a:pt x="4318576" y="315424"/>
                    <a:pt x="4227600" y="406400"/>
                    <a:pt x="4115376" y="406400"/>
                  </a:cubicBezTo>
                  <a:lnTo>
                    <a:pt x="203200" y="406400"/>
                  </a:lnTo>
                  <a:cubicBezTo>
                    <a:pt x="90976" y="406400"/>
                    <a:pt x="0" y="315424"/>
                    <a:pt x="0" y="203200"/>
                  </a:cubicBezTo>
                  <a:cubicBezTo>
                    <a:pt x="0" y="90976"/>
                    <a:pt x="90976" y="0"/>
                    <a:pt x="203200" y="0"/>
                  </a:cubicBezTo>
                  <a:lnTo>
                    <a:pt x="4115376" y="0"/>
                  </a:lnTo>
                  <a:close/>
                </a:path>
              </a:pathLst>
            </a:custGeom>
            <a:gradFill rotWithShape="true">
              <a:gsLst>
                <a:gs pos="0">
                  <a:srgbClr val="31A1D4">
                    <a:alpha val="47000"/>
                  </a:srgbClr>
                </a:gs>
                <a:gs pos="100000">
                  <a:srgbClr val="035E8E">
                    <a:alpha val="0"/>
                  </a:srgbClr>
                </a:gs>
              </a:gsLst>
              <a:lin ang="2700000"/>
            </a:gradFill>
            <a:ln cap="rnd">
              <a:noFill/>
              <a:prstDash val="solid"/>
              <a:round/>
            </a:ln>
          </p:spPr>
        </p:sp>
        <p:sp>
          <p:nvSpPr>
            <p:cNvPr name="TextBox 9" id="9"/>
            <p:cNvSpPr txBox="true"/>
            <p:nvPr/>
          </p:nvSpPr>
          <p:spPr>
            <a:xfrm>
              <a:off x="0" y="-57150"/>
              <a:ext cx="4318576" cy="463550"/>
            </a:xfrm>
            <a:prstGeom prst="rect">
              <a:avLst/>
            </a:prstGeom>
          </p:spPr>
          <p:txBody>
            <a:bodyPr anchor="ctr" rtlCol="false" tIns="50800" lIns="50800" bIns="50800" rIns="50800"/>
            <a:lstStyle/>
            <a:p>
              <a:pPr algn="ctr" marL="0" indent="0" lvl="0">
                <a:lnSpc>
                  <a:spcPts val="3357"/>
                </a:lnSpc>
                <a:spcBef>
                  <a:spcPct val="0"/>
                </a:spcBef>
              </a:pPr>
            </a:p>
          </p:txBody>
        </p:sp>
      </p:grpSp>
      <p:grpSp>
        <p:nvGrpSpPr>
          <p:cNvPr name="Group 10" id="10"/>
          <p:cNvGrpSpPr/>
          <p:nvPr/>
        </p:nvGrpSpPr>
        <p:grpSpPr>
          <a:xfrm rot="0">
            <a:off x="-1482992" y="7162049"/>
            <a:ext cx="3636307" cy="3124951"/>
            <a:chOff x="0" y="0"/>
            <a:chExt cx="812800" cy="698500"/>
          </a:xfrm>
        </p:grpSpPr>
        <p:sp>
          <p:nvSpPr>
            <p:cNvPr name="Freeform 11" id="1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12" id="12"/>
            <p:cNvSpPr txBox="true"/>
            <p:nvPr/>
          </p:nvSpPr>
          <p:spPr>
            <a:xfrm>
              <a:off x="114300" y="-57150"/>
              <a:ext cx="584200" cy="755650"/>
            </a:xfrm>
            <a:prstGeom prst="rect">
              <a:avLst/>
            </a:prstGeom>
          </p:spPr>
          <p:txBody>
            <a:bodyPr anchor="ctr" rtlCol="false" tIns="50800" lIns="50800" bIns="50800" rIns="50800"/>
            <a:lstStyle/>
            <a:p>
              <a:pPr algn="ctr" marL="0" indent="0" lvl="0">
                <a:lnSpc>
                  <a:spcPts val="3357"/>
                </a:lnSpc>
                <a:spcBef>
                  <a:spcPct val="0"/>
                </a:spcBef>
              </a:pPr>
            </a:p>
          </p:txBody>
        </p:sp>
      </p:grpSp>
      <p:grpSp>
        <p:nvGrpSpPr>
          <p:cNvPr name="Group 13" id="13"/>
          <p:cNvGrpSpPr/>
          <p:nvPr/>
        </p:nvGrpSpPr>
        <p:grpSpPr>
          <a:xfrm rot="0">
            <a:off x="1028700" y="8501408"/>
            <a:ext cx="4155559" cy="3571183"/>
            <a:chOff x="0" y="0"/>
            <a:chExt cx="812800" cy="698500"/>
          </a:xfrm>
        </p:grpSpPr>
        <p:sp>
          <p:nvSpPr>
            <p:cNvPr name="Freeform 14" id="1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15" id="15"/>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grpSp>
        <p:nvGrpSpPr>
          <p:cNvPr name="Group 16" id="16"/>
          <p:cNvGrpSpPr/>
          <p:nvPr/>
        </p:nvGrpSpPr>
        <p:grpSpPr>
          <a:xfrm rot="0">
            <a:off x="335162" y="6342923"/>
            <a:ext cx="1906328" cy="1638251"/>
            <a:chOff x="0" y="0"/>
            <a:chExt cx="812800" cy="698500"/>
          </a:xfrm>
        </p:grpSpPr>
        <p:sp>
          <p:nvSpPr>
            <p:cNvPr name="Freeform 17" id="1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18" id="18"/>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grpSp>
        <p:nvGrpSpPr>
          <p:cNvPr name="Group 19" id="19"/>
          <p:cNvGrpSpPr/>
          <p:nvPr/>
        </p:nvGrpSpPr>
        <p:grpSpPr>
          <a:xfrm rot="0">
            <a:off x="3746822" y="8501408"/>
            <a:ext cx="1510485" cy="1298073"/>
            <a:chOff x="0" y="0"/>
            <a:chExt cx="812800" cy="698500"/>
          </a:xfrm>
        </p:grpSpPr>
        <p:sp>
          <p:nvSpPr>
            <p:cNvPr name="Freeform 20" id="20"/>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47000"/>
                  </a:srgbClr>
                </a:gs>
                <a:gs pos="100000">
                  <a:srgbClr val="035E8E">
                    <a:alpha val="0"/>
                  </a:srgbClr>
                </a:gs>
              </a:gsLst>
              <a:lin ang="0"/>
            </a:gradFill>
          </p:spPr>
        </p:sp>
        <p:sp>
          <p:nvSpPr>
            <p:cNvPr name="TextBox 21" id="21"/>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sp>
        <p:nvSpPr>
          <p:cNvPr name="Freeform 22" id="22"/>
          <p:cNvSpPr/>
          <p:nvPr/>
        </p:nvSpPr>
        <p:spPr>
          <a:xfrm flipH="false" flipV="false" rot="0">
            <a:off x="611900" y="70070"/>
            <a:ext cx="2619167" cy="2619167"/>
          </a:xfrm>
          <a:custGeom>
            <a:avLst/>
            <a:gdLst/>
            <a:ahLst/>
            <a:cxnLst/>
            <a:rect r="r" b="b" t="t" l="l"/>
            <a:pathLst>
              <a:path h="2619167" w="2619167">
                <a:moveTo>
                  <a:pt x="0" y="0"/>
                </a:moveTo>
                <a:lnTo>
                  <a:pt x="2619167" y="0"/>
                </a:lnTo>
                <a:lnTo>
                  <a:pt x="2619167" y="2619167"/>
                </a:lnTo>
                <a:lnTo>
                  <a:pt x="0" y="2619167"/>
                </a:lnTo>
                <a:lnTo>
                  <a:pt x="0" y="0"/>
                </a:lnTo>
                <a:close/>
              </a:path>
            </a:pathLst>
          </a:custGeom>
          <a:blipFill>
            <a:blip r:embed="rId5"/>
            <a:stretch>
              <a:fillRect l="0" t="0" r="0" b="0"/>
            </a:stretch>
          </a:blipFill>
        </p:spPr>
      </p:sp>
      <p:sp>
        <p:nvSpPr>
          <p:cNvPr name="TextBox 23" id="23"/>
          <p:cNvSpPr txBox="true"/>
          <p:nvPr/>
        </p:nvSpPr>
        <p:spPr>
          <a:xfrm rot="0">
            <a:off x="1657307" y="304165"/>
            <a:ext cx="16161709" cy="1391920"/>
          </a:xfrm>
          <a:prstGeom prst="rect">
            <a:avLst/>
          </a:prstGeom>
        </p:spPr>
        <p:txBody>
          <a:bodyPr anchor="t" rtlCol="false" tIns="0" lIns="0" bIns="0" rIns="0">
            <a:spAutoFit/>
          </a:bodyPr>
          <a:lstStyle/>
          <a:p>
            <a:pPr algn="ctr">
              <a:lnSpc>
                <a:spcPts val="6000"/>
              </a:lnSpc>
            </a:pPr>
            <a:r>
              <a:rPr lang="en-US" b="true" sz="4800">
                <a:solidFill>
                  <a:srgbClr val="FFFFFF"/>
                </a:solidFill>
                <a:latin typeface="Times New Roman Bold"/>
                <a:ea typeface="Times New Roman Bold"/>
                <a:cs typeface="Times New Roman Bold"/>
                <a:sym typeface="Times New Roman Bold"/>
              </a:rPr>
              <a:t>ĐẠI HỌ</a:t>
            </a:r>
            <a:r>
              <a:rPr lang="en-US" b="true" sz="4800">
                <a:solidFill>
                  <a:srgbClr val="FFFFFF"/>
                </a:solidFill>
                <a:latin typeface="Times New Roman Bold"/>
                <a:ea typeface="Times New Roman Bold"/>
                <a:cs typeface="Times New Roman Bold"/>
                <a:sym typeface="Times New Roman Bold"/>
              </a:rPr>
              <a:t>C TRÀ VINH</a:t>
            </a:r>
          </a:p>
          <a:p>
            <a:pPr algn="ctr">
              <a:lnSpc>
                <a:spcPts val="4750"/>
              </a:lnSpc>
            </a:pPr>
            <a:r>
              <a:rPr lang="en-US" b="true" sz="3800">
                <a:solidFill>
                  <a:srgbClr val="FFFFFF"/>
                </a:solidFill>
                <a:latin typeface="Times New Roman Bold"/>
                <a:ea typeface="Times New Roman Bold"/>
                <a:cs typeface="Times New Roman Bold"/>
                <a:sym typeface="Times New Roman Bold"/>
              </a:rPr>
              <a:t>TRƯỜNG KỸ THUẬT VÀ CÔNG NGHỆ</a:t>
            </a:r>
          </a:p>
        </p:txBody>
      </p:sp>
      <p:sp>
        <p:nvSpPr>
          <p:cNvPr name="TextBox 24" id="24"/>
          <p:cNvSpPr txBox="true"/>
          <p:nvPr/>
        </p:nvSpPr>
        <p:spPr>
          <a:xfrm rot="0">
            <a:off x="3840161" y="1951083"/>
            <a:ext cx="12053837" cy="902873"/>
          </a:xfrm>
          <a:prstGeom prst="rect">
            <a:avLst/>
          </a:prstGeom>
        </p:spPr>
        <p:txBody>
          <a:bodyPr anchor="t" rtlCol="false" tIns="0" lIns="0" bIns="0" rIns="0">
            <a:spAutoFit/>
          </a:bodyPr>
          <a:lstStyle/>
          <a:p>
            <a:pPr algn="ctr">
              <a:lnSpc>
                <a:spcPts val="7162"/>
              </a:lnSpc>
            </a:pPr>
            <a:r>
              <a:rPr lang="en-US" sz="5115" b="true">
                <a:solidFill>
                  <a:srgbClr val="FFFFFF"/>
                </a:solidFill>
                <a:latin typeface="Times New Roman Bold"/>
                <a:ea typeface="Times New Roman Bold"/>
                <a:cs typeface="Times New Roman Bold"/>
                <a:sym typeface="Times New Roman Bold"/>
              </a:rPr>
              <a:t>KHOÁ LUẬN TỐT NGHIỆP</a:t>
            </a:r>
          </a:p>
        </p:txBody>
      </p:sp>
      <p:sp>
        <p:nvSpPr>
          <p:cNvPr name="TextBox 25" id="25"/>
          <p:cNvSpPr txBox="true"/>
          <p:nvPr/>
        </p:nvSpPr>
        <p:spPr>
          <a:xfrm rot="0">
            <a:off x="837534" y="3787904"/>
            <a:ext cx="17289895" cy="2049672"/>
          </a:xfrm>
          <a:prstGeom prst="rect">
            <a:avLst/>
          </a:prstGeom>
        </p:spPr>
        <p:txBody>
          <a:bodyPr anchor="t" rtlCol="false" tIns="0" lIns="0" bIns="0" rIns="0">
            <a:spAutoFit/>
          </a:bodyPr>
          <a:lstStyle/>
          <a:p>
            <a:pPr algn="ctr">
              <a:lnSpc>
                <a:spcPts val="8405"/>
              </a:lnSpc>
            </a:pPr>
            <a:r>
              <a:rPr lang="en-US" b="true" sz="3891" spc="245">
                <a:solidFill>
                  <a:srgbClr val="FFFFFF"/>
                </a:solidFill>
                <a:latin typeface="Times New Roman Bold"/>
                <a:ea typeface="Times New Roman Bold"/>
                <a:cs typeface="Times New Roman Bold"/>
                <a:sym typeface="Times New Roman Bold"/>
              </a:rPr>
              <a:t>THIẾT KẾ VÀ PHÁT TRIỂN HỆ THỐNG </a:t>
            </a:r>
            <a:r>
              <a:rPr lang="en-US" b="true" sz="3891" spc="245">
                <a:solidFill>
                  <a:srgbClr val="FFFFFF"/>
                </a:solidFill>
                <a:latin typeface="Times New Roman Bold"/>
                <a:ea typeface="Times New Roman Bold"/>
                <a:cs typeface="Times New Roman Bold"/>
                <a:sym typeface="Times New Roman Bold"/>
              </a:rPr>
              <a:t>QUẢN LÝ CÔNG VIỆC </a:t>
            </a:r>
          </a:p>
          <a:p>
            <a:pPr algn="ctr">
              <a:lnSpc>
                <a:spcPts val="8405"/>
              </a:lnSpc>
            </a:pPr>
            <a:r>
              <a:rPr lang="en-US" b="true" sz="3891" spc="245">
                <a:solidFill>
                  <a:srgbClr val="FFFFFF"/>
                </a:solidFill>
                <a:latin typeface="Times New Roman Bold"/>
                <a:ea typeface="Times New Roman Bold"/>
                <a:cs typeface="Times New Roman Bold"/>
                <a:sym typeface="Times New Roman Bold"/>
              </a:rPr>
              <a:t>CÁ NHÂN DỰA TRÊN NỀN TẢNG WEB </a:t>
            </a:r>
          </a:p>
        </p:txBody>
      </p:sp>
      <p:sp>
        <p:nvSpPr>
          <p:cNvPr name="TextBox 26" id="26"/>
          <p:cNvSpPr txBox="true"/>
          <p:nvPr/>
        </p:nvSpPr>
        <p:spPr>
          <a:xfrm rot="0">
            <a:off x="5428850" y="7723999"/>
            <a:ext cx="8107263" cy="1904980"/>
          </a:xfrm>
          <a:prstGeom prst="rect">
            <a:avLst/>
          </a:prstGeom>
        </p:spPr>
        <p:txBody>
          <a:bodyPr anchor="t" rtlCol="false" tIns="0" lIns="0" bIns="0" rIns="0">
            <a:spAutoFit/>
          </a:bodyPr>
          <a:lstStyle/>
          <a:p>
            <a:pPr algn="ctr">
              <a:lnSpc>
                <a:spcPts val="5188"/>
              </a:lnSpc>
            </a:pPr>
            <a:r>
              <a:rPr lang="en-US" b="true" sz="2198">
                <a:solidFill>
                  <a:srgbClr val="FFFFFF"/>
                </a:solidFill>
                <a:latin typeface="Times New Roman Bold"/>
                <a:ea typeface="Times New Roman Bold"/>
                <a:cs typeface="Times New Roman Bold"/>
                <a:sym typeface="Times New Roman Bold"/>
              </a:rPr>
              <a:t>GIẢNG VIÊN HƯỚNG DẪN: GVC. ThS. NGUYỄN KHẮC QUỐC</a:t>
            </a:r>
          </a:p>
          <a:p>
            <a:pPr algn="ctr">
              <a:lnSpc>
                <a:spcPts val="5188"/>
              </a:lnSpc>
            </a:pPr>
            <a:r>
              <a:rPr lang="en-US" b="true" sz="2198">
                <a:solidFill>
                  <a:srgbClr val="FFFFFF"/>
                </a:solidFill>
                <a:latin typeface="Times New Roman Bold"/>
                <a:ea typeface="Times New Roman Bold"/>
                <a:cs typeface="Times New Roman Bold"/>
                <a:sym typeface="Times New Roman Bold"/>
              </a:rPr>
              <a:t>SINH VIÊN THỰC HIỆN: LIỄU KIỆN AN</a:t>
            </a:r>
          </a:p>
          <a:p>
            <a:pPr algn="ctr">
              <a:lnSpc>
                <a:spcPts val="5188"/>
              </a:lnSpc>
            </a:pPr>
            <a:r>
              <a:rPr lang="en-US" b="true" sz="2198">
                <a:solidFill>
                  <a:srgbClr val="FFFFFF"/>
                </a:solidFill>
                <a:latin typeface="Times New Roman Bold"/>
                <a:ea typeface="Times New Roman Bold"/>
                <a:cs typeface="Times New Roman Bold"/>
                <a:sym typeface="Times New Roman Bold"/>
              </a:rPr>
              <a:t>LỚP: DA22TTD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24631" r="-124631" b="0"/>
            </a:stretch>
          </a:blipFill>
        </p:spPr>
      </p:sp>
      <p:sp>
        <p:nvSpPr>
          <p:cNvPr name="TextBox 3" id="3"/>
          <p:cNvSpPr txBox="true"/>
          <p:nvPr/>
        </p:nvSpPr>
        <p:spPr>
          <a:xfrm rot="0">
            <a:off x="3621291" y="876300"/>
            <a:ext cx="11045418" cy="1041121"/>
          </a:xfrm>
          <a:prstGeom prst="rect">
            <a:avLst/>
          </a:prstGeom>
        </p:spPr>
        <p:txBody>
          <a:bodyPr anchor="t" rtlCol="false" tIns="0" lIns="0" bIns="0" rIns="0">
            <a:spAutoFit/>
          </a:bodyPr>
          <a:lstStyle/>
          <a:p>
            <a:pPr algn="l">
              <a:lnSpc>
                <a:spcPts val="8240"/>
              </a:lnSpc>
              <a:spcBef>
                <a:spcPct val="0"/>
              </a:spcBef>
            </a:pPr>
            <a:r>
              <a:rPr lang="en-US" b="true" sz="5885">
                <a:solidFill>
                  <a:srgbClr val="FFFFFF"/>
                </a:solidFill>
                <a:latin typeface="Times New Roman Bold"/>
                <a:ea typeface="Times New Roman Bold"/>
                <a:cs typeface="Times New Roman Bold"/>
                <a:sym typeface="Times New Roman Bold"/>
              </a:rPr>
              <a:t>NỘI DUNG THUYẾT TRÌNH</a:t>
            </a:r>
          </a:p>
        </p:txBody>
      </p:sp>
      <p:grpSp>
        <p:nvGrpSpPr>
          <p:cNvPr name="Group 4" id="4"/>
          <p:cNvGrpSpPr/>
          <p:nvPr/>
        </p:nvGrpSpPr>
        <p:grpSpPr>
          <a:xfrm rot="0">
            <a:off x="1028700" y="8848918"/>
            <a:ext cx="4155559" cy="3571183"/>
            <a:chOff x="0" y="0"/>
            <a:chExt cx="812800" cy="698500"/>
          </a:xfrm>
        </p:grpSpPr>
        <p:sp>
          <p:nvSpPr>
            <p:cNvPr name="Freeform 5" id="5"/>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6" id="6"/>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grpSp>
        <p:nvGrpSpPr>
          <p:cNvPr name="Group 7" id="7"/>
          <p:cNvGrpSpPr/>
          <p:nvPr/>
        </p:nvGrpSpPr>
        <p:grpSpPr>
          <a:xfrm rot="0">
            <a:off x="3746822" y="8848918"/>
            <a:ext cx="1510485" cy="1298073"/>
            <a:chOff x="0" y="0"/>
            <a:chExt cx="812800" cy="698500"/>
          </a:xfrm>
        </p:grpSpPr>
        <p:sp>
          <p:nvSpPr>
            <p:cNvPr name="Freeform 8" id="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47000"/>
                  </a:srgbClr>
                </a:gs>
                <a:gs pos="100000">
                  <a:srgbClr val="035E8E">
                    <a:alpha val="0"/>
                  </a:srgbClr>
                </a:gs>
              </a:gsLst>
              <a:lin ang="0"/>
            </a:gradFill>
          </p:spPr>
        </p:sp>
        <p:sp>
          <p:nvSpPr>
            <p:cNvPr name="TextBox 9" id="9"/>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grpSp>
        <p:nvGrpSpPr>
          <p:cNvPr name="Group 10" id="10"/>
          <p:cNvGrpSpPr/>
          <p:nvPr/>
        </p:nvGrpSpPr>
        <p:grpSpPr>
          <a:xfrm rot="0">
            <a:off x="-1450958" y="2602549"/>
            <a:ext cx="20440236" cy="11365170"/>
            <a:chOff x="0" y="0"/>
            <a:chExt cx="27253648" cy="15153560"/>
          </a:xfrm>
        </p:grpSpPr>
        <p:sp>
          <p:nvSpPr>
            <p:cNvPr name="TextBox 11" id="11"/>
            <p:cNvSpPr txBox="true"/>
            <p:nvPr/>
          </p:nvSpPr>
          <p:spPr>
            <a:xfrm rot="0">
              <a:off x="3475612" y="155146"/>
              <a:ext cx="1101928"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01.</a:t>
              </a:r>
            </a:p>
          </p:txBody>
        </p:sp>
        <p:sp>
          <p:nvSpPr>
            <p:cNvPr name="Freeform 12" id="12"/>
            <p:cNvSpPr/>
            <p:nvPr/>
          </p:nvSpPr>
          <p:spPr>
            <a:xfrm flipH="false" flipV="false" rot="0">
              <a:off x="0" y="6155449"/>
              <a:ext cx="12584770" cy="8998110"/>
            </a:xfrm>
            <a:custGeom>
              <a:avLst/>
              <a:gdLst/>
              <a:ahLst/>
              <a:cxnLst/>
              <a:rect r="r" b="b" t="t" l="l"/>
              <a:pathLst>
                <a:path h="8998110" w="12584770">
                  <a:moveTo>
                    <a:pt x="0" y="0"/>
                  </a:moveTo>
                  <a:lnTo>
                    <a:pt x="12584770" y="0"/>
                  </a:lnTo>
                  <a:lnTo>
                    <a:pt x="12584770" y="8998111"/>
                  </a:lnTo>
                  <a:lnTo>
                    <a:pt x="0" y="89981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2837056" y="0"/>
              <a:ext cx="8862762" cy="1452441"/>
              <a:chOff x="0" y="0"/>
              <a:chExt cx="745734" cy="122212"/>
            </a:xfrm>
          </p:grpSpPr>
          <p:sp>
            <p:nvSpPr>
              <p:cNvPr name="Freeform 14" id="14"/>
              <p:cNvSpPr/>
              <p:nvPr/>
            </p:nvSpPr>
            <p:spPr>
              <a:xfrm flipH="false" flipV="false" rot="0">
                <a:off x="0" y="0"/>
                <a:ext cx="745735" cy="122212"/>
              </a:xfrm>
              <a:custGeom>
                <a:avLst/>
                <a:gdLst/>
                <a:ahLst/>
                <a:cxnLst/>
                <a:rect r="r" b="b" t="t" l="l"/>
                <a:pathLst>
                  <a:path h="122212" w="745735">
                    <a:moveTo>
                      <a:pt x="29118" y="0"/>
                    </a:moveTo>
                    <a:lnTo>
                      <a:pt x="716617" y="0"/>
                    </a:lnTo>
                    <a:cubicBezTo>
                      <a:pt x="724339" y="0"/>
                      <a:pt x="731745" y="3068"/>
                      <a:pt x="737206" y="8528"/>
                    </a:cubicBezTo>
                    <a:cubicBezTo>
                      <a:pt x="742667" y="13989"/>
                      <a:pt x="745735" y="21395"/>
                      <a:pt x="745735" y="29118"/>
                    </a:cubicBezTo>
                    <a:lnTo>
                      <a:pt x="745735" y="93094"/>
                    </a:lnTo>
                    <a:cubicBezTo>
                      <a:pt x="745735" y="109175"/>
                      <a:pt x="732698" y="122212"/>
                      <a:pt x="716617" y="122212"/>
                    </a:cubicBezTo>
                    <a:lnTo>
                      <a:pt x="29118" y="122212"/>
                    </a:lnTo>
                    <a:cubicBezTo>
                      <a:pt x="21395" y="122212"/>
                      <a:pt x="13989" y="119144"/>
                      <a:pt x="8528" y="113684"/>
                    </a:cubicBezTo>
                    <a:cubicBezTo>
                      <a:pt x="3068" y="108223"/>
                      <a:pt x="0" y="100817"/>
                      <a:pt x="0" y="93094"/>
                    </a:cubicBezTo>
                    <a:lnTo>
                      <a:pt x="0" y="29118"/>
                    </a:lnTo>
                    <a:cubicBezTo>
                      <a:pt x="0" y="21395"/>
                      <a:pt x="3068" y="13989"/>
                      <a:pt x="8528" y="8528"/>
                    </a:cubicBezTo>
                    <a:cubicBezTo>
                      <a:pt x="13989" y="3068"/>
                      <a:pt x="21395" y="0"/>
                      <a:pt x="29118" y="0"/>
                    </a:cubicBezTo>
                    <a:close/>
                  </a:path>
                </a:pathLst>
              </a:custGeom>
              <a:gradFill rotWithShape="true">
                <a:gsLst>
                  <a:gs pos="0">
                    <a:srgbClr val="31A1D4">
                      <a:alpha val="47000"/>
                    </a:srgbClr>
                  </a:gs>
                  <a:gs pos="100000">
                    <a:srgbClr val="035E8E">
                      <a:alpha val="0"/>
                    </a:srgbClr>
                  </a:gs>
                </a:gsLst>
                <a:lin ang="2700000"/>
              </a:gradFill>
            </p:spPr>
          </p:sp>
          <p:sp>
            <p:nvSpPr>
              <p:cNvPr name="TextBox 15" id="15"/>
              <p:cNvSpPr txBox="true"/>
              <p:nvPr/>
            </p:nvSpPr>
            <p:spPr>
              <a:xfrm>
                <a:off x="0" y="-57150"/>
                <a:ext cx="745734" cy="179362"/>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16" id="16"/>
            <p:cNvSpPr txBox="true"/>
            <p:nvPr/>
          </p:nvSpPr>
          <p:spPr>
            <a:xfrm rot="0">
              <a:off x="4651216" y="155146"/>
              <a:ext cx="7048601"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Lý do </a:t>
              </a:r>
              <a:r>
                <a:rPr lang="en-US" b="true" sz="5000">
                  <a:solidFill>
                    <a:srgbClr val="FFFFFF"/>
                  </a:solidFill>
                  <a:latin typeface="Times New Roman Bold"/>
                  <a:ea typeface="Times New Roman Bold"/>
                  <a:cs typeface="Times New Roman Bold"/>
                  <a:sym typeface="Times New Roman Bold"/>
                </a:rPr>
                <a:t>chọn đề tài</a:t>
              </a:r>
            </a:p>
          </p:txBody>
        </p:sp>
        <p:grpSp>
          <p:nvGrpSpPr>
            <p:cNvPr name="Group 17" id="17"/>
            <p:cNvGrpSpPr/>
            <p:nvPr/>
          </p:nvGrpSpPr>
          <p:grpSpPr>
            <a:xfrm rot="0">
              <a:off x="13621305" y="58190"/>
              <a:ext cx="10078863" cy="1472377"/>
              <a:chOff x="0" y="0"/>
              <a:chExt cx="848060" cy="123889"/>
            </a:xfrm>
          </p:grpSpPr>
          <p:sp>
            <p:nvSpPr>
              <p:cNvPr name="Freeform 18" id="18"/>
              <p:cNvSpPr/>
              <p:nvPr/>
            </p:nvSpPr>
            <p:spPr>
              <a:xfrm flipH="false" flipV="false" rot="0">
                <a:off x="0" y="0"/>
                <a:ext cx="848060" cy="123889"/>
              </a:xfrm>
              <a:custGeom>
                <a:avLst/>
                <a:gdLst/>
                <a:ahLst/>
                <a:cxnLst/>
                <a:rect r="r" b="b" t="t" l="l"/>
                <a:pathLst>
                  <a:path h="123889" w="848060">
                    <a:moveTo>
                      <a:pt x="25604" y="0"/>
                    </a:moveTo>
                    <a:lnTo>
                      <a:pt x="822456" y="0"/>
                    </a:lnTo>
                    <a:cubicBezTo>
                      <a:pt x="829246" y="0"/>
                      <a:pt x="835759" y="2698"/>
                      <a:pt x="840561" y="7499"/>
                    </a:cubicBezTo>
                    <a:cubicBezTo>
                      <a:pt x="845363" y="12301"/>
                      <a:pt x="848060" y="18814"/>
                      <a:pt x="848060" y="25604"/>
                    </a:cubicBezTo>
                    <a:lnTo>
                      <a:pt x="848060" y="98285"/>
                    </a:lnTo>
                    <a:cubicBezTo>
                      <a:pt x="848060" y="105076"/>
                      <a:pt x="845363" y="111588"/>
                      <a:pt x="840561" y="116390"/>
                    </a:cubicBezTo>
                    <a:cubicBezTo>
                      <a:pt x="835759" y="121192"/>
                      <a:pt x="829246" y="123889"/>
                      <a:pt x="822456" y="123889"/>
                    </a:cubicBezTo>
                    <a:lnTo>
                      <a:pt x="25604" y="123889"/>
                    </a:lnTo>
                    <a:cubicBezTo>
                      <a:pt x="18814" y="123889"/>
                      <a:pt x="12301" y="121192"/>
                      <a:pt x="7499" y="116390"/>
                    </a:cubicBezTo>
                    <a:cubicBezTo>
                      <a:pt x="2698" y="111588"/>
                      <a:pt x="0" y="105076"/>
                      <a:pt x="0" y="98285"/>
                    </a:cubicBezTo>
                    <a:lnTo>
                      <a:pt x="0" y="25604"/>
                    </a:lnTo>
                    <a:cubicBezTo>
                      <a:pt x="0" y="18814"/>
                      <a:pt x="2698" y="12301"/>
                      <a:pt x="7499" y="7499"/>
                    </a:cubicBezTo>
                    <a:cubicBezTo>
                      <a:pt x="12301" y="2698"/>
                      <a:pt x="18814" y="0"/>
                      <a:pt x="25604" y="0"/>
                    </a:cubicBezTo>
                    <a:close/>
                  </a:path>
                </a:pathLst>
              </a:custGeom>
              <a:gradFill rotWithShape="true">
                <a:gsLst>
                  <a:gs pos="0">
                    <a:srgbClr val="31A1D4">
                      <a:alpha val="47000"/>
                    </a:srgbClr>
                  </a:gs>
                  <a:gs pos="100000">
                    <a:srgbClr val="035E8E">
                      <a:alpha val="0"/>
                    </a:srgbClr>
                  </a:gs>
                </a:gsLst>
                <a:lin ang="2700000"/>
              </a:gradFill>
            </p:spPr>
          </p:sp>
          <p:sp>
            <p:nvSpPr>
              <p:cNvPr name="TextBox 19" id="19"/>
              <p:cNvSpPr txBox="true"/>
              <p:nvPr/>
            </p:nvSpPr>
            <p:spPr>
              <a:xfrm>
                <a:off x="0" y="-57150"/>
                <a:ext cx="848060" cy="181039"/>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20" id="20"/>
            <p:cNvSpPr txBox="true"/>
            <p:nvPr/>
          </p:nvSpPr>
          <p:spPr>
            <a:xfrm rot="0">
              <a:off x="15445788" y="233272"/>
              <a:ext cx="11594026"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 Mục tiêu ng</a:t>
              </a:r>
              <a:r>
                <a:rPr lang="en-US" b="true" sz="5000">
                  <a:solidFill>
                    <a:srgbClr val="FFFFFF"/>
                  </a:solidFill>
                  <a:latin typeface="Times New Roman Bold"/>
                  <a:ea typeface="Times New Roman Bold"/>
                  <a:cs typeface="Times New Roman Bold"/>
                  <a:sym typeface="Times New Roman Bold"/>
                </a:rPr>
                <a:t>hiên cứu</a:t>
              </a:r>
            </a:p>
          </p:txBody>
        </p:sp>
        <p:sp>
          <p:nvSpPr>
            <p:cNvPr name="TextBox 21" id="21"/>
            <p:cNvSpPr txBox="true"/>
            <p:nvPr/>
          </p:nvSpPr>
          <p:spPr>
            <a:xfrm rot="0">
              <a:off x="14207852" y="233272"/>
              <a:ext cx="1101928"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02.</a:t>
              </a:r>
            </a:p>
          </p:txBody>
        </p:sp>
        <p:grpSp>
          <p:nvGrpSpPr>
            <p:cNvPr name="Group 22" id="22"/>
            <p:cNvGrpSpPr/>
            <p:nvPr/>
          </p:nvGrpSpPr>
          <p:grpSpPr>
            <a:xfrm rot="0">
              <a:off x="2837056" y="1937063"/>
              <a:ext cx="8862762" cy="1472377"/>
              <a:chOff x="0" y="0"/>
              <a:chExt cx="745734" cy="123889"/>
            </a:xfrm>
          </p:grpSpPr>
          <p:sp>
            <p:nvSpPr>
              <p:cNvPr name="Freeform 23" id="23"/>
              <p:cNvSpPr/>
              <p:nvPr/>
            </p:nvSpPr>
            <p:spPr>
              <a:xfrm flipH="false" flipV="false" rot="0">
                <a:off x="0" y="0"/>
                <a:ext cx="745735" cy="123889"/>
              </a:xfrm>
              <a:custGeom>
                <a:avLst/>
                <a:gdLst/>
                <a:ahLst/>
                <a:cxnLst/>
                <a:rect r="r" b="b" t="t" l="l"/>
                <a:pathLst>
                  <a:path h="123889" w="745735">
                    <a:moveTo>
                      <a:pt x="29118" y="0"/>
                    </a:moveTo>
                    <a:lnTo>
                      <a:pt x="716617" y="0"/>
                    </a:lnTo>
                    <a:cubicBezTo>
                      <a:pt x="724339" y="0"/>
                      <a:pt x="731745" y="3068"/>
                      <a:pt x="737206" y="8528"/>
                    </a:cubicBezTo>
                    <a:cubicBezTo>
                      <a:pt x="742667" y="13989"/>
                      <a:pt x="745735" y="21395"/>
                      <a:pt x="745735" y="29118"/>
                    </a:cubicBezTo>
                    <a:lnTo>
                      <a:pt x="745735" y="94772"/>
                    </a:lnTo>
                    <a:cubicBezTo>
                      <a:pt x="745735" y="102494"/>
                      <a:pt x="742667" y="109900"/>
                      <a:pt x="737206" y="115361"/>
                    </a:cubicBezTo>
                    <a:cubicBezTo>
                      <a:pt x="731745" y="120822"/>
                      <a:pt x="724339" y="123889"/>
                      <a:pt x="716617" y="123889"/>
                    </a:cubicBezTo>
                    <a:lnTo>
                      <a:pt x="29118" y="123889"/>
                    </a:lnTo>
                    <a:cubicBezTo>
                      <a:pt x="21395" y="123889"/>
                      <a:pt x="13989" y="120822"/>
                      <a:pt x="8528" y="115361"/>
                    </a:cubicBezTo>
                    <a:cubicBezTo>
                      <a:pt x="3068" y="109900"/>
                      <a:pt x="0" y="102494"/>
                      <a:pt x="0" y="94772"/>
                    </a:cubicBezTo>
                    <a:lnTo>
                      <a:pt x="0" y="29118"/>
                    </a:lnTo>
                    <a:cubicBezTo>
                      <a:pt x="0" y="21395"/>
                      <a:pt x="3068" y="13989"/>
                      <a:pt x="8528" y="8528"/>
                    </a:cubicBezTo>
                    <a:cubicBezTo>
                      <a:pt x="13989" y="3068"/>
                      <a:pt x="21395" y="0"/>
                      <a:pt x="29118" y="0"/>
                    </a:cubicBezTo>
                    <a:close/>
                  </a:path>
                </a:pathLst>
              </a:custGeom>
              <a:gradFill rotWithShape="true">
                <a:gsLst>
                  <a:gs pos="0">
                    <a:srgbClr val="31A1D4">
                      <a:alpha val="47000"/>
                    </a:srgbClr>
                  </a:gs>
                  <a:gs pos="100000">
                    <a:srgbClr val="035E8E">
                      <a:alpha val="0"/>
                    </a:srgbClr>
                  </a:gs>
                </a:gsLst>
                <a:lin ang="2700000"/>
              </a:gradFill>
            </p:spPr>
          </p:sp>
          <p:sp>
            <p:nvSpPr>
              <p:cNvPr name="TextBox 24" id="24"/>
              <p:cNvSpPr txBox="true"/>
              <p:nvPr/>
            </p:nvSpPr>
            <p:spPr>
              <a:xfrm>
                <a:off x="0" y="-57150"/>
                <a:ext cx="745734" cy="181039"/>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25" id="25"/>
            <p:cNvSpPr txBox="true"/>
            <p:nvPr/>
          </p:nvSpPr>
          <p:spPr>
            <a:xfrm rot="0">
              <a:off x="4623481" y="1955892"/>
              <a:ext cx="7048601"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Cơ sở</a:t>
              </a:r>
              <a:r>
                <a:rPr lang="en-US" b="true" sz="5000">
                  <a:solidFill>
                    <a:srgbClr val="FFFFFF"/>
                  </a:solidFill>
                  <a:latin typeface="Times New Roman Bold"/>
                  <a:ea typeface="Times New Roman Bold"/>
                  <a:cs typeface="Times New Roman Bold"/>
                  <a:sym typeface="Times New Roman Bold"/>
                </a:rPr>
                <a:t> lý thuyết</a:t>
              </a:r>
            </a:p>
          </p:txBody>
        </p:sp>
        <p:sp>
          <p:nvSpPr>
            <p:cNvPr name="TextBox 26" id="26"/>
            <p:cNvSpPr txBox="true"/>
            <p:nvPr/>
          </p:nvSpPr>
          <p:spPr>
            <a:xfrm rot="0">
              <a:off x="3461745" y="1955892"/>
              <a:ext cx="1101928"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03.</a:t>
              </a:r>
            </a:p>
          </p:txBody>
        </p:sp>
        <p:grpSp>
          <p:nvGrpSpPr>
            <p:cNvPr name="Group 27" id="27"/>
            <p:cNvGrpSpPr/>
            <p:nvPr/>
          </p:nvGrpSpPr>
          <p:grpSpPr>
            <a:xfrm rot="0">
              <a:off x="13621305" y="1937063"/>
              <a:ext cx="10249176" cy="1472377"/>
              <a:chOff x="0" y="0"/>
              <a:chExt cx="862391" cy="123889"/>
            </a:xfrm>
          </p:grpSpPr>
          <p:sp>
            <p:nvSpPr>
              <p:cNvPr name="Freeform 28" id="28"/>
              <p:cNvSpPr/>
              <p:nvPr/>
            </p:nvSpPr>
            <p:spPr>
              <a:xfrm flipH="false" flipV="false" rot="0">
                <a:off x="0" y="0"/>
                <a:ext cx="862391" cy="123889"/>
              </a:xfrm>
              <a:custGeom>
                <a:avLst/>
                <a:gdLst/>
                <a:ahLst/>
                <a:cxnLst/>
                <a:rect r="r" b="b" t="t" l="l"/>
                <a:pathLst>
                  <a:path h="123889" w="862391">
                    <a:moveTo>
                      <a:pt x="25179" y="0"/>
                    </a:moveTo>
                    <a:lnTo>
                      <a:pt x="837212" y="0"/>
                    </a:lnTo>
                    <a:cubicBezTo>
                      <a:pt x="843890" y="0"/>
                      <a:pt x="850294" y="2653"/>
                      <a:pt x="855016" y="7375"/>
                    </a:cubicBezTo>
                    <a:cubicBezTo>
                      <a:pt x="859738" y="12097"/>
                      <a:pt x="862391" y="18501"/>
                      <a:pt x="862391" y="25179"/>
                    </a:cubicBezTo>
                    <a:lnTo>
                      <a:pt x="862391" y="98710"/>
                    </a:lnTo>
                    <a:cubicBezTo>
                      <a:pt x="862391" y="105388"/>
                      <a:pt x="859738" y="111793"/>
                      <a:pt x="855016" y="116515"/>
                    </a:cubicBezTo>
                    <a:cubicBezTo>
                      <a:pt x="850294" y="121237"/>
                      <a:pt x="843890" y="123889"/>
                      <a:pt x="837212" y="123889"/>
                    </a:cubicBezTo>
                    <a:lnTo>
                      <a:pt x="25179" y="123889"/>
                    </a:lnTo>
                    <a:cubicBezTo>
                      <a:pt x="18501" y="123889"/>
                      <a:pt x="12097" y="121237"/>
                      <a:pt x="7375" y="116515"/>
                    </a:cubicBezTo>
                    <a:cubicBezTo>
                      <a:pt x="2653" y="111793"/>
                      <a:pt x="0" y="105388"/>
                      <a:pt x="0" y="98710"/>
                    </a:cubicBezTo>
                    <a:lnTo>
                      <a:pt x="0" y="25179"/>
                    </a:lnTo>
                    <a:cubicBezTo>
                      <a:pt x="0" y="18501"/>
                      <a:pt x="2653" y="12097"/>
                      <a:pt x="7375" y="7375"/>
                    </a:cubicBezTo>
                    <a:cubicBezTo>
                      <a:pt x="12097" y="2653"/>
                      <a:pt x="18501" y="0"/>
                      <a:pt x="25179" y="0"/>
                    </a:cubicBezTo>
                    <a:close/>
                  </a:path>
                </a:pathLst>
              </a:custGeom>
              <a:gradFill rotWithShape="true">
                <a:gsLst>
                  <a:gs pos="0">
                    <a:srgbClr val="31A1D4">
                      <a:alpha val="47000"/>
                    </a:srgbClr>
                  </a:gs>
                  <a:gs pos="100000">
                    <a:srgbClr val="035E8E">
                      <a:alpha val="0"/>
                    </a:srgbClr>
                  </a:gs>
                </a:gsLst>
                <a:lin ang="2700000"/>
              </a:gradFill>
            </p:spPr>
          </p:sp>
          <p:sp>
            <p:nvSpPr>
              <p:cNvPr name="TextBox 29" id="29"/>
              <p:cNvSpPr txBox="true"/>
              <p:nvPr/>
            </p:nvSpPr>
            <p:spPr>
              <a:xfrm>
                <a:off x="0" y="-57150"/>
                <a:ext cx="862391" cy="181039"/>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30" id="30"/>
            <p:cNvSpPr txBox="true"/>
            <p:nvPr/>
          </p:nvSpPr>
          <p:spPr>
            <a:xfrm rot="0">
              <a:off x="15463704" y="2062882"/>
              <a:ext cx="11789944"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Mô tả bài toán</a:t>
              </a:r>
            </a:p>
          </p:txBody>
        </p:sp>
        <p:sp>
          <p:nvSpPr>
            <p:cNvPr name="TextBox 31" id="31"/>
            <p:cNvSpPr txBox="true"/>
            <p:nvPr/>
          </p:nvSpPr>
          <p:spPr>
            <a:xfrm rot="0">
              <a:off x="14278582" y="2062882"/>
              <a:ext cx="1120549"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04.</a:t>
              </a:r>
            </a:p>
          </p:txBody>
        </p:sp>
        <p:grpSp>
          <p:nvGrpSpPr>
            <p:cNvPr name="Group 32" id="32"/>
            <p:cNvGrpSpPr/>
            <p:nvPr/>
          </p:nvGrpSpPr>
          <p:grpSpPr>
            <a:xfrm rot="0">
              <a:off x="2837056" y="3892040"/>
              <a:ext cx="8862762" cy="1472377"/>
              <a:chOff x="0" y="0"/>
              <a:chExt cx="745734" cy="123889"/>
            </a:xfrm>
          </p:grpSpPr>
          <p:sp>
            <p:nvSpPr>
              <p:cNvPr name="Freeform 33" id="33"/>
              <p:cNvSpPr/>
              <p:nvPr/>
            </p:nvSpPr>
            <p:spPr>
              <a:xfrm flipH="false" flipV="false" rot="0">
                <a:off x="0" y="0"/>
                <a:ext cx="745735" cy="123889"/>
              </a:xfrm>
              <a:custGeom>
                <a:avLst/>
                <a:gdLst/>
                <a:ahLst/>
                <a:cxnLst/>
                <a:rect r="r" b="b" t="t" l="l"/>
                <a:pathLst>
                  <a:path h="123889" w="745735">
                    <a:moveTo>
                      <a:pt x="29118" y="0"/>
                    </a:moveTo>
                    <a:lnTo>
                      <a:pt x="716617" y="0"/>
                    </a:lnTo>
                    <a:cubicBezTo>
                      <a:pt x="724339" y="0"/>
                      <a:pt x="731745" y="3068"/>
                      <a:pt x="737206" y="8528"/>
                    </a:cubicBezTo>
                    <a:cubicBezTo>
                      <a:pt x="742667" y="13989"/>
                      <a:pt x="745735" y="21395"/>
                      <a:pt x="745735" y="29118"/>
                    </a:cubicBezTo>
                    <a:lnTo>
                      <a:pt x="745735" y="94772"/>
                    </a:lnTo>
                    <a:cubicBezTo>
                      <a:pt x="745735" y="102494"/>
                      <a:pt x="742667" y="109900"/>
                      <a:pt x="737206" y="115361"/>
                    </a:cubicBezTo>
                    <a:cubicBezTo>
                      <a:pt x="731745" y="120822"/>
                      <a:pt x="724339" y="123889"/>
                      <a:pt x="716617" y="123889"/>
                    </a:cubicBezTo>
                    <a:lnTo>
                      <a:pt x="29118" y="123889"/>
                    </a:lnTo>
                    <a:cubicBezTo>
                      <a:pt x="21395" y="123889"/>
                      <a:pt x="13989" y="120822"/>
                      <a:pt x="8528" y="115361"/>
                    </a:cubicBezTo>
                    <a:cubicBezTo>
                      <a:pt x="3068" y="109900"/>
                      <a:pt x="0" y="102494"/>
                      <a:pt x="0" y="94772"/>
                    </a:cubicBezTo>
                    <a:lnTo>
                      <a:pt x="0" y="29118"/>
                    </a:lnTo>
                    <a:cubicBezTo>
                      <a:pt x="0" y="21395"/>
                      <a:pt x="3068" y="13989"/>
                      <a:pt x="8528" y="8528"/>
                    </a:cubicBezTo>
                    <a:cubicBezTo>
                      <a:pt x="13989" y="3068"/>
                      <a:pt x="21395" y="0"/>
                      <a:pt x="29118" y="0"/>
                    </a:cubicBezTo>
                    <a:close/>
                  </a:path>
                </a:pathLst>
              </a:custGeom>
              <a:gradFill rotWithShape="true">
                <a:gsLst>
                  <a:gs pos="0">
                    <a:srgbClr val="31A1D4">
                      <a:alpha val="47000"/>
                    </a:srgbClr>
                  </a:gs>
                  <a:gs pos="100000">
                    <a:srgbClr val="035E8E">
                      <a:alpha val="0"/>
                    </a:srgbClr>
                  </a:gs>
                </a:gsLst>
                <a:lin ang="2700000"/>
              </a:gradFill>
            </p:spPr>
          </p:sp>
          <p:sp>
            <p:nvSpPr>
              <p:cNvPr name="TextBox 34" id="34"/>
              <p:cNvSpPr txBox="true"/>
              <p:nvPr/>
            </p:nvSpPr>
            <p:spPr>
              <a:xfrm>
                <a:off x="0" y="-57150"/>
                <a:ext cx="745734" cy="181039"/>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35" id="35"/>
            <p:cNvSpPr txBox="true"/>
            <p:nvPr/>
          </p:nvSpPr>
          <p:spPr>
            <a:xfrm rot="0">
              <a:off x="4665084" y="4067122"/>
              <a:ext cx="7048601"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Yêu</a:t>
              </a:r>
              <a:r>
                <a:rPr lang="en-US" b="true" sz="5000">
                  <a:solidFill>
                    <a:srgbClr val="FFFFFF"/>
                  </a:solidFill>
                  <a:latin typeface="Times New Roman Bold"/>
                  <a:ea typeface="Times New Roman Bold"/>
                  <a:cs typeface="Times New Roman Bold"/>
                  <a:sym typeface="Times New Roman Bold"/>
                </a:rPr>
                <a:t> cầu hệ thống</a:t>
              </a:r>
            </a:p>
          </p:txBody>
        </p:sp>
        <p:grpSp>
          <p:nvGrpSpPr>
            <p:cNvPr name="Group 36" id="36"/>
            <p:cNvGrpSpPr/>
            <p:nvPr/>
          </p:nvGrpSpPr>
          <p:grpSpPr>
            <a:xfrm rot="0">
              <a:off x="13608605" y="3892040"/>
              <a:ext cx="10078863" cy="1472377"/>
              <a:chOff x="0" y="0"/>
              <a:chExt cx="848060" cy="123889"/>
            </a:xfrm>
          </p:grpSpPr>
          <p:sp>
            <p:nvSpPr>
              <p:cNvPr name="Freeform 37" id="37"/>
              <p:cNvSpPr/>
              <p:nvPr/>
            </p:nvSpPr>
            <p:spPr>
              <a:xfrm flipH="false" flipV="false" rot="0">
                <a:off x="0" y="0"/>
                <a:ext cx="848060" cy="123889"/>
              </a:xfrm>
              <a:custGeom>
                <a:avLst/>
                <a:gdLst/>
                <a:ahLst/>
                <a:cxnLst/>
                <a:rect r="r" b="b" t="t" l="l"/>
                <a:pathLst>
                  <a:path h="123889" w="848060">
                    <a:moveTo>
                      <a:pt x="25604" y="0"/>
                    </a:moveTo>
                    <a:lnTo>
                      <a:pt x="822456" y="0"/>
                    </a:lnTo>
                    <a:cubicBezTo>
                      <a:pt x="829246" y="0"/>
                      <a:pt x="835759" y="2698"/>
                      <a:pt x="840561" y="7499"/>
                    </a:cubicBezTo>
                    <a:cubicBezTo>
                      <a:pt x="845363" y="12301"/>
                      <a:pt x="848060" y="18814"/>
                      <a:pt x="848060" y="25604"/>
                    </a:cubicBezTo>
                    <a:lnTo>
                      <a:pt x="848060" y="98285"/>
                    </a:lnTo>
                    <a:cubicBezTo>
                      <a:pt x="848060" y="105076"/>
                      <a:pt x="845363" y="111588"/>
                      <a:pt x="840561" y="116390"/>
                    </a:cubicBezTo>
                    <a:cubicBezTo>
                      <a:pt x="835759" y="121192"/>
                      <a:pt x="829246" y="123889"/>
                      <a:pt x="822456" y="123889"/>
                    </a:cubicBezTo>
                    <a:lnTo>
                      <a:pt x="25604" y="123889"/>
                    </a:lnTo>
                    <a:cubicBezTo>
                      <a:pt x="18814" y="123889"/>
                      <a:pt x="12301" y="121192"/>
                      <a:pt x="7499" y="116390"/>
                    </a:cubicBezTo>
                    <a:cubicBezTo>
                      <a:pt x="2698" y="111588"/>
                      <a:pt x="0" y="105076"/>
                      <a:pt x="0" y="98285"/>
                    </a:cubicBezTo>
                    <a:lnTo>
                      <a:pt x="0" y="25604"/>
                    </a:lnTo>
                    <a:cubicBezTo>
                      <a:pt x="0" y="18814"/>
                      <a:pt x="2698" y="12301"/>
                      <a:pt x="7499" y="7499"/>
                    </a:cubicBezTo>
                    <a:cubicBezTo>
                      <a:pt x="12301" y="2698"/>
                      <a:pt x="18814" y="0"/>
                      <a:pt x="25604" y="0"/>
                    </a:cubicBezTo>
                    <a:close/>
                  </a:path>
                </a:pathLst>
              </a:custGeom>
              <a:gradFill rotWithShape="true">
                <a:gsLst>
                  <a:gs pos="0">
                    <a:srgbClr val="31A1D4">
                      <a:alpha val="47000"/>
                    </a:srgbClr>
                  </a:gs>
                  <a:gs pos="100000">
                    <a:srgbClr val="035E8E">
                      <a:alpha val="0"/>
                    </a:srgbClr>
                  </a:gs>
                </a:gsLst>
                <a:lin ang="2700000"/>
              </a:gradFill>
            </p:spPr>
          </p:sp>
          <p:sp>
            <p:nvSpPr>
              <p:cNvPr name="TextBox 38" id="38"/>
              <p:cNvSpPr txBox="true"/>
              <p:nvPr/>
            </p:nvSpPr>
            <p:spPr>
              <a:xfrm>
                <a:off x="0" y="-57150"/>
                <a:ext cx="848060" cy="181039"/>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39" id="39"/>
            <p:cNvSpPr txBox="true"/>
            <p:nvPr/>
          </p:nvSpPr>
          <p:spPr>
            <a:xfrm rot="0">
              <a:off x="15420388" y="4017859"/>
              <a:ext cx="11594026"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Thiết kế hệ thống</a:t>
              </a:r>
            </a:p>
          </p:txBody>
        </p:sp>
        <p:sp>
          <p:nvSpPr>
            <p:cNvPr name="TextBox 40" id="40"/>
            <p:cNvSpPr txBox="true"/>
            <p:nvPr/>
          </p:nvSpPr>
          <p:spPr>
            <a:xfrm rot="0">
              <a:off x="14254960" y="4017859"/>
              <a:ext cx="1101928"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06.</a:t>
              </a:r>
            </a:p>
          </p:txBody>
        </p:sp>
        <p:grpSp>
          <p:nvGrpSpPr>
            <p:cNvPr name="Group 41" id="41"/>
            <p:cNvGrpSpPr/>
            <p:nvPr/>
          </p:nvGrpSpPr>
          <p:grpSpPr>
            <a:xfrm rot="0">
              <a:off x="2837056" y="5847018"/>
              <a:ext cx="8904364" cy="1472377"/>
              <a:chOff x="0" y="0"/>
              <a:chExt cx="749235" cy="123889"/>
            </a:xfrm>
          </p:grpSpPr>
          <p:sp>
            <p:nvSpPr>
              <p:cNvPr name="Freeform 42" id="42"/>
              <p:cNvSpPr/>
              <p:nvPr/>
            </p:nvSpPr>
            <p:spPr>
              <a:xfrm flipH="false" flipV="false" rot="0">
                <a:off x="0" y="0"/>
                <a:ext cx="749235" cy="123889"/>
              </a:xfrm>
              <a:custGeom>
                <a:avLst/>
                <a:gdLst/>
                <a:ahLst/>
                <a:cxnLst/>
                <a:rect r="r" b="b" t="t" l="l"/>
                <a:pathLst>
                  <a:path h="123889" w="749235">
                    <a:moveTo>
                      <a:pt x="28982" y="0"/>
                    </a:moveTo>
                    <a:lnTo>
                      <a:pt x="720253" y="0"/>
                    </a:lnTo>
                    <a:cubicBezTo>
                      <a:pt x="736259" y="0"/>
                      <a:pt x="749235" y="12976"/>
                      <a:pt x="749235" y="28982"/>
                    </a:cubicBezTo>
                    <a:lnTo>
                      <a:pt x="749235" y="94908"/>
                    </a:lnTo>
                    <a:cubicBezTo>
                      <a:pt x="749235" y="110914"/>
                      <a:pt x="736259" y="123889"/>
                      <a:pt x="720253" y="123889"/>
                    </a:cubicBezTo>
                    <a:lnTo>
                      <a:pt x="28982" y="123889"/>
                    </a:lnTo>
                    <a:cubicBezTo>
                      <a:pt x="12976" y="123889"/>
                      <a:pt x="0" y="110914"/>
                      <a:pt x="0" y="94908"/>
                    </a:cubicBezTo>
                    <a:lnTo>
                      <a:pt x="0" y="28982"/>
                    </a:lnTo>
                    <a:cubicBezTo>
                      <a:pt x="0" y="12976"/>
                      <a:pt x="12976" y="0"/>
                      <a:pt x="28982" y="0"/>
                    </a:cubicBezTo>
                    <a:close/>
                  </a:path>
                </a:pathLst>
              </a:custGeom>
              <a:gradFill rotWithShape="true">
                <a:gsLst>
                  <a:gs pos="0">
                    <a:srgbClr val="31A1D4">
                      <a:alpha val="47000"/>
                    </a:srgbClr>
                  </a:gs>
                  <a:gs pos="100000">
                    <a:srgbClr val="035E8E">
                      <a:alpha val="0"/>
                    </a:srgbClr>
                  </a:gs>
                </a:gsLst>
                <a:lin ang="2700000"/>
              </a:gradFill>
            </p:spPr>
          </p:sp>
          <p:sp>
            <p:nvSpPr>
              <p:cNvPr name="TextBox 43" id="43"/>
              <p:cNvSpPr txBox="true"/>
              <p:nvPr/>
            </p:nvSpPr>
            <p:spPr>
              <a:xfrm>
                <a:off x="0" y="-57150"/>
                <a:ext cx="749235" cy="181039"/>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44" id="44"/>
            <p:cNvSpPr txBox="true"/>
            <p:nvPr/>
          </p:nvSpPr>
          <p:spPr>
            <a:xfrm rot="0">
              <a:off x="4665084" y="6022099"/>
              <a:ext cx="7507131" cy="1145117"/>
            </a:xfrm>
            <a:prstGeom prst="rect">
              <a:avLst/>
            </a:prstGeom>
          </p:spPr>
          <p:txBody>
            <a:bodyPr anchor="t" rtlCol="false" tIns="0" lIns="0" bIns="0" rIns="0">
              <a:spAutoFit/>
            </a:bodyPr>
            <a:lstStyle/>
            <a:p>
              <a:pPr algn="l">
                <a:lnSpc>
                  <a:spcPts val="7000"/>
                </a:lnSpc>
                <a:spcBef>
                  <a:spcPct val="0"/>
                </a:spcBef>
              </a:pPr>
              <a:r>
                <a:rPr lang="en-US" b="true" sz="5000">
                  <a:solidFill>
                    <a:srgbClr val="FFFFFF"/>
                  </a:solidFill>
                  <a:latin typeface="Times New Roman Bold"/>
                  <a:ea typeface="Times New Roman Bold"/>
                  <a:cs typeface="Times New Roman Bold"/>
                  <a:sym typeface="Times New Roman Bold"/>
                </a:rPr>
                <a:t>Kết quả nghiên cứu</a:t>
              </a:r>
            </a:p>
          </p:txBody>
        </p:sp>
        <p:sp>
          <p:nvSpPr>
            <p:cNvPr name="TextBox 45" id="45"/>
            <p:cNvSpPr txBox="true"/>
            <p:nvPr/>
          </p:nvSpPr>
          <p:spPr>
            <a:xfrm rot="0">
              <a:off x="3503347" y="6022099"/>
              <a:ext cx="1101928"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07.</a:t>
              </a:r>
            </a:p>
          </p:txBody>
        </p:sp>
        <p:grpSp>
          <p:nvGrpSpPr>
            <p:cNvPr name="Group 46" id="46"/>
            <p:cNvGrpSpPr/>
            <p:nvPr/>
          </p:nvGrpSpPr>
          <p:grpSpPr>
            <a:xfrm rot="0">
              <a:off x="13608605" y="5847018"/>
              <a:ext cx="12531000" cy="1432505"/>
              <a:chOff x="0" y="0"/>
              <a:chExt cx="1054389" cy="120535"/>
            </a:xfrm>
          </p:grpSpPr>
          <p:sp>
            <p:nvSpPr>
              <p:cNvPr name="Freeform 47" id="47"/>
              <p:cNvSpPr/>
              <p:nvPr/>
            </p:nvSpPr>
            <p:spPr>
              <a:xfrm flipH="false" flipV="false" rot="0">
                <a:off x="0" y="0"/>
                <a:ext cx="1054389" cy="120535"/>
              </a:xfrm>
              <a:custGeom>
                <a:avLst/>
                <a:gdLst/>
                <a:ahLst/>
                <a:cxnLst/>
                <a:rect r="r" b="b" t="t" l="l"/>
                <a:pathLst>
                  <a:path h="120535" w="1054389">
                    <a:moveTo>
                      <a:pt x="20594" y="0"/>
                    </a:moveTo>
                    <a:lnTo>
                      <a:pt x="1033795" y="0"/>
                    </a:lnTo>
                    <a:cubicBezTo>
                      <a:pt x="1045169" y="0"/>
                      <a:pt x="1054389" y="9220"/>
                      <a:pt x="1054389" y="20594"/>
                    </a:cubicBezTo>
                    <a:lnTo>
                      <a:pt x="1054389" y="99940"/>
                    </a:lnTo>
                    <a:cubicBezTo>
                      <a:pt x="1054389" y="105402"/>
                      <a:pt x="1052219" y="110641"/>
                      <a:pt x="1048357" y="114503"/>
                    </a:cubicBezTo>
                    <a:cubicBezTo>
                      <a:pt x="1044495" y="118365"/>
                      <a:pt x="1039257" y="120535"/>
                      <a:pt x="1033795" y="120535"/>
                    </a:cubicBezTo>
                    <a:lnTo>
                      <a:pt x="20594" y="120535"/>
                    </a:lnTo>
                    <a:cubicBezTo>
                      <a:pt x="15132" y="120535"/>
                      <a:pt x="9894" y="118365"/>
                      <a:pt x="6032" y="114503"/>
                    </a:cubicBezTo>
                    <a:cubicBezTo>
                      <a:pt x="2170" y="110641"/>
                      <a:pt x="0" y="105402"/>
                      <a:pt x="0" y="99940"/>
                    </a:cubicBezTo>
                    <a:lnTo>
                      <a:pt x="0" y="20594"/>
                    </a:lnTo>
                    <a:cubicBezTo>
                      <a:pt x="0" y="15132"/>
                      <a:pt x="2170" y="9894"/>
                      <a:pt x="6032" y="6032"/>
                    </a:cubicBezTo>
                    <a:cubicBezTo>
                      <a:pt x="9894" y="2170"/>
                      <a:pt x="15132" y="0"/>
                      <a:pt x="20594" y="0"/>
                    </a:cubicBezTo>
                    <a:close/>
                  </a:path>
                </a:pathLst>
              </a:custGeom>
              <a:gradFill rotWithShape="true">
                <a:gsLst>
                  <a:gs pos="0">
                    <a:srgbClr val="31A1D4">
                      <a:alpha val="47000"/>
                    </a:srgbClr>
                  </a:gs>
                  <a:gs pos="100000">
                    <a:srgbClr val="035E8E">
                      <a:alpha val="0"/>
                    </a:srgbClr>
                  </a:gs>
                </a:gsLst>
                <a:lin ang="2700000"/>
              </a:gradFill>
            </p:spPr>
          </p:sp>
          <p:sp>
            <p:nvSpPr>
              <p:cNvPr name="TextBox 48" id="48"/>
              <p:cNvSpPr txBox="true"/>
              <p:nvPr/>
            </p:nvSpPr>
            <p:spPr>
              <a:xfrm>
                <a:off x="0" y="-57150"/>
                <a:ext cx="1054389" cy="177685"/>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49" id="49"/>
            <p:cNvSpPr txBox="true"/>
            <p:nvPr/>
          </p:nvSpPr>
          <p:spPr>
            <a:xfrm rot="0">
              <a:off x="15420388" y="5972837"/>
              <a:ext cx="11594026"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Kết luận và hướng phát triển</a:t>
              </a:r>
            </a:p>
          </p:txBody>
        </p:sp>
        <p:sp>
          <p:nvSpPr>
            <p:cNvPr name="TextBox 50" id="50"/>
            <p:cNvSpPr txBox="true"/>
            <p:nvPr/>
          </p:nvSpPr>
          <p:spPr>
            <a:xfrm rot="0">
              <a:off x="14254960" y="5980368"/>
              <a:ext cx="1101928"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08.</a:t>
              </a:r>
            </a:p>
          </p:txBody>
        </p:sp>
        <p:sp>
          <p:nvSpPr>
            <p:cNvPr name="TextBox 51" id="51"/>
            <p:cNvSpPr txBox="true"/>
            <p:nvPr/>
          </p:nvSpPr>
          <p:spPr>
            <a:xfrm rot="0">
              <a:off x="3475612" y="4071118"/>
              <a:ext cx="1101928" cy="1145117"/>
            </a:xfrm>
            <a:prstGeom prst="rect">
              <a:avLst/>
            </a:prstGeom>
          </p:spPr>
          <p:txBody>
            <a:bodyPr anchor="t" rtlCol="false" tIns="0" lIns="0" bIns="0" rIns="0">
              <a:spAutoFit/>
            </a:bodyPr>
            <a:lstStyle/>
            <a:p>
              <a:pPr algn="l">
                <a:lnSpc>
                  <a:spcPts val="7000"/>
                </a:lnSpc>
                <a:spcBef>
                  <a:spcPct val="0"/>
                </a:spcBef>
              </a:pPr>
              <a:r>
                <a:rPr lang="en-US" sz="5000" b="true">
                  <a:solidFill>
                    <a:srgbClr val="FFFFFF"/>
                  </a:solidFill>
                  <a:latin typeface="Times New Roman Bold"/>
                  <a:ea typeface="Times New Roman Bold"/>
                  <a:cs typeface="Times New Roman Bold"/>
                  <a:sym typeface="Times New Roman Bold"/>
                </a:rPr>
                <a:t>05.</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8D8D8">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473752" y="2786276"/>
            <a:ext cx="5609890" cy="6034903"/>
            <a:chOff x="0" y="0"/>
            <a:chExt cx="629373" cy="677055"/>
          </a:xfrm>
        </p:grpSpPr>
        <p:sp>
          <p:nvSpPr>
            <p:cNvPr name="Freeform 3" id="3"/>
            <p:cNvSpPr/>
            <p:nvPr/>
          </p:nvSpPr>
          <p:spPr>
            <a:xfrm flipH="false" flipV="false" rot="0">
              <a:off x="0" y="0"/>
              <a:ext cx="629373" cy="677055"/>
            </a:xfrm>
            <a:custGeom>
              <a:avLst/>
              <a:gdLst/>
              <a:ahLst/>
              <a:cxnLst/>
              <a:rect r="r" b="b" t="t" l="l"/>
              <a:pathLst>
                <a:path h="677055" w="629373">
                  <a:moveTo>
                    <a:pt x="34501" y="0"/>
                  </a:moveTo>
                  <a:lnTo>
                    <a:pt x="594872" y="0"/>
                  </a:lnTo>
                  <a:cubicBezTo>
                    <a:pt x="613926" y="0"/>
                    <a:pt x="629373" y="15447"/>
                    <a:pt x="629373" y="34501"/>
                  </a:cubicBezTo>
                  <a:lnTo>
                    <a:pt x="629373" y="642554"/>
                  </a:lnTo>
                  <a:cubicBezTo>
                    <a:pt x="629373" y="661609"/>
                    <a:pt x="613926" y="677055"/>
                    <a:pt x="594872" y="677055"/>
                  </a:cubicBezTo>
                  <a:lnTo>
                    <a:pt x="34501" y="677055"/>
                  </a:lnTo>
                  <a:cubicBezTo>
                    <a:pt x="25351" y="677055"/>
                    <a:pt x="16575" y="673420"/>
                    <a:pt x="10105" y="666950"/>
                  </a:cubicBezTo>
                  <a:cubicBezTo>
                    <a:pt x="3635" y="660480"/>
                    <a:pt x="0" y="651704"/>
                    <a:pt x="0" y="642554"/>
                  </a:cubicBezTo>
                  <a:lnTo>
                    <a:pt x="0" y="34501"/>
                  </a:lnTo>
                  <a:cubicBezTo>
                    <a:pt x="0" y="15447"/>
                    <a:pt x="15447" y="0"/>
                    <a:pt x="34501" y="0"/>
                  </a:cubicBezTo>
                  <a:close/>
                </a:path>
              </a:pathLst>
            </a:custGeom>
            <a:gradFill rotWithShape="true">
              <a:gsLst>
                <a:gs pos="0">
                  <a:srgbClr val="31A1D4">
                    <a:alpha val="100000"/>
                  </a:srgbClr>
                </a:gs>
                <a:gs pos="100000">
                  <a:srgbClr val="001C37">
                    <a:alpha val="100000"/>
                  </a:srgbClr>
                </a:gs>
              </a:gsLst>
              <a:lin ang="2700000"/>
            </a:gradFill>
          </p:spPr>
        </p:sp>
        <p:sp>
          <p:nvSpPr>
            <p:cNvPr name="TextBox 4" id="4"/>
            <p:cNvSpPr txBox="true"/>
            <p:nvPr/>
          </p:nvSpPr>
          <p:spPr>
            <a:xfrm>
              <a:off x="0" y="-57150"/>
              <a:ext cx="629373" cy="734205"/>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Freeform 5" id="5"/>
          <p:cNvSpPr/>
          <p:nvPr/>
        </p:nvSpPr>
        <p:spPr>
          <a:xfrm flipH="false" flipV="false" rot="0">
            <a:off x="13568711" y="-3962307"/>
            <a:ext cx="9438577" cy="6748583"/>
          </a:xfrm>
          <a:custGeom>
            <a:avLst/>
            <a:gdLst/>
            <a:ahLst/>
            <a:cxnLst/>
            <a:rect r="r" b="b" t="t" l="l"/>
            <a:pathLst>
              <a:path h="6748583" w="9438577">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128358" y="-502202"/>
            <a:ext cx="4155559" cy="3571183"/>
            <a:chOff x="0" y="0"/>
            <a:chExt cx="812800" cy="698500"/>
          </a:xfrm>
        </p:grpSpPr>
        <p:sp>
          <p:nvSpPr>
            <p:cNvPr name="Freeform 7" id="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8" id="8"/>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grpSp>
        <p:nvGrpSpPr>
          <p:cNvPr name="Group 9" id="9"/>
          <p:cNvGrpSpPr/>
          <p:nvPr/>
        </p:nvGrpSpPr>
        <p:grpSpPr>
          <a:xfrm rot="0">
            <a:off x="15234643" y="515353"/>
            <a:ext cx="1787431" cy="1536073"/>
            <a:chOff x="0" y="0"/>
            <a:chExt cx="812800" cy="698500"/>
          </a:xfrm>
        </p:grpSpPr>
        <p:sp>
          <p:nvSpPr>
            <p:cNvPr name="Freeform 10" id="10"/>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11" id="11"/>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sp>
        <p:nvSpPr>
          <p:cNvPr name="TextBox 12" id="12"/>
          <p:cNvSpPr txBox="true"/>
          <p:nvPr/>
        </p:nvSpPr>
        <p:spPr>
          <a:xfrm rot="0">
            <a:off x="3793240" y="741335"/>
            <a:ext cx="9699733" cy="1041121"/>
          </a:xfrm>
          <a:prstGeom prst="rect">
            <a:avLst/>
          </a:prstGeom>
        </p:spPr>
        <p:txBody>
          <a:bodyPr anchor="t" rtlCol="false" tIns="0" lIns="0" bIns="0" rIns="0">
            <a:spAutoFit/>
          </a:bodyPr>
          <a:lstStyle/>
          <a:p>
            <a:pPr algn="ctr">
              <a:lnSpc>
                <a:spcPts val="8240"/>
              </a:lnSpc>
              <a:spcBef>
                <a:spcPct val="0"/>
              </a:spcBef>
            </a:pPr>
            <a:r>
              <a:rPr lang="en-US" b="true" sz="5885">
                <a:solidFill>
                  <a:srgbClr val="023153"/>
                </a:solidFill>
                <a:latin typeface="Times New Roman Bold"/>
                <a:ea typeface="Times New Roman Bold"/>
                <a:cs typeface="Times New Roman Bold"/>
                <a:sym typeface="Times New Roman Bold"/>
              </a:rPr>
              <a:t>LÝ DO CHỌN ĐỀ TÀI</a:t>
            </a:r>
          </a:p>
        </p:txBody>
      </p:sp>
      <p:sp>
        <p:nvSpPr>
          <p:cNvPr name="TextBox 13" id="13"/>
          <p:cNvSpPr txBox="true"/>
          <p:nvPr/>
        </p:nvSpPr>
        <p:spPr>
          <a:xfrm rot="0">
            <a:off x="276393" y="3442621"/>
            <a:ext cx="5674132" cy="5126692"/>
          </a:xfrm>
          <a:prstGeom prst="rect">
            <a:avLst/>
          </a:prstGeom>
        </p:spPr>
        <p:txBody>
          <a:bodyPr anchor="t" rtlCol="false" tIns="0" lIns="0" bIns="0" rIns="0">
            <a:spAutoFit/>
          </a:bodyPr>
          <a:lstStyle/>
          <a:p>
            <a:pPr algn="just" marL="590134" indent="-295067" lvl="1">
              <a:lnSpc>
                <a:spcPts val="4537"/>
              </a:lnSpc>
              <a:buFont typeface="Arial"/>
              <a:buChar char="•"/>
            </a:pPr>
            <a:r>
              <a:rPr lang="en-US" sz="2733">
                <a:solidFill>
                  <a:srgbClr val="FFFFFF"/>
                </a:solidFill>
                <a:latin typeface="Times New Roman"/>
                <a:ea typeface="Times New Roman"/>
                <a:cs typeface="Times New Roman"/>
                <a:sym typeface="Times New Roman"/>
              </a:rPr>
              <a:t>Sinh viên hiện nay sử dụng nhiều nền tảng khác nhau (Zalo, Email, Sổ tay) phân mảnh thông tin</a:t>
            </a:r>
          </a:p>
          <a:p>
            <a:pPr algn="just" marL="590134" indent="-295067" lvl="1">
              <a:lnSpc>
                <a:spcPts val="4537"/>
              </a:lnSpc>
              <a:buFont typeface="Arial"/>
              <a:buChar char="•"/>
            </a:pPr>
            <a:r>
              <a:rPr lang="en-US" sz="2733">
                <a:solidFill>
                  <a:srgbClr val="FFFFFF"/>
                </a:solidFill>
                <a:latin typeface="Times New Roman"/>
                <a:ea typeface="Times New Roman"/>
                <a:cs typeface="Times New Roman"/>
                <a:sym typeface="Times New Roman"/>
              </a:rPr>
              <a:t>Thiếu công cụ tích hợp đa chức năng: quản lý thời gian, nhắc deadline, theo dõi tiến độ</a:t>
            </a:r>
          </a:p>
          <a:p>
            <a:pPr algn="just" marL="590134" indent="-295067" lvl="1">
              <a:lnSpc>
                <a:spcPts val="4537"/>
              </a:lnSpc>
              <a:buFont typeface="Arial"/>
              <a:buChar char="•"/>
            </a:pPr>
            <a:r>
              <a:rPr lang="en-US" sz="2733">
                <a:solidFill>
                  <a:srgbClr val="FFFFFF"/>
                </a:solidFill>
                <a:latin typeface="Times New Roman"/>
                <a:ea typeface="Times New Roman"/>
                <a:cs typeface="Times New Roman"/>
                <a:sym typeface="Times New Roman"/>
              </a:rPr>
              <a:t>Nhu cầu ứng dụng AI và gamification trong quản lý cá nhân ngày càng tăng</a:t>
            </a:r>
          </a:p>
        </p:txBody>
      </p:sp>
      <p:sp>
        <p:nvSpPr>
          <p:cNvPr name="TextBox 14" id="14"/>
          <p:cNvSpPr txBox="true"/>
          <p:nvPr/>
        </p:nvSpPr>
        <p:spPr>
          <a:xfrm rot="0">
            <a:off x="1107815" y="2877131"/>
            <a:ext cx="4341763" cy="492190"/>
          </a:xfrm>
          <a:prstGeom prst="rect">
            <a:avLst/>
          </a:prstGeom>
        </p:spPr>
        <p:txBody>
          <a:bodyPr anchor="t" rtlCol="false" tIns="0" lIns="0" bIns="0" rIns="0">
            <a:spAutoFit/>
          </a:bodyPr>
          <a:lstStyle/>
          <a:p>
            <a:pPr algn="ctr">
              <a:lnSpc>
                <a:spcPts val="3846"/>
              </a:lnSpc>
            </a:pPr>
            <a:r>
              <a:rPr lang="en-US" b="true" sz="2747" i="true">
                <a:solidFill>
                  <a:srgbClr val="FFFFFF"/>
                </a:solidFill>
                <a:latin typeface="Times New Roman Bold Italics"/>
                <a:ea typeface="Times New Roman Bold Italics"/>
                <a:cs typeface="Times New Roman Bold Italics"/>
                <a:sym typeface="Times New Roman Bold Italics"/>
              </a:rPr>
              <a:t>Xu hướng phát triển game 2D</a:t>
            </a:r>
          </a:p>
        </p:txBody>
      </p:sp>
      <p:grpSp>
        <p:nvGrpSpPr>
          <p:cNvPr name="Group 15" id="15"/>
          <p:cNvGrpSpPr/>
          <p:nvPr/>
        </p:nvGrpSpPr>
        <p:grpSpPr>
          <a:xfrm rot="0">
            <a:off x="6327659" y="2786276"/>
            <a:ext cx="5609890" cy="6034903"/>
            <a:chOff x="0" y="0"/>
            <a:chExt cx="629373" cy="677055"/>
          </a:xfrm>
        </p:grpSpPr>
        <p:sp>
          <p:nvSpPr>
            <p:cNvPr name="Freeform 16" id="16"/>
            <p:cNvSpPr/>
            <p:nvPr/>
          </p:nvSpPr>
          <p:spPr>
            <a:xfrm flipH="false" flipV="false" rot="0">
              <a:off x="0" y="0"/>
              <a:ext cx="629373" cy="677055"/>
            </a:xfrm>
            <a:custGeom>
              <a:avLst/>
              <a:gdLst/>
              <a:ahLst/>
              <a:cxnLst/>
              <a:rect r="r" b="b" t="t" l="l"/>
              <a:pathLst>
                <a:path h="677055" w="629373">
                  <a:moveTo>
                    <a:pt x="34501" y="0"/>
                  </a:moveTo>
                  <a:lnTo>
                    <a:pt x="594872" y="0"/>
                  </a:lnTo>
                  <a:cubicBezTo>
                    <a:pt x="613926" y="0"/>
                    <a:pt x="629373" y="15447"/>
                    <a:pt x="629373" y="34501"/>
                  </a:cubicBezTo>
                  <a:lnTo>
                    <a:pt x="629373" y="642554"/>
                  </a:lnTo>
                  <a:cubicBezTo>
                    <a:pt x="629373" y="661609"/>
                    <a:pt x="613926" y="677055"/>
                    <a:pt x="594872" y="677055"/>
                  </a:cubicBezTo>
                  <a:lnTo>
                    <a:pt x="34501" y="677055"/>
                  </a:lnTo>
                  <a:cubicBezTo>
                    <a:pt x="25351" y="677055"/>
                    <a:pt x="16575" y="673420"/>
                    <a:pt x="10105" y="666950"/>
                  </a:cubicBezTo>
                  <a:cubicBezTo>
                    <a:pt x="3635" y="660480"/>
                    <a:pt x="0" y="651704"/>
                    <a:pt x="0" y="642554"/>
                  </a:cubicBezTo>
                  <a:lnTo>
                    <a:pt x="0" y="34501"/>
                  </a:lnTo>
                  <a:cubicBezTo>
                    <a:pt x="0" y="15447"/>
                    <a:pt x="15447" y="0"/>
                    <a:pt x="34501" y="0"/>
                  </a:cubicBezTo>
                  <a:close/>
                </a:path>
              </a:pathLst>
            </a:custGeom>
            <a:gradFill rotWithShape="true">
              <a:gsLst>
                <a:gs pos="0">
                  <a:srgbClr val="31A1D4">
                    <a:alpha val="100000"/>
                  </a:srgbClr>
                </a:gs>
                <a:gs pos="100000">
                  <a:srgbClr val="001C37">
                    <a:alpha val="100000"/>
                  </a:srgbClr>
                </a:gs>
              </a:gsLst>
              <a:lin ang="2700000"/>
            </a:gradFill>
          </p:spPr>
        </p:sp>
        <p:sp>
          <p:nvSpPr>
            <p:cNvPr name="TextBox 17" id="17"/>
            <p:cNvSpPr txBox="true"/>
            <p:nvPr/>
          </p:nvSpPr>
          <p:spPr>
            <a:xfrm>
              <a:off x="0" y="-57150"/>
              <a:ext cx="629373" cy="734205"/>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18" id="18"/>
          <p:cNvSpPr txBox="true"/>
          <p:nvPr/>
        </p:nvSpPr>
        <p:spPr>
          <a:xfrm rot="0">
            <a:off x="6130300" y="3442621"/>
            <a:ext cx="5674132" cy="3654464"/>
          </a:xfrm>
          <a:prstGeom prst="rect">
            <a:avLst/>
          </a:prstGeom>
        </p:spPr>
        <p:txBody>
          <a:bodyPr anchor="t" rtlCol="false" tIns="0" lIns="0" bIns="0" rIns="0">
            <a:spAutoFit/>
          </a:bodyPr>
          <a:lstStyle/>
          <a:p>
            <a:pPr algn="just" marL="590134" indent="-295067" lvl="1">
              <a:lnSpc>
                <a:spcPts val="4537"/>
              </a:lnSpc>
              <a:buFont typeface="Arial"/>
              <a:buChar char="•"/>
            </a:pPr>
            <a:r>
              <a:rPr lang="en-US" sz="2733">
                <a:solidFill>
                  <a:srgbClr val="FFFFFF"/>
                </a:solidFill>
                <a:latin typeface="Times New Roman"/>
                <a:ea typeface="Times New Roman"/>
                <a:cs typeface="Times New Roman"/>
                <a:sym typeface="Times New Roman"/>
              </a:rPr>
              <a:t>Vận dụng kiến thức Vue 3, Node.js và MySQL vào thực tiễn</a:t>
            </a:r>
          </a:p>
          <a:p>
            <a:pPr algn="just" marL="590134" indent="-295067" lvl="1">
              <a:lnSpc>
                <a:spcPts val="4537"/>
              </a:lnSpc>
              <a:buFont typeface="Arial"/>
              <a:buChar char="•"/>
            </a:pPr>
            <a:r>
              <a:rPr lang="en-US" sz="2733">
                <a:solidFill>
                  <a:srgbClr val="FFFFFF"/>
                </a:solidFill>
                <a:latin typeface="Times New Roman"/>
                <a:ea typeface="Times New Roman"/>
                <a:cs typeface="Times New Roman"/>
                <a:sym typeface="Times New Roman"/>
              </a:rPr>
              <a:t>Tiếp cận Google Gemini API và Function Calling</a:t>
            </a:r>
          </a:p>
          <a:p>
            <a:pPr algn="just" marL="590134" indent="-295067" lvl="1">
              <a:lnSpc>
                <a:spcPts val="5822"/>
              </a:lnSpc>
              <a:buFont typeface="Arial"/>
              <a:buChar char="•"/>
            </a:pPr>
            <a:r>
              <a:rPr lang="en-US" sz="2733">
                <a:solidFill>
                  <a:srgbClr val="FFFFFF"/>
                </a:solidFill>
                <a:latin typeface="Times New Roman"/>
                <a:ea typeface="Times New Roman"/>
                <a:cs typeface="Times New Roman"/>
                <a:sym typeface="Times New Roman"/>
              </a:rPr>
              <a:t>Rèn luyện kỹ năng thiết kế kiến trúc 3 tầng và RESTful API</a:t>
            </a:r>
          </a:p>
        </p:txBody>
      </p:sp>
      <p:sp>
        <p:nvSpPr>
          <p:cNvPr name="TextBox 19" id="19"/>
          <p:cNvSpPr txBox="true"/>
          <p:nvPr/>
        </p:nvSpPr>
        <p:spPr>
          <a:xfrm rot="0">
            <a:off x="6837525" y="2877131"/>
            <a:ext cx="4590157" cy="492190"/>
          </a:xfrm>
          <a:prstGeom prst="rect">
            <a:avLst/>
          </a:prstGeom>
        </p:spPr>
        <p:txBody>
          <a:bodyPr anchor="t" rtlCol="false" tIns="0" lIns="0" bIns="0" rIns="0">
            <a:spAutoFit/>
          </a:bodyPr>
          <a:lstStyle/>
          <a:p>
            <a:pPr algn="ctr">
              <a:lnSpc>
                <a:spcPts val="3846"/>
              </a:lnSpc>
            </a:pPr>
            <a:r>
              <a:rPr lang="en-US" b="true" sz="2747" i="true">
                <a:solidFill>
                  <a:srgbClr val="FFFFFF"/>
                </a:solidFill>
                <a:latin typeface="Times New Roman Bold Italics"/>
                <a:ea typeface="Times New Roman Bold Italics"/>
                <a:cs typeface="Times New Roman Bold Italics"/>
                <a:sym typeface="Times New Roman Bold Italics"/>
              </a:rPr>
              <a:t>Mục tiê</a:t>
            </a:r>
            <a:r>
              <a:rPr lang="en-US" b="true" sz="2747" i="true">
                <a:solidFill>
                  <a:srgbClr val="FFFFFF"/>
                </a:solidFill>
                <a:latin typeface="Times New Roman Bold Italics"/>
                <a:ea typeface="Times New Roman Bold Italics"/>
                <a:cs typeface="Times New Roman Bold Italics"/>
                <a:sym typeface="Times New Roman Bold Italics"/>
              </a:rPr>
              <a:t>u học tập và nghiên cứu</a:t>
            </a:r>
          </a:p>
        </p:txBody>
      </p:sp>
      <p:grpSp>
        <p:nvGrpSpPr>
          <p:cNvPr name="Group 20" id="20"/>
          <p:cNvGrpSpPr/>
          <p:nvPr/>
        </p:nvGrpSpPr>
        <p:grpSpPr>
          <a:xfrm rot="0">
            <a:off x="12182532" y="2786276"/>
            <a:ext cx="5609890" cy="6034903"/>
            <a:chOff x="0" y="0"/>
            <a:chExt cx="629373" cy="677055"/>
          </a:xfrm>
        </p:grpSpPr>
        <p:sp>
          <p:nvSpPr>
            <p:cNvPr name="Freeform 21" id="21"/>
            <p:cNvSpPr/>
            <p:nvPr/>
          </p:nvSpPr>
          <p:spPr>
            <a:xfrm flipH="false" flipV="false" rot="0">
              <a:off x="0" y="0"/>
              <a:ext cx="629373" cy="677055"/>
            </a:xfrm>
            <a:custGeom>
              <a:avLst/>
              <a:gdLst/>
              <a:ahLst/>
              <a:cxnLst/>
              <a:rect r="r" b="b" t="t" l="l"/>
              <a:pathLst>
                <a:path h="677055" w="629373">
                  <a:moveTo>
                    <a:pt x="34501" y="0"/>
                  </a:moveTo>
                  <a:lnTo>
                    <a:pt x="594872" y="0"/>
                  </a:lnTo>
                  <a:cubicBezTo>
                    <a:pt x="613926" y="0"/>
                    <a:pt x="629373" y="15447"/>
                    <a:pt x="629373" y="34501"/>
                  </a:cubicBezTo>
                  <a:lnTo>
                    <a:pt x="629373" y="642554"/>
                  </a:lnTo>
                  <a:cubicBezTo>
                    <a:pt x="629373" y="661609"/>
                    <a:pt x="613926" y="677055"/>
                    <a:pt x="594872" y="677055"/>
                  </a:cubicBezTo>
                  <a:lnTo>
                    <a:pt x="34501" y="677055"/>
                  </a:lnTo>
                  <a:cubicBezTo>
                    <a:pt x="25351" y="677055"/>
                    <a:pt x="16575" y="673420"/>
                    <a:pt x="10105" y="666950"/>
                  </a:cubicBezTo>
                  <a:cubicBezTo>
                    <a:pt x="3635" y="660480"/>
                    <a:pt x="0" y="651704"/>
                    <a:pt x="0" y="642554"/>
                  </a:cubicBezTo>
                  <a:lnTo>
                    <a:pt x="0" y="34501"/>
                  </a:lnTo>
                  <a:cubicBezTo>
                    <a:pt x="0" y="15447"/>
                    <a:pt x="15447" y="0"/>
                    <a:pt x="34501" y="0"/>
                  </a:cubicBezTo>
                  <a:close/>
                </a:path>
              </a:pathLst>
            </a:custGeom>
            <a:gradFill rotWithShape="true">
              <a:gsLst>
                <a:gs pos="0">
                  <a:srgbClr val="31A1D4">
                    <a:alpha val="100000"/>
                  </a:srgbClr>
                </a:gs>
                <a:gs pos="100000">
                  <a:srgbClr val="001C37">
                    <a:alpha val="100000"/>
                  </a:srgbClr>
                </a:gs>
              </a:gsLst>
              <a:lin ang="2700000"/>
            </a:gradFill>
          </p:spPr>
        </p:sp>
        <p:sp>
          <p:nvSpPr>
            <p:cNvPr name="TextBox 22" id="22"/>
            <p:cNvSpPr txBox="true"/>
            <p:nvPr/>
          </p:nvSpPr>
          <p:spPr>
            <a:xfrm>
              <a:off x="0" y="-57150"/>
              <a:ext cx="629373" cy="734205"/>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23" id="23"/>
          <p:cNvSpPr txBox="true"/>
          <p:nvPr/>
        </p:nvSpPr>
        <p:spPr>
          <a:xfrm rot="0">
            <a:off x="11985173" y="3442621"/>
            <a:ext cx="5674132" cy="4959389"/>
          </a:xfrm>
          <a:prstGeom prst="rect">
            <a:avLst/>
          </a:prstGeom>
        </p:spPr>
        <p:txBody>
          <a:bodyPr anchor="t" rtlCol="false" tIns="0" lIns="0" bIns="0" rIns="0">
            <a:spAutoFit/>
          </a:bodyPr>
          <a:lstStyle/>
          <a:p>
            <a:pPr algn="just" marL="590134" indent="-295067" lvl="1">
              <a:lnSpc>
                <a:spcPts val="4537"/>
              </a:lnSpc>
              <a:buFont typeface="Arial"/>
              <a:buChar char="•"/>
            </a:pPr>
            <a:r>
              <a:rPr lang="en-US" sz="2733">
                <a:solidFill>
                  <a:srgbClr val="FFFFFF"/>
                </a:solidFill>
                <a:latin typeface="Times New Roman"/>
                <a:ea typeface="Times New Roman"/>
                <a:cs typeface="Times New Roman"/>
                <a:sym typeface="Times New Roman"/>
              </a:rPr>
              <a:t>Xây dựng sản phẩm web hoàn chỉnh, miễn phí cho sinh viên Việt Nam</a:t>
            </a:r>
          </a:p>
          <a:p>
            <a:pPr algn="just" marL="590134" indent="-295067" lvl="1">
              <a:lnSpc>
                <a:spcPts val="4537"/>
              </a:lnSpc>
              <a:buFont typeface="Arial"/>
              <a:buChar char="•"/>
            </a:pPr>
            <a:r>
              <a:rPr lang="en-US" sz="2733">
                <a:solidFill>
                  <a:srgbClr val="FFFFFF"/>
                </a:solidFill>
                <a:latin typeface="Times New Roman"/>
                <a:ea typeface="Times New Roman"/>
                <a:cs typeface="Times New Roman"/>
                <a:sym typeface="Times New Roman"/>
              </a:rPr>
              <a:t>Tích hợp AI hỗ trợ tiếng</a:t>
            </a:r>
            <a:r>
              <a:rPr lang="en-US" sz="2733">
                <a:solidFill>
                  <a:srgbClr val="FFFFFF"/>
                </a:solidFill>
                <a:latin typeface="Times New Roman"/>
                <a:ea typeface="Times New Roman"/>
                <a:cs typeface="Times New Roman"/>
                <a:sym typeface="Times New Roman"/>
              </a:rPr>
              <a:t> Việt phù hợp với nhu cầu thực tế</a:t>
            </a:r>
          </a:p>
          <a:p>
            <a:pPr algn="just" marL="590134" indent="-295067" lvl="1">
              <a:lnSpc>
                <a:spcPts val="5822"/>
              </a:lnSpc>
              <a:buFont typeface="Arial"/>
              <a:buChar char="•"/>
            </a:pPr>
            <a:r>
              <a:rPr lang="en-US" sz="2733">
                <a:solidFill>
                  <a:srgbClr val="FFFFFF"/>
                </a:solidFill>
                <a:latin typeface="Times New Roman"/>
                <a:ea typeface="Times New Roman"/>
                <a:cs typeface="Times New Roman"/>
                <a:sym typeface="Times New Roman"/>
              </a:rPr>
              <a:t>Làm nền tảng cho nghiên cứu phát triển ứng dụng quản lý thông minh sau này</a:t>
            </a:r>
          </a:p>
        </p:txBody>
      </p:sp>
      <p:sp>
        <p:nvSpPr>
          <p:cNvPr name="TextBox 24" id="24"/>
          <p:cNvSpPr txBox="true"/>
          <p:nvPr/>
        </p:nvSpPr>
        <p:spPr>
          <a:xfrm rot="0">
            <a:off x="13678980" y="2877131"/>
            <a:ext cx="2616994" cy="492190"/>
          </a:xfrm>
          <a:prstGeom prst="rect">
            <a:avLst/>
          </a:prstGeom>
        </p:spPr>
        <p:txBody>
          <a:bodyPr anchor="t" rtlCol="false" tIns="0" lIns="0" bIns="0" rIns="0">
            <a:spAutoFit/>
          </a:bodyPr>
          <a:lstStyle/>
          <a:p>
            <a:pPr algn="ctr">
              <a:lnSpc>
                <a:spcPts val="3846"/>
              </a:lnSpc>
            </a:pPr>
            <a:r>
              <a:rPr lang="en-US" b="true" sz="2747" i="true">
                <a:solidFill>
                  <a:srgbClr val="FFFFFF"/>
                </a:solidFill>
                <a:latin typeface="Times New Roman Bold Italics"/>
                <a:ea typeface="Times New Roman Bold Italics"/>
                <a:cs typeface="Times New Roman Bold Italics"/>
                <a:sym typeface="Times New Roman Bold Italics"/>
              </a:rPr>
              <a:t>Ý nghĩa</a:t>
            </a:r>
            <a:r>
              <a:rPr lang="en-US" b="true" sz="2747" i="true">
                <a:solidFill>
                  <a:srgbClr val="FFFFFF"/>
                </a:solidFill>
                <a:latin typeface="Times New Roman Bold Italics"/>
                <a:ea typeface="Times New Roman Bold Italics"/>
                <a:cs typeface="Times New Roman Bold Italics"/>
                <a:sym typeface="Times New Roman Bold Italics"/>
              </a:rPr>
              <a:t> của đề tài</a:t>
            </a:r>
          </a:p>
        </p:txBody>
      </p:sp>
      <p:sp>
        <p:nvSpPr>
          <p:cNvPr name="Freeform 25" id="25"/>
          <p:cNvSpPr/>
          <p:nvPr/>
        </p:nvSpPr>
        <p:spPr>
          <a:xfrm flipH="false" flipV="false" rot="0">
            <a:off x="-926049" y="7316160"/>
            <a:ext cx="9438577" cy="6748583"/>
          </a:xfrm>
          <a:custGeom>
            <a:avLst/>
            <a:gdLst/>
            <a:ahLst/>
            <a:cxnLst/>
            <a:rect r="r" b="b" t="t" l="l"/>
            <a:pathLst>
              <a:path h="6748583" w="9438577">
                <a:moveTo>
                  <a:pt x="0" y="0"/>
                </a:moveTo>
                <a:lnTo>
                  <a:pt x="9438577" y="0"/>
                </a:lnTo>
                <a:lnTo>
                  <a:pt x="9438577"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24631" r="-124631" b="0"/>
            </a:stretch>
          </a:blipFill>
        </p:spPr>
      </p:sp>
      <p:sp>
        <p:nvSpPr>
          <p:cNvPr name="TextBox 3" id="3"/>
          <p:cNvSpPr txBox="true"/>
          <p:nvPr/>
        </p:nvSpPr>
        <p:spPr>
          <a:xfrm rot="0">
            <a:off x="3858686" y="151598"/>
            <a:ext cx="10292308" cy="1047354"/>
          </a:xfrm>
          <a:prstGeom prst="rect">
            <a:avLst/>
          </a:prstGeom>
        </p:spPr>
        <p:txBody>
          <a:bodyPr anchor="t" rtlCol="false" tIns="0" lIns="0" bIns="0" rIns="0">
            <a:spAutoFit/>
          </a:bodyPr>
          <a:lstStyle/>
          <a:p>
            <a:pPr algn="l">
              <a:lnSpc>
                <a:spcPts val="8240"/>
              </a:lnSpc>
              <a:spcBef>
                <a:spcPct val="0"/>
              </a:spcBef>
            </a:pPr>
            <a:r>
              <a:rPr lang="en-US" b="true" sz="5885">
                <a:solidFill>
                  <a:srgbClr val="FFFFFF"/>
                </a:solidFill>
                <a:latin typeface="Times New Roman Bold"/>
                <a:ea typeface="Times New Roman Bold"/>
                <a:cs typeface="Times New Roman Bold"/>
                <a:sym typeface="Times New Roman Bold"/>
              </a:rPr>
              <a:t>MỤC TIÊU NGHIÊN CỨU</a:t>
            </a:r>
          </a:p>
        </p:txBody>
      </p:sp>
      <p:sp>
        <p:nvSpPr>
          <p:cNvPr name="Freeform 4" id="4"/>
          <p:cNvSpPr/>
          <p:nvPr/>
        </p:nvSpPr>
        <p:spPr>
          <a:xfrm flipH="false" flipV="false" rot="0">
            <a:off x="11768318" y="-4958517"/>
            <a:ext cx="9438577" cy="6748583"/>
          </a:xfrm>
          <a:custGeom>
            <a:avLst/>
            <a:gdLst/>
            <a:ahLst/>
            <a:cxnLst/>
            <a:rect r="r" b="b" t="t" l="l"/>
            <a:pathLst>
              <a:path h="6748583" w="9438577">
                <a:moveTo>
                  <a:pt x="0" y="0"/>
                </a:moveTo>
                <a:lnTo>
                  <a:pt x="9438578" y="0"/>
                </a:lnTo>
                <a:lnTo>
                  <a:pt x="9438578" y="6748583"/>
                </a:lnTo>
                <a:lnTo>
                  <a:pt x="0" y="67485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885087" y="-1481594"/>
            <a:ext cx="4155559" cy="3571183"/>
            <a:chOff x="0" y="0"/>
            <a:chExt cx="812800" cy="698500"/>
          </a:xfrm>
        </p:grpSpPr>
        <p:sp>
          <p:nvSpPr>
            <p:cNvPr name="Freeform 6" id="6"/>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7" id="7"/>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grpSp>
        <p:nvGrpSpPr>
          <p:cNvPr name="Group 8" id="8"/>
          <p:cNvGrpSpPr/>
          <p:nvPr/>
        </p:nvGrpSpPr>
        <p:grpSpPr>
          <a:xfrm rot="0">
            <a:off x="10389957" y="2217155"/>
            <a:ext cx="6869343" cy="3719525"/>
            <a:chOff x="0" y="0"/>
            <a:chExt cx="770671" cy="417293"/>
          </a:xfrm>
        </p:grpSpPr>
        <p:sp>
          <p:nvSpPr>
            <p:cNvPr name="Freeform 9" id="9"/>
            <p:cNvSpPr/>
            <p:nvPr/>
          </p:nvSpPr>
          <p:spPr>
            <a:xfrm flipH="false" flipV="false" rot="0">
              <a:off x="0" y="0"/>
              <a:ext cx="770671" cy="417293"/>
            </a:xfrm>
            <a:custGeom>
              <a:avLst/>
              <a:gdLst/>
              <a:ahLst/>
              <a:cxnLst/>
              <a:rect r="r" b="b" t="t" l="l"/>
              <a:pathLst>
                <a:path h="417293" w="770671">
                  <a:moveTo>
                    <a:pt x="28176" y="0"/>
                  </a:moveTo>
                  <a:lnTo>
                    <a:pt x="742495" y="0"/>
                  </a:lnTo>
                  <a:cubicBezTo>
                    <a:pt x="749968" y="0"/>
                    <a:pt x="757135" y="2968"/>
                    <a:pt x="762419" y="8252"/>
                  </a:cubicBezTo>
                  <a:cubicBezTo>
                    <a:pt x="767703" y="13536"/>
                    <a:pt x="770671" y="20703"/>
                    <a:pt x="770671" y="28176"/>
                  </a:cubicBezTo>
                  <a:lnTo>
                    <a:pt x="770671" y="389118"/>
                  </a:lnTo>
                  <a:cubicBezTo>
                    <a:pt x="770671" y="404679"/>
                    <a:pt x="758056" y="417293"/>
                    <a:pt x="742495" y="417293"/>
                  </a:cubicBezTo>
                  <a:lnTo>
                    <a:pt x="28176" y="417293"/>
                  </a:lnTo>
                  <a:cubicBezTo>
                    <a:pt x="12615" y="417293"/>
                    <a:pt x="0" y="404679"/>
                    <a:pt x="0" y="389118"/>
                  </a:cubicBezTo>
                  <a:lnTo>
                    <a:pt x="0" y="28176"/>
                  </a:lnTo>
                  <a:cubicBezTo>
                    <a:pt x="0" y="12615"/>
                    <a:pt x="12615" y="0"/>
                    <a:pt x="28176" y="0"/>
                  </a:cubicBezTo>
                  <a:close/>
                </a:path>
              </a:pathLst>
            </a:custGeom>
            <a:solidFill>
              <a:srgbClr val="FFFFFF">
                <a:alpha val="46667"/>
              </a:srgbClr>
            </a:solidFill>
          </p:spPr>
        </p:sp>
        <p:sp>
          <p:nvSpPr>
            <p:cNvPr name="TextBox 10" id="10"/>
            <p:cNvSpPr txBox="true"/>
            <p:nvPr/>
          </p:nvSpPr>
          <p:spPr>
            <a:xfrm>
              <a:off x="0" y="-57150"/>
              <a:ext cx="770671" cy="474443"/>
            </a:xfrm>
            <a:prstGeom prst="rect">
              <a:avLst/>
            </a:prstGeom>
          </p:spPr>
          <p:txBody>
            <a:bodyPr anchor="ctr" rtlCol="false" tIns="50800" lIns="50800" bIns="50800" rIns="50800"/>
            <a:lstStyle/>
            <a:p>
              <a:pPr algn="ctr" marL="0" indent="0" lvl="0">
                <a:lnSpc>
                  <a:spcPts val="3357"/>
                </a:lnSpc>
                <a:spcBef>
                  <a:spcPct val="0"/>
                </a:spcBef>
              </a:pPr>
            </a:p>
          </p:txBody>
        </p:sp>
      </p:grpSp>
      <p:grpSp>
        <p:nvGrpSpPr>
          <p:cNvPr name="Group 11" id="11"/>
          <p:cNvGrpSpPr/>
          <p:nvPr/>
        </p:nvGrpSpPr>
        <p:grpSpPr>
          <a:xfrm rot="0">
            <a:off x="10389957" y="6615722"/>
            <a:ext cx="6869343" cy="3454692"/>
            <a:chOff x="0" y="0"/>
            <a:chExt cx="770671" cy="387582"/>
          </a:xfrm>
        </p:grpSpPr>
        <p:sp>
          <p:nvSpPr>
            <p:cNvPr name="Freeform 12" id="12"/>
            <p:cNvSpPr/>
            <p:nvPr/>
          </p:nvSpPr>
          <p:spPr>
            <a:xfrm flipH="false" flipV="false" rot="0">
              <a:off x="0" y="0"/>
              <a:ext cx="770671" cy="387582"/>
            </a:xfrm>
            <a:custGeom>
              <a:avLst/>
              <a:gdLst/>
              <a:ahLst/>
              <a:cxnLst/>
              <a:rect r="r" b="b" t="t" l="l"/>
              <a:pathLst>
                <a:path h="387582" w="770671">
                  <a:moveTo>
                    <a:pt x="28176" y="0"/>
                  </a:moveTo>
                  <a:lnTo>
                    <a:pt x="742495" y="0"/>
                  </a:lnTo>
                  <a:cubicBezTo>
                    <a:pt x="749968" y="0"/>
                    <a:pt x="757135" y="2968"/>
                    <a:pt x="762419" y="8252"/>
                  </a:cubicBezTo>
                  <a:cubicBezTo>
                    <a:pt x="767703" y="13536"/>
                    <a:pt x="770671" y="20703"/>
                    <a:pt x="770671" y="28176"/>
                  </a:cubicBezTo>
                  <a:lnTo>
                    <a:pt x="770671" y="359406"/>
                  </a:lnTo>
                  <a:cubicBezTo>
                    <a:pt x="770671" y="374967"/>
                    <a:pt x="758056" y="387582"/>
                    <a:pt x="742495" y="387582"/>
                  </a:cubicBezTo>
                  <a:lnTo>
                    <a:pt x="28176" y="387582"/>
                  </a:lnTo>
                  <a:cubicBezTo>
                    <a:pt x="12615" y="387582"/>
                    <a:pt x="0" y="374967"/>
                    <a:pt x="0" y="359406"/>
                  </a:cubicBezTo>
                  <a:lnTo>
                    <a:pt x="0" y="28176"/>
                  </a:lnTo>
                  <a:cubicBezTo>
                    <a:pt x="0" y="12615"/>
                    <a:pt x="12615" y="0"/>
                    <a:pt x="28176" y="0"/>
                  </a:cubicBezTo>
                  <a:close/>
                </a:path>
              </a:pathLst>
            </a:custGeom>
            <a:solidFill>
              <a:srgbClr val="C6C6C6">
                <a:alpha val="46667"/>
              </a:srgbClr>
            </a:solidFill>
          </p:spPr>
        </p:sp>
        <p:sp>
          <p:nvSpPr>
            <p:cNvPr name="TextBox 13" id="13"/>
            <p:cNvSpPr txBox="true"/>
            <p:nvPr/>
          </p:nvSpPr>
          <p:spPr>
            <a:xfrm>
              <a:off x="0" y="-57150"/>
              <a:ext cx="770671" cy="444732"/>
            </a:xfrm>
            <a:prstGeom prst="rect">
              <a:avLst/>
            </a:prstGeom>
          </p:spPr>
          <p:txBody>
            <a:bodyPr anchor="ctr" rtlCol="false" tIns="50800" lIns="50800" bIns="50800" rIns="50800"/>
            <a:lstStyle/>
            <a:p>
              <a:pPr algn="ctr" marL="0" indent="0" lvl="0">
                <a:lnSpc>
                  <a:spcPts val="3357"/>
                </a:lnSpc>
                <a:spcBef>
                  <a:spcPct val="0"/>
                </a:spcBef>
              </a:pPr>
            </a:p>
          </p:txBody>
        </p:sp>
      </p:grpSp>
      <p:grpSp>
        <p:nvGrpSpPr>
          <p:cNvPr name="Group 14" id="14"/>
          <p:cNvGrpSpPr/>
          <p:nvPr/>
        </p:nvGrpSpPr>
        <p:grpSpPr>
          <a:xfrm rot="0">
            <a:off x="-166829" y="1592724"/>
            <a:ext cx="18621659" cy="8478583"/>
            <a:chOff x="0" y="0"/>
            <a:chExt cx="2089163" cy="951212"/>
          </a:xfrm>
        </p:grpSpPr>
        <p:sp>
          <p:nvSpPr>
            <p:cNvPr name="Freeform 15" id="15"/>
            <p:cNvSpPr/>
            <p:nvPr/>
          </p:nvSpPr>
          <p:spPr>
            <a:xfrm flipH="false" flipV="false" rot="0">
              <a:off x="0" y="0"/>
              <a:ext cx="2089163" cy="951212"/>
            </a:xfrm>
            <a:custGeom>
              <a:avLst/>
              <a:gdLst/>
              <a:ahLst/>
              <a:cxnLst/>
              <a:rect r="r" b="b" t="t" l="l"/>
              <a:pathLst>
                <a:path h="951212" w="2089163">
                  <a:moveTo>
                    <a:pt x="10394" y="0"/>
                  </a:moveTo>
                  <a:lnTo>
                    <a:pt x="2078769" y="0"/>
                  </a:lnTo>
                  <a:cubicBezTo>
                    <a:pt x="2084509" y="0"/>
                    <a:pt x="2089163" y="4653"/>
                    <a:pt x="2089163" y="10394"/>
                  </a:cubicBezTo>
                  <a:lnTo>
                    <a:pt x="2089163" y="940818"/>
                  </a:lnTo>
                  <a:cubicBezTo>
                    <a:pt x="2089163" y="946558"/>
                    <a:pt x="2084509" y="951212"/>
                    <a:pt x="2078769" y="951212"/>
                  </a:cubicBezTo>
                  <a:lnTo>
                    <a:pt x="10394" y="951212"/>
                  </a:lnTo>
                  <a:cubicBezTo>
                    <a:pt x="4653" y="951212"/>
                    <a:pt x="0" y="946558"/>
                    <a:pt x="0" y="940818"/>
                  </a:cubicBezTo>
                  <a:lnTo>
                    <a:pt x="0" y="10394"/>
                  </a:lnTo>
                  <a:cubicBezTo>
                    <a:pt x="0" y="4653"/>
                    <a:pt x="4653" y="0"/>
                    <a:pt x="10394" y="0"/>
                  </a:cubicBezTo>
                  <a:close/>
                </a:path>
              </a:pathLst>
            </a:custGeom>
            <a:gradFill rotWithShape="true">
              <a:gsLst>
                <a:gs pos="0">
                  <a:srgbClr val="31A1D4">
                    <a:alpha val="47000"/>
                  </a:srgbClr>
                </a:gs>
                <a:gs pos="100000">
                  <a:srgbClr val="035E8E">
                    <a:alpha val="0"/>
                  </a:srgbClr>
                </a:gs>
              </a:gsLst>
              <a:lin ang="2700000"/>
            </a:gradFill>
          </p:spPr>
        </p:sp>
        <p:sp>
          <p:nvSpPr>
            <p:cNvPr name="TextBox 16" id="16"/>
            <p:cNvSpPr txBox="true"/>
            <p:nvPr/>
          </p:nvSpPr>
          <p:spPr>
            <a:xfrm>
              <a:off x="0" y="-57150"/>
              <a:ext cx="2089163" cy="1008362"/>
            </a:xfrm>
            <a:prstGeom prst="rect">
              <a:avLst/>
            </a:prstGeom>
          </p:spPr>
          <p:txBody>
            <a:bodyPr anchor="ctr" rtlCol="false" tIns="50800" lIns="50800" bIns="50800" rIns="50800"/>
            <a:lstStyle/>
            <a:p>
              <a:pPr algn="ctr" marL="0" indent="0" lvl="0">
                <a:lnSpc>
                  <a:spcPts val="3357"/>
                </a:lnSpc>
                <a:spcBef>
                  <a:spcPct val="0"/>
                </a:spcBef>
              </a:pPr>
            </a:p>
            <a:p>
              <a:pPr algn="ctr" marL="0" indent="0" lvl="0">
                <a:lnSpc>
                  <a:spcPts val="3357"/>
                </a:lnSpc>
                <a:spcBef>
                  <a:spcPct val="0"/>
                </a:spcBef>
              </a:pPr>
            </a:p>
            <a:p>
              <a:pPr algn="ctr" marL="0" indent="0" lvl="0">
                <a:lnSpc>
                  <a:spcPts val="3357"/>
                </a:lnSpc>
                <a:spcBef>
                  <a:spcPct val="0"/>
                </a:spcBef>
              </a:pPr>
            </a:p>
            <a:p>
              <a:pPr algn="ctr" marL="0" indent="0" lvl="0">
                <a:lnSpc>
                  <a:spcPts val="3357"/>
                </a:lnSpc>
                <a:spcBef>
                  <a:spcPct val="0"/>
                </a:spcBef>
              </a:pPr>
            </a:p>
          </p:txBody>
        </p:sp>
      </p:grpSp>
      <p:grpSp>
        <p:nvGrpSpPr>
          <p:cNvPr name="Group 17" id="17"/>
          <p:cNvGrpSpPr/>
          <p:nvPr/>
        </p:nvGrpSpPr>
        <p:grpSpPr>
          <a:xfrm rot="0">
            <a:off x="847553" y="2217155"/>
            <a:ext cx="6181548" cy="3923258"/>
            <a:chOff x="0" y="0"/>
            <a:chExt cx="693507" cy="440150"/>
          </a:xfrm>
        </p:grpSpPr>
        <p:sp>
          <p:nvSpPr>
            <p:cNvPr name="Freeform 18" id="18"/>
            <p:cNvSpPr/>
            <p:nvPr/>
          </p:nvSpPr>
          <p:spPr>
            <a:xfrm flipH="false" flipV="false" rot="0">
              <a:off x="0" y="0"/>
              <a:ext cx="693507" cy="440150"/>
            </a:xfrm>
            <a:custGeom>
              <a:avLst/>
              <a:gdLst/>
              <a:ahLst/>
              <a:cxnLst/>
              <a:rect r="r" b="b" t="t" l="l"/>
              <a:pathLst>
                <a:path h="440150" w="693507">
                  <a:moveTo>
                    <a:pt x="31311" y="0"/>
                  </a:moveTo>
                  <a:lnTo>
                    <a:pt x="662197" y="0"/>
                  </a:lnTo>
                  <a:cubicBezTo>
                    <a:pt x="670501" y="0"/>
                    <a:pt x="678465" y="3299"/>
                    <a:pt x="684337" y="9171"/>
                  </a:cubicBezTo>
                  <a:cubicBezTo>
                    <a:pt x="690209" y="15043"/>
                    <a:pt x="693507" y="23007"/>
                    <a:pt x="693507" y="31311"/>
                  </a:cubicBezTo>
                  <a:lnTo>
                    <a:pt x="693507" y="408839"/>
                  </a:lnTo>
                  <a:cubicBezTo>
                    <a:pt x="693507" y="426132"/>
                    <a:pt x="679489" y="440150"/>
                    <a:pt x="662197" y="440150"/>
                  </a:cubicBezTo>
                  <a:lnTo>
                    <a:pt x="31311" y="440150"/>
                  </a:lnTo>
                  <a:cubicBezTo>
                    <a:pt x="14018" y="440150"/>
                    <a:pt x="0" y="426132"/>
                    <a:pt x="0" y="408839"/>
                  </a:cubicBezTo>
                  <a:lnTo>
                    <a:pt x="0" y="31311"/>
                  </a:lnTo>
                  <a:cubicBezTo>
                    <a:pt x="0" y="14018"/>
                    <a:pt x="14018" y="0"/>
                    <a:pt x="31311" y="0"/>
                  </a:cubicBezTo>
                  <a:close/>
                </a:path>
              </a:pathLst>
            </a:custGeom>
            <a:gradFill rotWithShape="true">
              <a:gsLst>
                <a:gs pos="0">
                  <a:srgbClr val="31A1D4">
                    <a:alpha val="47000"/>
                  </a:srgbClr>
                </a:gs>
                <a:gs pos="100000">
                  <a:srgbClr val="035E8E">
                    <a:alpha val="0"/>
                  </a:srgbClr>
                </a:gs>
              </a:gsLst>
              <a:lin ang="2700000"/>
            </a:gradFill>
          </p:spPr>
        </p:sp>
        <p:sp>
          <p:nvSpPr>
            <p:cNvPr name="TextBox 19" id="19"/>
            <p:cNvSpPr txBox="true"/>
            <p:nvPr/>
          </p:nvSpPr>
          <p:spPr>
            <a:xfrm>
              <a:off x="0" y="-57150"/>
              <a:ext cx="693507" cy="497300"/>
            </a:xfrm>
            <a:prstGeom prst="rect">
              <a:avLst/>
            </a:prstGeom>
          </p:spPr>
          <p:txBody>
            <a:bodyPr anchor="ctr" rtlCol="false" tIns="50800" lIns="50800" bIns="50800" rIns="50800"/>
            <a:lstStyle/>
            <a:p>
              <a:pPr algn="ctr" marL="0" indent="0" lvl="0">
                <a:lnSpc>
                  <a:spcPts val="3357"/>
                </a:lnSpc>
                <a:spcBef>
                  <a:spcPct val="0"/>
                </a:spcBef>
              </a:pPr>
            </a:p>
          </p:txBody>
        </p:sp>
      </p:grpSp>
      <p:grpSp>
        <p:nvGrpSpPr>
          <p:cNvPr name="Group 20" id="20"/>
          <p:cNvGrpSpPr/>
          <p:nvPr/>
        </p:nvGrpSpPr>
        <p:grpSpPr>
          <a:xfrm rot="0">
            <a:off x="847553" y="6523347"/>
            <a:ext cx="6301165" cy="3454692"/>
            <a:chOff x="0" y="0"/>
            <a:chExt cx="706927" cy="387582"/>
          </a:xfrm>
        </p:grpSpPr>
        <p:sp>
          <p:nvSpPr>
            <p:cNvPr name="Freeform 21" id="21"/>
            <p:cNvSpPr/>
            <p:nvPr/>
          </p:nvSpPr>
          <p:spPr>
            <a:xfrm flipH="false" flipV="false" rot="0">
              <a:off x="0" y="0"/>
              <a:ext cx="706927" cy="387582"/>
            </a:xfrm>
            <a:custGeom>
              <a:avLst/>
              <a:gdLst/>
              <a:ahLst/>
              <a:cxnLst/>
              <a:rect r="r" b="b" t="t" l="l"/>
              <a:pathLst>
                <a:path h="387582" w="706927">
                  <a:moveTo>
                    <a:pt x="30716" y="0"/>
                  </a:moveTo>
                  <a:lnTo>
                    <a:pt x="676211" y="0"/>
                  </a:lnTo>
                  <a:cubicBezTo>
                    <a:pt x="693175" y="0"/>
                    <a:pt x="706927" y="13752"/>
                    <a:pt x="706927" y="30716"/>
                  </a:cubicBezTo>
                  <a:lnTo>
                    <a:pt x="706927" y="356865"/>
                  </a:lnTo>
                  <a:cubicBezTo>
                    <a:pt x="706927" y="365012"/>
                    <a:pt x="703691" y="372825"/>
                    <a:pt x="697931" y="378585"/>
                  </a:cubicBezTo>
                  <a:cubicBezTo>
                    <a:pt x="692170" y="384345"/>
                    <a:pt x="684357" y="387582"/>
                    <a:pt x="676211" y="387582"/>
                  </a:cubicBezTo>
                  <a:lnTo>
                    <a:pt x="30716" y="387582"/>
                  </a:lnTo>
                  <a:cubicBezTo>
                    <a:pt x="22570" y="387582"/>
                    <a:pt x="14757" y="384345"/>
                    <a:pt x="8997" y="378585"/>
                  </a:cubicBezTo>
                  <a:cubicBezTo>
                    <a:pt x="3236" y="372825"/>
                    <a:pt x="0" y="365012"/>
                    <a:pt x="0" y="356865"/>
                  </a:cubicBezTo>
                  <a:lnTo>
                    <a:pt x="0" y="30716"/>
                  </a:lnTo>
                  <a:cubicBezTo>
                    <a:pt x="0" y="22570"/>
                    <a:pt x="3236" y="14757"/>
                    <a:pt x="8997" y="8997"/>
                  </a:cubicBezTo>
                  <a:cubicBezTo>
                    <a:pt x="14757" y="3236"/>
                    <a:pt x="22570" y="0"/>
                    <a:pt x="30716" y="0"/>
                  </a:cubicBezTo>
                  <a:close/>
                </a:path>
              </a:pathLst>
            </a:custGeom>
            <a:gradFill rotWithShape="true">
              <a:gsLst>
                <a:gs pos="0">
                  <a:srgbClr val="31A1D4">
                    <a:alpha val="47000"/>
                  </a:srgbClr>
                </a:gs>
                <a:gs pos="100000">
                  <a:srgbClr val="035E8E">
                    <a:alpha val="0"/>
                  </a:srgbClr>
                </a:gs>
              </a:gsLst>
              <a:lin ang="2700000"/>
            </a:gradFill>
          </p:spPr>
        </p:sp>
        <p:sp>
          <p:nvSpPr>
            <p:cNvPr name="TextBox 22" id="22"/>
            <p:cNvSpPr txBox="true"/>
            <p:nvPr/>
          </p:nvSpPr>
          <p:spPr>
            <a:xfrm>
              <a:off x="0" y="-57150"/>
              <a:ext cx="706927" cy="444732"/>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23" id="23"/>
          <p:cNvSpPr txBox="true"/>
          <p:nvPr/>
        </p:nvSpPr>
        <p:spPr>
          <a:xfrm rot="0">
            <a:off x="1006907" y="2202297"/>
            <a:ext cx="5862841" cy="3801618"/>
          </a:xfrm>
          <a:prstGeom prst="rect">
            <a:avLst/>
          </a:prstGeom>
        </p:spPr>
        <p:txBody>
          <a:bodyPr anchor="t" rtlCol="false" tIns="0" lIns="0" bIns="0" rIns="0">
            <a:spAutoFit/>
          </a:bodyPr>
          <a:lstStyle/>
          <a:p>
            <a:pPr algn="just">
              <a:lnSpc>
                <a:spcPts val="5046"/>
              </a:lnSpc>
            </a:pPr>
            <a:r>
              <a:rPr lang="en-US" sz="2900">
                <a:solidFill>
                  <a:srgbClr val="FFFFFF"/>
                </a:solidFill>
                <a:latin typeface="Times New Roman"/>
                <a:ea typeface="Times New Roman"/>
                <a:cs typeface="Times New Roman"/>
                <a:sym typeface="Times New Roman"/>
              </a:rPr>
              <a:t>Xây dựng </a:t>
            </a:r>
            <a:r>
              <a:rPr lang="en-US" sz="2900">
                <a:solidFill>
                  <a:srgbClr val="FFFFFF"/>
                </a:solidFill>
                <a:latin typeface="Times New Roman"/>
                <a:ea typeface="Times New Roman"/>
                <a:cs typeface="Times New Roman"/>
                <a:sym typeface="Times New Roman"/>
              </a:rPr>
              <a:t>hệ thống quản lý công việc cá nhân Phát triển ứng dụng web tích hợp đa chức năng: quản lý nhiệm vụ, Pomodoro Timer, GPA, Ghi chú, OKR — responsive trên Desktop, Mobile và APK Android.</a:t>
            </a:r>
          </a:p>
        </p:txBody>
      </p:sp>
      <p:sp>
        <p:nvSpPr>
          <p:cNvPr name="TextBox 24" id="24"/>
          <p:cNvSpPr txBox="true"/>
          <p:nvPr/>
        </p:nvSpPr>
        <p:spPr>
          <a:xfrm rot="0">
            <a:off x="10600203" y="2030847"/>
            <a:ext cx="6448850" cy="3382772"/>
          </a:xfrm>
          <a:prstGeom prst="rect">
            <a:avLst/>
          </a:prstGeom>
        </p:spPr>
        <p:txBody>
          <a:bodyPr anchor="t" rtlCol="false" tIns="0" lIns="0" bIns="0" rIns="0">
            <a:spAutoFit/>
          </a:bodyPr>
          <a:lstStyle/>
          <a:p>
            <a:pPr algn="just">
              <a:lnSpc>
                <a:spcPts val="6844"/>
              </a:lnSpc>
            </a:pPr>
            <a:r>
              <a:rPr lang="en-US" sz="2900">
                <a:solidFill>
                  <a:srgbClr val="FFFFFF"/>
                </a:solidFill>
                <a:latin typeface="Times New Roman"/>
                <a:ea typeface="Times New Roman"/>
                <a:cs typeface="Times New Roman"/>
                <a:sym typeface="Times New Roman"/>
              </a:rPr>
              <a:t>Ứng dụng kỹ t</a:t>
            </a:r>
            <a:r>
              <a:rPr lang="en-US" sz="2900">
                <a:solidFill>
                  <a:srgbClr val="FFFFFF"/>
                </a:solidFill>
                <a:latin typeface="Times New Roman"/>
                <a:ea typeface="Times New Roman"/>
                <a:cs typeface="Times New Roman"/>
                <a:sym typeface="Times New Roman"/>
              </a:rPr>
              <a:t>huật gamification Xây dựng hệ thống thưởng XP, Level, Badge, Streak và Leaderboard — tạo động lực sử dụng lâu dài cho người dùng.</a:t>
            </a:r>
          </a:p>
        </p:txBody>
      </p:sp>
      <p:sp>
        <p:nvSpPr>
          <p:cNvPr name="TextBox 25" id="25"/>
          <p:cNvSpPr txBox="true"/>
          <p:nvPr/>
        </p:nvSpPr>
        <p:spPr>
          <a:xfrm rot="0">
            <a:off x="1006907" y="6406172"/>
            <a:ext cx="6022194" cy="4073906"/>
          </a:xfrm>
          <a:prstGeom prst="rect">
            <a:avLst/>
          </a:prstGeom>
        </p:spPr>
        <p:txBody>
          <a:bodyPr anchor="t" rtlCol="false" tIns="0" lIns="0" bIns="0" rIns="0">
            <a:spAutoFit/>
          </a:bodyPr>
          <a:lstStyle/>
          <a:p>
            <a:pPr algn="just">
              <a:lnSpc>
                <a:spcPts val="5452"/>
              </a:lnSpc>
            </a:pPr>
            <a:r>
              <a:rPr lang="en-US" sz="2900">
                <a:solidFill>
                  <a:srgbClr val="FFFFFF"/>
                </a:solidFill>
                <a:latin typeface="Times New Roman"/>
                <a:ea typeface="Times New Roman"/>
                <a:cs typeface="Times New Roman"/>
                <a:sym typeface="Times New Roman"/>
              </a:rPr>
              <a:t>Ứng dụng trí tuệ n</a:t>
            </a:r>
            <a:r>
              <a:rPr lang="en-US" sz="2900">
                <a:solidFill>
                  <a:srgbClr val="FFFFFF"/>
                </a:solidFill>
                <a:latin typeface="Times New Roman"/>
                <a:ea typeface="Times New Roman"/>
                <a:cs typeface="Times New Roman"/>
                <a:sym typeface="Times New Roman"/>
              </a:rPr>
              <a:t>hân tạo Google Gemini Sử dụng Gemini API và Function Calling để hỗ trợ người dùng tạo task bằng tiếng Việt, phân rã task thành subtask, chatbot cố vấn hiệu suất.</a:t>
            </a:r>
          </a:p>
          <a:p>
            <a:pPr algn="just">
              <a:lnSpc>
                <a:spcPts val="5452"/>
              </a:lnSpc>
            </a:pPr>
          </a:p>
        </p:txBody>
      </p:sp>
      <p:sp>
        <p:nvSpPr>
          <p:cNvPr name="TextBox 26" id="26"/>
          <p:cNvSpPr txBox="true"/>
          <p:nvPr/>
        </p:nvSpPr>
        <p:spPr>
          <a:xfrm rot="0">
            <a:off x="10600203" y="6480232"/>
            <a:ext cx="6448850" cy="3382772"/>
          </a:xfrm>
          <a:prstGeom prst="rect">
            <a:avLst/>
          </a:prstGeom>
        </p:spPr>
        <p:txBody>
          <a:bodyPr anchor="t" rtlCol="false" tIns="0" lIns="0" bIns="0" rIns="0">
            <a:spAutoFit/>
          </a:bodyPr>
          <a:lstStyle/>
          <a:p>
            <a:pPr algn="just">
              <a:lnSpc>
                <a:spcPts val="6844"/>
              </a:lnSpc>
            </a:pPr>
            <a:r>
              <a:rPr lang="en-US" sz="2900">
                <a:solidFill>
                  <a:srgbClr val="FFFFFF"/>
                </a:solidFill>
                <a:latin typeface="Times New Roman"/>
                <a:ea typeface="Times New Roman"/>
                <a:cs typeface="Times New Roman"/>
                <a:sym typeface="Times New Roman"/>
              </a:rPr>
              <a:t>Rèn luyện kỹ năng c</a:t>
            </a:r>
            <a:r>
              <a:rPr lang="en-US" sz="2900">
                <a:solidFill>
                  <a:srgbClr val="FFFFFF"/>
                </a:solidFill>
                <a:latin typeface="Times New Roman"/>
                <a:ea typeface="Times New Roman"/>
                <a:cs typeface="Times New Roman"/>
                <a:sym typeface="Times New Roman"/>
              </a:rPr>
              <a:t>huyên môn Nâng cao kỹ năng thiết kế kiến trúc 3 tầng, phát triển RESTful API, triển khai cloud và kiểm thử phần mềm.</a:t>
            </a:r>
          </a:p>
        </p:txBody>
      </p:sp>
      <p:sp>
        <p:nvSpPr>
          <p:cNvPr name="TextBox 27" id="27"/>
          <p:cNvSpPr txBox="true"/>
          <p:nvPr/>
        </p:nvSpPr>
        <p:spPr>
          <a:xfrm rot="0">
            <a:off x="6995466" y="5918190"/>
            <a:ext cx="3601194" cy="566419"/>
          </a:xfrm>
          <a:prstGeom prst="rect">
            <a:avLst/>
          </a:prstGeom>
        </p:spPr>
        <p:txBody>
          <a:bodyPr anchor="t" rtlCol="false" tIns="0" lIns="0" bIns="0" rIns="0">
            <a:spAutoFit/>
          </a:bodyPr>
          <a:lstStyle/>
          <a:p>
            <a:pPr algn="ctr">
              <a:lnSpc>
                <a:spcPts val="4480"/>
              </a:lnSpc>
            </a:pPr>
            <a:r>
              <a:rPr lang="en-US" b="true" sz="3200" i="true">
                <a:solidFill>
                  <a:srgbClr val="FFFFFF"/>
                </a:solidFill>
                <a:latin typeface="Times New Roman Bold Italics"/>
                <a:ea typeface="Times New Roman Bold Italics"/>
                <a:cs typeface="Times New Roman Bold Italics"/>
                <a:sym typeface="Times New Roman Bold Italics"/>
              </a:rPr>
              <a:t>MỤC TIÊU CỤ THỂ</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1C37"/>
        </a:solidFill>
      </p:bgPr>
    </p:bg>
    <p:spTree>
      <p:nvGrpSpPr>
        <p:cNvPr id="1" name=""/>
        <p:cNvGrpSpPr/>
        <p:nvPr/>
      </p:nvGrpSpPr>
      <p:grpSpPr>
        <a:xfrm>
          <a:off x="0" y="0"/>
          <a:ext cx="0" cy="0"/>
          <a:chOff x="0" y="0"/>
          <a:chExt cx="0" cy="0"/>
        </a:xfrm>
      </p:grpSpPr>
      <p:grpSp>
        <p:nvGrpSpPr>
          <p:cNvPr name="Group 2" id="2"/>
          <p:cNvGrpSpPr/>
          <p:nvPr/>
        </p:nvGrpSpPr>
        <p:grpSpPr>
          <a:xfrm rot="0">
            <a:off x="241128" y="5077250"/>
            <a:ext cx="4608658" cy="4855933"/>
            <a:chOff x="0" y="0"/>
            <a:chExt cx="517045" cy="544787"/>
          </a:xfrm>
        </p:grpSpPr>
        <p:sp>
          <p:nvSpPr>
            <p:cNvPr name="Freeform 3" id="3"/>
            <p:cNvSpPr/>
            <p:nvPr/>
          </p:nvSpPr>
          <p:spPr>
            <a:xfrm flipH="false" flipV="false" rot="0">
              <a:off x="0" y="0"/>
              <a:ext cx="517045" cy="544787"/>
            </a:xfrm>
            <a:custGeom>
              <a:avLst/>
              <a:gdLst/>
              <a:ahLst/>
              <a:cxnLst/>
              <a:rect r="r" b="b" t="t" l="l"/>
              <a:pathLst>
                <a:path h="544787" w="517045">
                  <a:moveTo>
                    <a:pt x="41997" y="0"/>
                  </a:moveTo>
                  <a:lnTo>
                    <a:pt x="475048" y="0"/>
                  </a:lnTo>
                  <a:cubicBezTo>
                    <a:pt x="498243" y="0"/>
                    <a:pt x="517045" y="18803"/>
                    <a:pt x="517045" y="41997"/>
                  </a:cubicBezTo>
                  <a:lnTo>
                    <a:pt x="517045" y="502790"/>
                  </a:lnTo>
                  <a:cubicBezTo>
                    <a:pt x="517045" y="525984"/>
                    <a:pt x="498243" y="544787"/>
                    <a:pt x="475048" y="544787"/>
                  </a:cubicBezTo>
                  <a:lnTo>
                    <a:pt x="41997" y="544787"/>
                  </a:lnTo>
                  <a:cubicBezTo>
                    <a:pt x="18803" y="544787"/>
                    <a:pt x="0" y="525984"/>
                    <a:pt x="0" y="502790"/>
                  </a:cubicBezTo>
                  <a:lnTo>
                    <a:pt x="0" y="41997"/>
                  </a:lnTo>
                  <a:cubicBezTo>
                    <a:pt x="0" y="18803"/>
                    <a:pt x="18803" y="0"/>
                    <a:pt x="41997" y="0"/>
                  </a:cubicBezTo>
                  <a:close/>
                </a:path>
              </a:pathLst>
            </a:custGeom>
            <a:gradFill rotWithShape="true">
              <a:gsLst>
                <a:gs pos="0">
                  <a:srgbClr val="31A1D4">
                    <a:alpha val="47000"/>
                  </a:srgbClr>
                </a:gs>
                <a:gs pos="100000">
                  <a:srgbClr val="035E8E">
                    <a:alpha val="0"/>
                  </a:srgbClr>
                </a:gs>
              </a:gsLst>
              <a:lin ang="2700000"/>
            </a:gradFill>
          </p:spPr>
        </p:sp>
        <p:sp>
          <p:nvSpPr>
            <p:cNvPr name="TextBox 4" id="4"/>
            <p:cNvSpPr txBox="true"/>
            <p:nvPr/>
          </p:nvSpPr>
          <p:spPr>
            <a:xfrm>
              <a:off x="0" y="-57150"/>
              <a:ext cx="517045" cy="601937"/>
            </a:xfrm>
            <a:prstGeom prst="rect">
              <a:avLst/>
            </a:prstGeom>
          </p:spPr>
          <p:txBody>
            <a:bodyPr anchor="ctr" rtlCol="false" tIns="50800" lIns="50800" bIns="50800" rIns="50800"/>
            <a:lstStyle/>
            <a:p>
              <a:pPr algn="ctr" marL="0" indent="0" lvl="0">
                <a:lnSpc>
                  <a:spcPts val="3357"/>
                </a:lnSpc>
                <a:spcBef>
                  <a:spcPct val="0"/>
                </a:spcBef>
              </a:pPr>
            </a:p>
          </p:txBody>
        </p:sp>
      </p:grpSp>
      <p:grpSp>
        <p:nvGrpSpPr>
          <p:cNvPr name="Group 5" id="5"/>
          <p:cNvGrpSpPr/>
          <p:nvPr/>
        </p:nvGrpSpPr>
        <p:grpSpPr>
          <a:xfrm rot="0">
            <a:off x="5095002" y="4962952"/>
            <a:ext cx="4636697" cy="4855933"/>
            <a:chOff x="0" y="0"/>
            <a:chExt cx="520191" cy="544787"/>
          </a:xfrm>
        </p:grpSpPr>
        <p:sp>
          <p:nvSpPr>
            <p:cNvPr name="Freeform 6" id="6"/>
            <p:cNvSpPr/>
            <p:nvPr/>
          </p:nvSpPr>
          <p:spPr>
            <a:xfrm flipH="false" flipV="false" rot="0">
              <a:off x="0" y="0"/>
              <a:ext cx="520191" cy="544787"/>
            </a:xfrm>
            <a:custGeom>
              <a:avLst/>
              <a:gdLst/>
              <a:ahLst/>
              <a:cxnLst/>
              <a:rect r="r" b="b" t="t" l="l"/>
              <a:pathLst>
                <a:path h="544787" w="520191">
                  <a:moveTo>
                    <a:pt x="41743" y="0"/>
                  </a:moveTo>
                  <a:lnTo>
                    <a:pt x="478448" y="0"/>
                  </a:lnTo>
                  <a:cubicBezTo>
                    <a:pt x="489519" y="0"/>
                    <a:pt x="500136" y="4398"/>
                    <a:pt x="507965" y="12226"/>
                  </a:cubicBezTo>
                  <a:cubicBezTo>
                    <a:pt x="515793" y="20054"/>
                    <a:pt x="520191" y="30672"/>
                    <a:pt x="520191" y="41743"/>
                  </a:cubicBezTo>
                  <a:lnTo>
                    <a:pt x="520191" y="503044"/>
                  </a:lnTo>
                  <a:cubicBezTo>
                    <a:pt x="520191" y="514115"/>
                    <a:pt x="515793" y="524732"/>
                    <a:pt x="507965" y="532561"/>
                  </a:cubicBezTo>
                  <a:cubicBezTo>
                    <a:pt x="500136" y="540389"/>
                    <a:pt x="489519" y="544787"/>
                    <a:pt x="478448" y="544787"/>
                  </a:cubicBezTo>
                  <a:lnTo>
                    <a:pt x="41743" y="544787"/>
                  </a:lnTo>
                  <a:cubicBezTo>
                    <a:pt x="30672" y="544787"/>
                    <a:pt x="20054" y="540389"/>
                    <a:pt x="12226" y="532561"/>
                  </a:cubicBezTo>
                  <a:cubicBezTo>
                    <a:pt x="4398" y="524732"/>
                    <a:pt x="0" y="514115"/>
                    <a:pt x="0" y="503044"/>
                  </a:cubicBezTo>
                  <a:lnTo>
                    <a:pt x="0" y="41743"/>
                  </a:lnTo>
                  <a:cubicBezTo>
                    <a:pt x="0" y="30672"/>
                    <a:pt x="4398" y="20054"/>
                    <a:pt x="12226" y="12226"/>
                  </a:cubicBezTo>
                  <a:cubicBezTo>
                    <a:pt x="20054" y="4398"/>
                    <a:pt x="30672" y="0"/>
                    <a:pt x="41743" y="0"/>
                  </a:cubicBezTo>
                  <a:close/>
                </a:path>
              </a:pathLst>
            </a:custGeom>
            <a:gradFill rotWithShape="true">
              <a:gsLst>
                <a:gs pos="0">
                  <a:srgbClr val="31A1D4">
                    <a:alpha val="47000"/>
                  </a:srgbClr>
                </a:gs>
                <a:gs pos="100000">
                  <a:srgbClr val="035E8E">
                    <a:alpha val="0"/>
                  </a:srgbClr>
                </a:gs>
              </a:gsLst>
              <a:lin ang="2700000"/>
            </a:gradFill>
          </p:spPr>
        </p:sp>
        <p:sp>
          <p:nvSpPr>
            <p:cNvPr name="TextBox 7" id="7"/>
            <p:cNvSpPr txBox="true"/>
            <p:nvPr/>
          </p:nvSpPr>
          <p:spPr>
            <a:xfrm>
              <a:off x="0" y="-57150"/>
              <a:ext cx="520191" cy="601937"/>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Freeform 8" id="8"/>
          <p:cNvSpPr/>
          <p:nvPr/>
        </p:nvSpPr>
        <p:spPr>
          <a:xfrm flipH="false" flipV="false" rot="0">
            <a:off x="271312" y="2125209"/>
            <a:ext cx="4578474" cy="2577027"/>
          </a:xfrm>
          <a:custGeom>
            <a:avLst/>
            <a:gdLst/>
            <a:ahLst/>
            <a:cxnLst/>
            <a:rect r="r" b="b" t="t" l="l"/>
            <a:pathLst>
              <a:path h="2577027" w="4578474">
                <a:moveTo>
                  <a:pt x="0" y="0"/>
                </a:moveTo>
                <a:lnTo>
                  <a:pt x="4578474" y="0"/>
                </a:lnTo>
                <a:lnTo>
                  <a:pt x="4578474" y="2577027"/>
                </a:lnTo>
                <a:lnTo>
                  <a:pt x="0" y="2577027"/>
                </a:lnTo>
                <a:lnTo>
                  <a:pt x="0" y="0"/>
                </a:lnTo>
                <a:close/>
              </a:path>
            </a:pathLst>
          </a:custGeom>
          <a:blipFill>
            <a:blip r:embed="rId2"/>
            <a:stretch>
              <a:fillRect l="0" t="0" r="0" b="0"/>
            </a:stretch>
          </a:blipFill>
        </p:spPr>
      </p:sp>
      <p:sp>
        <p:nvSpPr>
          <p:cNvPr name="Freeform 9" id="9"/>
          <p:cNvSpPr/>
          <p:nvPr/>
        </p:nvSpPr>
        <p:spPr>
          <a:xfrm flipH="false" flipV="false" rot="0">
            <a:off x="5505012" y="2090590"/>
            <a:ext cx="3966199" cy="2641550"/>
          </a:xfrm>
          <a:custGeom>
            <a:avLst/>
            <a:gdLst/>
            <a:ahLst/>
            <a:cxnLst/>
            <a:rect r="r" b="b" t="t" l="l"/>
            <a:pathLst>
              <a:path h="2641550" w="3966199">
                <a:moveTo>
                  <a:pt x="0" y="0"/>
                </a:moveTo>
                <a:lnTo>
                  <a:pt x="3966199" y="0"/>
                </a:lnTo>
                <a:lnTo>
                  <a:pt x="3966199" y="2641550"/>
                </a:lnTo>
                <a:lnTo>
                  <a:pt x="0" y="2641550"/>
                </a:lnTo>
                <a:lnTo>
                  <a:pt x="0" y="0"/>
                </a:lnTo>
                <a:close/>
              </a:path>
            </a:pathLst>
          </a:custGeom>
          <a:blipFill>
            <a:blip r:embed="rId3"/>
            <a:stretch>
              <a:fillRect l="0" t="0" r="0" b="0"/>
            </a:stretch>
          </a:blipFill>
        </p:spPr>
      </p:sp>
      <p:grpSp>
        <p:nvGrpSpPr>
          <p:cNvPr name="Group 10" id="10"/>
          <p:cNvGrpSpPr/>
          <p:nvPr/>
        </p:nvGrpSpPr>
        <p:grpSpPr>
          <a:xfrm rot="0">
            <a:off x="9908492" y="4942682"/>
            <a:ext cx="3963855" cy="4855933"/>
            <a:chOff x="0" y="0"/>
            <a:chExt cx="444705" cy="544787"/>
          </a:xfrm>
        </p:grpSpPr>
        <p:sp>
          <p:nvSpPr>
            <p:cNvPr name="Freeform 11" id="11"/>
            <p:cNvSpPr/>
            <p:nvPr/>
          </p:nvSpPr>
          <p:spPr>
            <a:xfrm flipH="false" flipV="false" rot="0">
              <a:off x="0" y="0"/>
              <a:ext cx="444705" cy="544787"/>
            </a:xfrm>
            <a:custGeom>
              <a:avLst/>
              <a:gdLst/>
              <a:ahLst/>
              <a:cxnLst/>
              <a:rect r="r" b="b" t="t" l="l"/>
              <a:pathLst>
                <a:path h="544787" w="444705">
                  <a:moveTo>
                    <a:pt x="48828" y="0"/>
                  </a:moveTo>
                  <a:lnTo>
                    <a:pt x="395876" y="0"/>
                  </a:lnTo>
                  <a:cubicBezTo>
                    <a:pt x="408826" y="0"/>
                    <a:pt x="421246" y="5144"/>
                    <a:pt x="430403" y="14301"/>
                  </a:cubicBezTo>
                  <a:cubicBezTo>
                    <a:pt x="439560" y="23459"/>
                    <a:pt x="444705" y="35878"/>
                    <a:pt x="444705" y="48828"/>
                  </a:cubicBezTo>
                  <a:lnTo>
                    <a:pt x="444705" y="495959"/>
                  </a:lnTo>
                  <a:cubicBezTo>
                    <a:pt x="444705" y="508909"/>
                    <a:pt x="439560" y="521328"/>
                    <a:pt x="430403" y="530485"/>
                  </a:cubicBezTo>
                  <a:cubicBezTo>
                    <a:pt x="421246" y="539642"/>
                    <a:pt x="408826" y="544787"/>
                    <a:pt x="395876" y="544787"/>
                  </a:cubicBezTo>
                  <a:lnTo>
                    <a:pt x="48828" y="544787"/>
                  </a:lnTo>
                  <a:cubicBezTo>
                    <a:pt x="35878" y="544787"/>
                    <a:pt x="23459" y="539642"/>
                    <a:pt x="14301" y="530485"/>
                  </a:cubicBezTo>
                  <a:cubicBezTo>
                    <a:pt x="5144" y="521328"/>
                    <a:pt x="0" y="508909"/>
                    <a:pt x="0" y="495959"/>
                  </a:cubicBezTo>
                  <a:lnTo>
                    <a:pt x="0" y="48828"/>
                  </a:lnTo>
                  <a:cubicBezTo>
                    <a:pt x="0" y="35878"/>
                    <a:pt x="5144" y="23459"/>
                    <a:pt x="14301" y="14301"/>
                  </a:cubicBezTo>
                  <a:cubicBezTo>
                    <a:pt x="23459" y="5144"/>
                    <a:pt x="35878" y="0"/>
                    <a:pt x="48828" y="0"/>
                  </a:cubicBezTo>
                  <a:close/>
                </a:path>
              </a:pathLst>
            </a:custGeom>
            <a:gradFill rotWithShape="true">
              <a:gsLst>
                <a:gs pos="0">
                  <a:srgbClr val="31A1D4">
                    <a:alpha val="47000"/>
                  </a:srgbClr>
                </a:gs>
                <a:gs pos="100000">
                  <a:srgbClr val="035E8E">
                    <a:alpha val="0"/>
                  </a:srgbClr>
                </a:gs>
              </a:gsLst>
              <a:lin ang="2700000"/>
            </a:gradFill>
          </p:spPr>
        </p:sp>
        <p:sp>
          <p:nvSpPr>
            <p:cNvPr name="TextBox 12" id="12"/>
            <p:cNvSpPr txBox="true"/>
            <p:nvPr/>
          </p:nvSpPr>
          <p:spPr>
            <a:xfrm>
              <a:off x="0" y="-57150"/>
              <a:ext cx="444705" cy="601937"/>
            </a:xfrm>
            <a:prstGeom prst="rect">
              <a:avLst/>
            </a:prstGeom>
          </p:spPr>
          <p:txBody>
            <a:bodyPr anchor="ctr" rtlCol="false" tIns="50800" lIns="50800" bIns="50800" rIns="50800"/>
            <a:lstStyle/>
            <a:p>
              <a:pPr algn="ctr" marL="0" indent="0" lvl="0">
                <a:lnSpc>
                  <a:spcPts val="3357"/>
                </a:lnSpc>
                <a:spcBef>
                  <a:spcPct val="0"/>
                </a:spcBef>
              </a:pPr>
            </a:p>
          </p:txBody>
        </p:sp>
      </p:grpSp>
      <p:grpSp>
        <p:nvGrpSpPr>
          <p:cNvPr name="Group 13" id="13"/>
          <p:cNvGrpSpPr/>
          <p:nvPr/>
        </p:nvGrpSpPr>
        <p:grpSpPr>
          <a:xfrm rot="0">
            <a:off x="14053322" y="4942682"/>
            <a:ext cx="3874142" cy="4855933"/>
            <a:chOff x="0" y="0"/>
            <a:chExt cx="434640" cy="544787"/>
          </a:xfrm>
        </p:grpSpPr>
        <p:sp>
          <p:nvSpPr>
            <p:cNvPr name="Freeform 14" id="14"/>
            <p:cNvSpPr/>
            <p:nvPr/>
          </p:nvSpPr>
          <p:spPr>
            <a:xfrm flipH="false" flipV="false" rot="0">
              <a:off x="0" y="0"/>
              <a:ext cx="434640" cy="544787"/>
            </a:xfrm>
            <a:custGeom>
              <a:avLst/>
              <a:gdLst/>
              <a:ahLst/>
              <a:cxnLst/>
              <a:rect r="r" b="b" t="t" l="l"/>
              <a:pathLst>
                <a:path h="544787" w="434640">
                  <a:moveTo>
                    <a:pt x="49959" y="0"/>
                  </a:moveTo>
                  <a:lnTo>
                    <a:pt x="384681" y="0"/>
                  </a:lnTo>
                  <a:cubicBezTo>
                    <a:pt x="412272" y="0"/>
                    <a:pt x="434640" y="22367"/>
                    <a:pt x="434640" y="49959"/>
                  </a:cubicBezTo>
                  <a:lnTo>
                    <a:pt x="434640" y="494828"/>
                  </a:lnTo>
                  <a:cubicBezTo>
                    <a:pt x="434640" y="508078"/>
                    <a:pt x="429376" y="520785"/>
                    <a:pt x="420007" y="530154"/>
                  </a:cubicBezTo>
                  <a:cubicBezTo>
                    <a:pt x="410638" y="539523"/>
                    <a:pt x="397931" y="544787"/>
                    <a:pt x="384681" y="544787"/>
                  </a:cubicBezTo>
                  <a:lnTo>
                    <a:pt x="49959" y="544787"/>
                  </a:lnTo>
                  <a:cubicBezTo>
                    <a:pt x="36709" y="544787"/>
                    <a:pt x="24002" y="539523"/>
                    <a:pt x="14633" y="530154"/>
                  </a:cubicBezTo>
                  <a:cubicBezTo>
                    <a:pt x="5264" y="520785"/>
                    <a:pt x="0" y="508078"/>
                    <a:pt x="0" y="494828"/>
                  </a:cubicBezTo>
                  <a:lnTo>
                    <a:pt x="0" y="49959"/>
                  </a:lnTo>
                  <a:cubicBezTo>
                    <a:pt x="0" y="36709"/>
                    <a:pt x="5264" y="24002"/>
                    <a:pt x="14633" y="14633"/>
                  </a:cubicBezTo>
                  <a:cubicBezTo>
                    <a:pt x="24002" y="5264"/>
                    <a:pt x="36709" y="0"/>
                    <a:pt x="49959" y="0"/>
                  </a:cubicBezTo>
                  <a:close/>
                </a:path>
              </a:pathLst>
            </a:custGeom>
            <a:gradFill rotWithShape="true">
              <a:gsLst>
                <a:gs pos="0">
                  <a:srgbClr val="31A1D4">
                    <a:alpha val="47000"/>
                  </a:srgbClr>
                </a:gs>
                <a:gs pos="100000">
                  <a:srgbClr val="035E8E">
                    <a:alpha val="0"/>
                  </a:srgbClr>
                </a:gs>
              </a:gsLst>
              <a:lin ang="2700000"/>
            </a:gradFill>
          </p:spPr>
        </p:sp>
        <p:sp>
          <p:nvSpPr>
            <p:cNvPr name="TextBox 15" id="15"/>
            <p:cNvSpPr txBox="true"/>
            <p:nvPr/>
          </p:nvSpPr>
          <p:spPr>
            <a:xfrm>
              <a:off x="0" y="-57150"/>
              <a:ext cx="434640" cy="601937"/>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Freeform 16" id="16"/>
          <p:cNvSpPr/>
          <p:nvPr/>
        </p:nvSpPr>
        <p:spPr>
          <a:xfrm flipH="false" flipV="false" rot="0">
            <a:off x="10391136" y="1890237"/>
            <a:ext cx="2998567" cy="2811999"/>
          </a:xfrm>
          <a:custGeom>
            <a:avLst/>
            <a:gdLst/>
            <a:ahLst/>
            <a:cxnLst/>
            <a:rect r="r" b="b" t="t" l="l"/>
            <a:pathLst>
              <a:path h="2811999" w="2998567">
                <a:moveTo>
                  <a:pt x="0" y="0"/>
                </a:moveTo>
                <a:lnTo>
                  <a:pt x="2998567" y="0"/>
                </a:lnTo>
                <a:lnTo>
                  <a:pt x="2998567" y="2811999"/>
                </a:lnTo>
                <a:lnTo>
                  <a:pt x="0" y="2811999"/>
                </a:lnTo>
                <a:lnTo>
                  <a:pt x="0" y="0"/>
                </a:lnTo>
                <a:close/>
              </a:path>
            </a:pathLst>
          </a:custGeom>
          <a:blipFill>
            <a:blip r:embed="rId4"/>
            <a:stretch>
              <a:fillRect l="0" t="0" r="0" b="-3442"/>
            </a:stretch>
          </a:blipFill>
        </p:spPr>
      </p:sp>
      <p:sp>
        <p:nvSpPr>
          <p:cNvPr name="Freeform 17" id="17"/>
          <p:cNvSpPr/>
          <p:nvPr/>
        </p:nvSpPr>
        <p:spPr>
          <a:xfrm flipH="false" flipV="false" rot="0">
            <a:off x="14246498" y="1890237"/>
            <a:ext cx="3487790" cy="2841903"/>
          </a:xfrm>
          <a:custGeom>
            <a:avLst/>
            <a:gdLst/>
            <a:ahLst/>
            <a:cxnLst/>
            <a:rect r="r" b="b" t="t" l="l"/>
            <a:pathLst>
              <a:path h="2841903" w="3487790">
                <a:moveTo>
                  <a:pt x="0" y="0"/>
                </a:moveTo>
                <a:lnTo>
                  <a:pt x="3487790" y="0"/>
                </a:lnTo>
                <a:lnTo>
                  <a:pt x="3487790" y="2841903"/>
                </a:lnTo>
                <a:lnTo>
                  <a:pt x="0" y="2841903"/>
                </a:lnTo>
                <a:lnTo>
                  <a:pt x="0" y="0"/>
                </a:lnTo>
                <a:close/>
              </a:path>
            </a:pathLst>
          </a:custGeom>
          <a:blipFill>
            <a:blip r:embed="rId5"/>
            <a:stretch>
              <a:fillRect l="0" t="0" r="0" b="0"/>
            </a:stretch>
          </a:blipFill>
        </p:spPr>
      </p:sp>
      <p:sp>
        <p:nvSpPr>
          <p:cNvPr name="TextBox 18" id="18"/>
          <p:cNvSpPr txBox="true"/>
          <p:nvPr/>
        </p:nvSpPr>
        <p:spPr>
          <a:xfrm rot="0">
            <a:off x="5614968" y="132178"/>
            <a:ext cx="8233464" cy="1047354"/>
          </a:xfrm>
          <a:prstGeom prst="rect">
            <a:avLst/>
          </a:prstGeom>
        </p:spPr>
        <p:txBody>
          <a:bodyPr anchor="t" rtlCol="false" tIns="0" lIns="0" bIns="0" rIns="0">
            <a:spAutoFit/>
          </a:bodyPr>
          <a:lstStyle/>
          <a:p>
            <a:pPr algn="l">
              <a:lnSpc>
                <a:spcPts val="8240"/>
              </a:lnSpc>
              <a:spcBef>
                <a:spcPct val="0"/>
              </a:spcBef>
            </a:pPr>
            <a:r>
              <a:rPr lang="en-US" b="true" sz="5885">
                <a:solidFill>
                  <a:srgbClr val="FFFFFF"/>
                </a:solidFill>
                <a:latin typeface="Times New Roman Bold"/>
                <a:ea typeface="Times New Roman Bold"/>
                <a:cs typeface="Times New Roman Bold"/>
                <a:sym typeface="Times New Roman Bold"/>
              </a:rPr>
              <a:t>CƠ SỞ LÝ THUYẾT</a:t>
            </a:r>
          </a:p>
        </p:txBody>
      </p:sp>
      <p:sp>
        <p:nvSpPr>
          <p:cNvPr name="TextBox 19" id="19"/>
          <p:cNvSpPr txBox="true"/>
          <p:nvPr/>
        </p:nvSpPr>
        <p:spPr>
          <a:xfrm rot="0">
            <a:off x="271312" y="4957780"/>
            <a:ext cx="4395535" cy="3977258"/>
          </a:xfrm>
          <a:prstGeom prst="rect">
            <a:avLst/>
          </a:prstGeom>
        </p:spPr>
        <p:txBody>
          <a:bodyPr anchor="t" rtlCol="false" tIns="0" lIns="0" bIns="0" rIns="0">
            <a:spAutoFit/>
          </a:bodyPr>
          <a:lstStyle/>
          <a:p>
            <a:pPr algn="l">
              <a:lnSpc>
                <a:spcPts val="6438"/>
              </a:lnSpc>
            </a:pPr>
            <a:r>
              <a:rPr lang="en-US" sz="2900">
                <a:solidFill>
                  <a:srgbClr val="FFFFFF"/>
                </a:solidFill>
                <a:latin typeface="Times New Roman"/>
                <a:ea typeface="Times New Roman"/>
                <a:cs typeface="Times New Roman"/>
                <a:sym typeface="Times New Roman"/>
              </a:rPr>
              <a:t>Vue 3 + Vite Fra</a:t>
            </a:r>
            <a:r>
              <a:rPr lang="en-US" sz="2900">
                <a:solidFill>
                  <a:srgbClr val="FFFFFF"/>
                </a:solidFill>
                <a:latin typeface="Times New Roman"/>
                <a:ea typeface="Times New Roman"/>
                <a:cs typeface="Times New Roman"/>
                <a:sym typeface="Times New Roman"/>
              </a:rPr>
              <a:t>mework JavaScript hiện đại phát triển giao diện với Composition API, Pinia state management và Vue Router.</a:t>
            </a:r>
          </a:p>
        </p:txBody>
      </p:sp>
      <p:sp>
        <p:nvSpPr>
          <p:cNvPr name="TextBox 20" id="20"/>
          <p:cNvSpPr txBox="true"/>
          <p:nvPr/>
        </p:nvSpPr>
        <p:spPr>
          <a:xfrm rot="0">
            <a:off x="5167424" y="4862532"/>
            <a:ext cx="4491854" cy="3881373"/>
          </a:xfrm>
          <a:prstGeom prst="rect">
            <a:avLst/>
          </a:prstGeom>
        </p:spPr>
        <p:txBody>
          <a:bodyPr anchor="t" rtlCol="false" tIns="0" lIns="0" bIns="0" rIns="0">
            <a:spAutoFit/>
          </a:bodyPr>
          <a:lstStyle/>
          <a:p>
            <a:pPr algn="just">
              <a:lnSpc>
                <a:spcPts val="6293"/>
              </a:lnSpc>
            </a:pPr>
            <a:r>
              <a:rPr lang="en-US" sz="2900">
                <a:solidFill>
                  <a:srgbClr val="FFFFFF"/>
                </a:solidFill>
                <a:latin typeface="Times New Roman"/>
                <a:ea typeface="Times New Roman"/>
                <a:cs typeface="Times New Roman"/>
                <a:sym typeface="Times New Roman"/>
              </a:rPr>
              <a:t>Node.js</a:t>
            </a:r>
            <a:r>
              <a:rPr lang="en-US" sz="2900">
                <a:solidFill>
                  <a:srgbClr val="FFFFFF"/>
                </a:solidFill>
                <a:latin typeface="Times New Roman"/>
                <a:ea typeface="Times New Roman"/>
                <a:cs typeface="Times New Roman"/>
                <a:sym typeface="Times New Roman"/>
              </a:rPr>
              <a:t> Express Runtime JavaScript phía server  xây dựng RESTful API, xác thực JWT, Socket.IO real-time và tích hợp bên thứ ba.</a:t>
            </a:r>
          </a:p>
        </p:txBody>
      </p:sp>
      <p:sp>
        <p:nvSpPr>
          <p:cNvPr name="TextBox 21" id="21"/>
          <p:cNvSpPr txBox="true"/>
          <p:nvPr/>
        </p:nvSpPr>
        <p:spPr>
          <a:xfrm rot="0">
            <a:off x="10027648" y="4766062"/>
            <a:ext cx="3633883" cy="4338064"/>
          </a:xfrm>
          <a:prstGeom prst="rect">
            <a:avLst/>
          </a:prstGeom>
        </p:spPr>
        <p:txBody>
          <a:bodyPr anchor="t" rtlCol="false" tIns="0" lIns="0" bIns="0" rIns="0">
            <a:spAutoFit/>
          </a:bodyPr>
          <a:lstStyle/>
          <a:p>
            <a:pPr algn="just">
              <a:lnSpc>
                <a:spcPts val="7047"/>
              </a:lnSpc>
            </a:pPr>
            <a:r>
              <a:rPr lang="en-US" sz="2900">
                <a:solidFill>
                  <a:srgbClr val="FFFFFF"/>
                </a:solidFill>
                <a:latin typeface="Times New Roman"/>
                <a:ea typeface="Times New Roman"/>
                <a:cs typeface="Times New Roman"/>
                <a:sym typeface="Times New Roman"/>
              </a:rPr>
              <a:t>MySQL</a:t>
            </a:r>
            <a:r>
              <a:rPr lang="en-US" sz="2900">
                <a:solidFill>
                  <a:srgbClr val="FFFFFF"/>
                </a:solidFill>
                <a:latin typeface="Times New Roman"/>
                <a:ea typeface="Times New Roman"/>
                <a:cs typeface="Times New Roman"/>
                <a:sym typeface="Times New Roman"/>
              </a:rPr>
              <a:t> Hệ quản trị cơ sở dữ liệu qu relational — 29 bảng, 50+ API, hỗ trợ phân quyền và toàn vẹn dữ liệu.</a:t>
            </a:r>
          </a:p>
        </p:txBody>
      </p:sp>
      <p:sp>
        <p:nvSpPr>
          <p:cNvPr name="TextBox 22" id="22"/>
          <p:cNvSpPr txBox="true"/>
          <p:nvPr/>
        </p:nvSpPr>
        <p:spPr>
          <a:xfrm rot="0">
            <a:off x="14243822" y="4886750"/>
            <a:ext cx="3658790" cy="4570094"/>
          </a:xfrm>
          <a:prstGeom prst="rect">
            <a:avLst/>
          </a:prstGeom>
        </p:spPr>
        <p:txBody>
          <a:bodyPr anchor="t" rtlCol="false" tIns="0" lIns="0" bIns="0" rIns="0">
            <a:spAutoFit/>
          </a:bodyPr>
          <a:lstStyle/>
          <a:p>
            <a:pPr algn="just">
              <a:lnSpc>
                <a:spcPts val="5220"/>
              </a:lnSpc>
            </a:pPr>
            <a:r>
              <a:rPr lang="en-US" sz="2900">
                <a:solidFill>
                  <a:srgbClr val="FFFFFF"/>
                </a:solidFill>
                <a:latin typeface="Times New Roman"/>
                <a:ea typeface="Times New Roman"/>
                <a:cs typeface="Times New Roman"/>
                <a:sym typeface="Times New Roman"/>
              </a:rPr>
              <a:t>Google</a:t>
            </a:r>
            <a:r>
              <a:rPr lang="en-US" sz="2900">
                <a:solidFill>
                  <a:srgbClr val="FFFFFF"/>
                </a:solidFill>
                <a:latin typeface="Times New Roman"/>
                <a:ea typeface="Times New Roman"/>
                <a:cs typeface="Times New Roman"/>
                <a:sym typeface="Times New Roman"/>
              </a:rPr>
              <a:t> Gemini API Trí tuệ nhân tạo của Google  Function Calling hỗ trợ tạo task, phân rã subtask, chatbot AI Coach và tạo quiz từ ghi chú.</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24631" r="-124631" b="0"/>
            </a:stretch>
          </a:blipFill>
        </p:spPr>
      </p:sp>
      <p:grpSp>
        <p:nvGrpSpPr>
          <p:cNvPr name="Group 3" id="3"/>
          <p:cNvGrpSpPr/>
          <p:nvPr/>
        </p:nvGrpSpPr>
        <p:grpSpPr>
          <a:xfrm rot="0">
            <a:off x="1475539" y="2612224"/>
            <a:ext cx="4740961" cy="6646076"/>
            <a:chOff x="0" y="0"/>
            <a:chExt cx="531888" cy="745623"/>
          </a:xfrm>
        </p:grpSpPr>
        <p:sp>
          <p:nvSpPr>
            <p:cNvPr name="Freeform 4" id="4"/>
            <p:cNvSpPr/>
            <p:nvPr/>
          </p:nvSpPr>
          <p:spPr>
            <a:xfrm flipH="false" flipV="false" rot="0">
              <a:off x="0" y="0"/>
              <a:ext cx="531888" cy="745623"/>
            </a:xfrm>
            <a:custGeom>
              <a:avLst/>
              <a:gdLst/>
              <a:ahLst/>
              <a:cxnLst/>
              <a:rect r="r" b="b" t="t" l="l"/>
              <a:pathLst>
                <a:path h="745623" w="531888">
                  <a:moveTo>
                    <a:pt x="40825" y="0"/>
                  </a:moveTo>
                  <a:lnTo>
                    <a:pt x="491063" y="0"/>
                  </a:lnTo>
                  <a:cubicBezTo>
                    <a:pt x="501891" y="0"/>
                    <a:pt x="512275" y="4301"/>
                    <a:pt x="519931" y="11957"/>
                  </a:cubicBezTo>
                  <a:cubicBezTo>
                    <a:pt x="527587" y="19613"/>
                    <a:pt x="531888" y="29997"/>
                    <a:pt x="531888" y="40825"/>
                  </a:cubicBezTo>
                  <a:lnTo>
                    <a:pt x="531888" y="704798"/>
                  </a:lnTo>
                  <a:cubicBezTo>
                    <a:pt x="531888" y="727345"/>
                    <a:pt x="513610" y="745623"/>
                    <a:pt x="491063" y="745623"/>
                  </a:cubicBezTo>
                  <a:lnTo>
                    <a:pt x="40825" y="745623"/>
                  </a:lnTo>
                  <a:cubicBezTo>
                    <a:pt x="18278" y="745623"/>
                    <a:pt x="0" y="727345"/>
                    <a:pt x="0" y="704798"/>
                  </a:cubicBezTo>
                  <a:lnTo>
                    <a:pt x="0" y="40825"/>
                  </a:lnTo>
                  <a:cubicBezTo>
                    <a:pt x="0" y="18278"/>
                    <a:pt x="18278" y="0"/>
                    <a:pt x="40825" y="0"/>
                  </a:cubicBezTo>
                  <a:close/>
                </a:path>
              </a:pathLst>
            </a:custGeom>
            <a:gradFill rotWithShape="true">
              <a:gsLst>
                <a:gs pos="0">
                  <a:srgbClr val="31A1D4">
                    <a:alpha val="47000"/>
                  </a:srgbClr>
                </a:gs>
                <a:gs pos="100000">
                  <a:srgbClr val="035E8E">
                    <a:alpha val="0"/>
                  </a:srgbClr>
                </a:gs>
              </a:gsLst>
              <a:lin ang="2700000"/>
            </a:gradFill>
          </p:spPr>
        </p:sp>
        <p:sp>
          <p:nvSpPr>
            <p:cNvPr name="TextBox 5" id="5"/>
            <p:cNvSpPr txBox="true"/>
            <p:nvPr/>
          </p:nvSpPr>
          <p:spPr>
            <a:xfrm>
              <a:off x="0" y="-57150"/>
              <a:ext cx="531888" cy="802773"/>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6" id="6"/>
          <p:cNvSpPr txBox="true"/>
          <p:nvPr/>
        </p:nvSpPr>
        <p:spPr>
          <a:xfrm rot="0">
            <a:off x="6036314" y="336459"/>
            <a:ext cx="8644295" cy="1858750"/>
          </a:xfrm>
          <a:prstGeom prst="rect">
            <a:avLst/>
          </a:prstGeom>
        </p:spPr>
        <p:txBody>
          <a:bodyPr anchor="t" rtlCol="false" tIns="0" lIns="0" bIns="0" rIns="0">
            <a:spAutoFit/>
          </a:bodyPr>
          <a:lstStyle/>
          <a:p>
            <a:pPr algn="l">
              <a:lnSpc>
                <a:spcPts val="7331"/>
              </a:lnSpc>
            </a:pPr>
            <a:r>
              <a:rPr lang="en-US" sz="5236" b="true">
                <a:solidFill>
                  <a:srgbClr val="FFFFFF"/>
                </a:solidFill>
                <a:latin typeface="Times New Roman Bold"/>
                <a:ea typeface="Times New Roman Bold"/>
                <a:cs typeface="Times New Roman Bold"/>
                <a:sym typeface="Times New Roman Bold"/>
              </a:rPr>
              <a:t>MÔ TẢ THUẬT TOÁN</a:t>
            </a:r>
          </a:p>
          <a:p>
            <a:pPr algn="l">
              <a:lnSpc>
                <a:spcPts val="7331"/>
              </a:lnSpc>
              <a:spcBef>
                <a:spcPct val="0"/>
              </a:spcBef>
            </a:pPr>
          </a:p>
        </p:txBody>
      </p:sp>
      <p:sp>
        <p:nvSpPr>
          <p:cNvPr name="TextBox 7" id="7"/>
          <p:cNvSpPr txBox="true"/>
          <p:nvPr/>
        </p:nvSpPr>
        <p:spPr>
          <a:xfrm rot="0">
            <a:off x="2535017" y="1770060"/>
            <a:ext cx="2622005" cy="691556"/>
          </a:xfrm>
          <a:prstGeom prst="rect">
            <a:avLst/>
          </a:prstGeom>
        </p:spPr>
        <p:txBody>
          <a:bodyPr anchor="t" rtlCol="false" tIns="0" lIns="0" bIns="0" rIns="0">
            <a:spAutoFit/>
          </a:bodyPr>
          <a:lstStyle/>
          <a:p>
            <a:pPr algn="ctr">
              <a:lnSpc>
                <a:spcPts val="5457"/>
              </a:lnSpc>
              <a:spcBef>
                <a:spcPct val="0"/>
              </a:spcBef>
            </a:pPr>
            <a:r>
              <a:rPr lang="en-US" b="true" sz="3898">
                <a:solidFill>
                  <a:srgbClr val="FFFFFF"/>
                </a:solidFill>
                <a:latin typeface="Times New Roman Bold"/>
                <a:ea typeface="Times New Roman Bold"/>
                <a:cs typeface="Times New Roman Bold"/>
                <a:sym typeface="Times New Roman Bold"/>
              </a:rPr>
              <a:t>Bố</a:t>
            </a:r>
            <a:r>
              <a:rPr lang="en-US" b="true" sz="3898">
                <a:solidFill>
                  <a:srgbClr val="FFFFFF"/>
                </a:solidFill>
                <a:latin typeface="Times New Roman Bold"/>
                <a:ea typeface="Times New Roman Bold"/>
                <a:cs typeface="Times New Roman Bold"/>
                <a:sym typeface="Times New Roman Bold"/>
              </a:rPr>
              <a:t>i cảnh</a:t>
            </a:r>
          </a:p>
        </p:txBody>
      </p:sp>
      <p:sp>
        <p:nvSpPr>
          <p:cNvPr name="Freeform 8" id="8"/>
          <p:cNvSpPr/>
          <p:nvPr/>
        </p:nvSpPr>
        <p:spPr>
          <a:xfrm flipH="false" flipV="false" rot="0">
            <a:off x="12022503" y="-4924254"/>
            <a:ext cx="9438577" cy="6748583"/>
          </a:xfrm>
          <a:custGeom>
            <a:avLst/>
            <a:gdLst/>
            <a:ahLst/>
            <a:cxnLst/>
            <a:rect r="r" b="b" t="t" l="l"/>
            <a:pathLst>
              <a:path h="6748583" w="9438577">
                <a:moveTo>
                  <a:pt x="0" y="0"/>
                </a:moveTo>
                <a:lnTo>
                  <a:pt x="9438578" y="0"/>
                </a:lnTo>
                <a:lnTo>
                  <a:pt x="9438578" y="6748583"/>
                </a:lnTo>
                <a:lnTo>
                  <a:pt x="0" y="67485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16885087" y="-1481594"/>
            <a:ext cx="4155559" cy="3571183"/>
            <a:chOff x="0" y="0"/>
            <a:chExt cx="812800" cy="698500"/>
          </a:xfrm>
        </p:grpSpPr>
        <p:sp>
          <p:nvSpPr>
            <p:cNvPr name="Freeform 10" id="10"/>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11" id="11"/>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sp>
        <p:nvSpPr>
          <p:cNvPr name="TextBox 12" id="12"/>
          <p:cNvSpPr txBox="true"/>
          <p:nvPr/>
        </p:nvSpPr>
        <p:spPr>
          <a:xfrm rot="0">
            <a:off x="7390237" y="1803218"/>
            <a:ext cx="3833121" cy="691515"/>
          </a:xfrm>
          <a:prstGeom prst="rect">
            <a:avLst/>
          </a:prstGeom>
        </p:spPr>
        <p:txBody>
          <a:bodyPr anchor="t" rtlCol="false" tIns="0" lIns="0" bIns="0" rIns="0">
            <a:spAutoFit/>
          </a:bodyPr>
          <a:lstStyle/>
          <a:p>
            <a:pPr algn="ctr">
              <a:lnSpc>
                <a:spcPts val="5459"/>
              </a:lnSpc>
              <a:spcBef>
                <a:spcPct val="0"/>
              </a:spcBef>
            </a:pPr>
            <a:r>
              <a:rPr lang="en-US" b="true" sz="3900">
                <a:solidFill>
                  <a:srgbClr val="FFFFFF"/>
                </a:solidFill>
                <a:latin typeface="Times New Roman Bold"/>
                <a:ea typeface="Times New Roman Bold"/>
                <a:cs typeface="Times New Roman Bold"/>
                <a:sym typeface="Times New Roman Bold"/>
              </a:rPr>
              <a:t>Bà</a:t>
            </a:r>
            <a:r>
              <a:rPr lang="en-US" b="true" sz="3900">
                <a:solidFill>
                  <a:srgbClr val="FFFFFF"/>
                </a:solidFill>
                <a:latin typeface="Times New Roman Bold"/>
                <a:ea typeface="Times New Roman Bold"/>
                <a:cs typeface="Times New Roman Bold"/>
                <a:sym typeface="Times New Roman Bold"/>
              </a:rPr>
              <a:t>i toán đặt ra</a:t>
            </a:r>
          </a:p>
        </p:txBody>
      </p:sp>
      <p:sp>
        <p:nvSpPr>
          <p:cNvPr name="TextBox 13" id="13"/>
          <p:cNvSpPr txBox="true"/>
          <p:nvPr/>
        </p:nvSpPr>
        <p:spPr>
          <a:xfrm rot="0">
            <a:off x="12609792" y="1776234"/>
            <a:ext cx="4491012" cy="691515"/>
          </a:xfrm>
          <a:prstGeom prst="rect">
            <a:avLst/>
          </a:prstGeom>
        </p:spPr>
        <p:txBody>
          <a:bodyPr anchor="t" rtlCol="false" tIns="0" lIns="0" bIns="0" rIns="0">
            <a:spAutoFit/>
          </a:bodyPr>
          <a:lstStyle/>
          <a:p>
            <a:pPr algn="ctr">
              <a:lnSpc>
                <a:spcPts val="5459"/>
              </a:lnSpc>
              <a:spcBef>
                <a:spcPct val="0"/>
              </a:spcBef>
            </a:pPr>
            <a:r>
              <a:rPr lang="en-US" b="true" sz="3900">
                <a:solidFill>
                  <a:srgbClr val="FFFFFF"/>
                </a:solidFill>
                <a:latin typeface="Times New Roman Bold"/>
                <a:ea typeface="Times New Roman Bold"/>
                <a:cs typeface="Times New Roman Bold"/>
                <a:sym typeface="Times New Roman Bold"/>
              </a:rPr>
              <a:t>Mục t</a:t>
            </a:r>
            <a:r>
              <a:rPr lang="en-US" b="true" sz="3900">
                <a:solidFill>
                  <a:srgbClr val="FFFFFF"/>
                </a:solidFill>
                <a:latin typeface="Times New Roman Bold"/>
                <a:ea typeface="Times New Roman Bold"/>
                <a:cs typeface="Times New Roman Bold"/>
                <a:sym typeface="Times New Roman Bold"/>
              </a:rPr>
              <a:t>iêu giải quyết</a:t>
            </a:r>
          </a:p>
        </p:txBody>
      </p:sp>
      <p:sp>
        <p:nvSpPr>
          <p:cNvPr name="TextBox 14" id="14"/>
          <p:cNvSpPr txBox="true"/>
          <p:nvPr/>
        </p:nvSpPr>
        <p:spPr>
          <a:xfrm rot="0">
            <a:off x="1445635" y="2416965"/>
            <a:ext cx="4590679" cy="6350377"/>
          </a:xfrm>
          <a:prstGeom prst="rect">
            <a:avLst/>
          </a:prstGeom>
        </p:spPr>
        <p:txBody>
          <a:bodyPr anchor="t" rtlCol="false" tIns="0" lIns="0" bIns="0" rIns="0">
            <a:spAutoFit/>
          </a:bodyPr>
          <a:lstStyle/>
          <a:p>
            <a:pPr algn="l" marL="489435" indent="-244717" lvl="1">
              <a:lnSpc>
                <a:spcPts val="5667"/>
              </a:lnSpc>
              <a:buFont typeface="Arial"/>
              <a:buChar char="•"/>
            </a:pPr>
            <a:r>
              <a:rPr lang="en-US" sz="2266">
                <a:solidFill>
                  <a:srgbClr val="FFFFFF"/>
                </a:solidFill>
                <a:latin typeface="Times New Roman"/>
                <a:ea typeface="Times New Roman"/>
                <a:cs typeface="Times New Roman"/>
                <a:sym typeface="Times New Roman"/>
              </a:rPr>
              <a:t>Sin</a:t>
            </a:r>
            <a:r>
              <a:rPr lang="en-US" sz="2266">
                <a:solidFill>
                  <a:srgbClr val="FFFFFF"/>
                </a:solidFill>
                <a:latin typeface="Times New Roman"/>
                <a:ea typeface="Times New Roman"/>
                <a:cs typeface="Times New Roman"/>
                <a:sym typeface="Times New Roman"/>
              </a:rPr>
              <a:t>h viên hiện nay quản lý công việc trên nhiều nền tảng: Zalo, Email, Sổ tay, Google Calendar</a:t>
            </a:r>
          </a:p>
          <a:p>
            <a:pPr algn="l" marL="489435" indent="-244717" lvl="1">
              <a:lnSpc>
                <a:spcPts val="5667"/>
              </a:lnSpc>
              <a:buFont typeface="Arial"/>
              <a:buChar char="•"/>
            </a:pPr>
            <a:r>
              <a:rPr lang="en-US" sz="2266">
                <a:solidFill>
                  <a:srgbClr val="FFFFFF"/>
                </a:solidFill>
                <a:latin typeface="Times New Roman"/>
                <a:ea typeface="Times New Roman"/>
                <a:cs typeface="Times New Roman"/>
                <a:sym typeface="Times New Roman"/>
              </a:rPr>
              <a:t>Không có công cụ tổng hợp → dễ bỏ sót deadline, khó theo dõi tiến độ tổng thể</a:t>
            </a:r>
          </a:p>
          <a:p>
            <a:pPr algn="l" marL="489435" indent="-244717" lvl="1">
              <a:lnSpc>
                <a:spcPts val="5667"/>
              </a:lnSpc>
              <a:buFont typeface="Arial"/>
              <a:buChar char="•"/>
            </a:pPr>
            <a:r>
              <a:rPr lang="en-US" sz="2266">
                <a:solidFill>
                  <a:srgbClr val="FFFFFF"/>
                </a:solidFill>
                <a:latin typeface="Times New Roman"/>
                <a:ea typeface="Times New Roman"/>
                <a:cs typeface="Times New Roman"/>
                <a:sym typeface="Times New Roman"/>
              </a:rPr>
              <a:t>Các ứng dụng hiện có (Todoist, Notion, Trello) requiring phí hoặc không hỗ trợ tiếng Việt</a:t>
            </a:r>
          </a:p>
        </p:txBody>
      </p:sp>
      <p:grpSp>
        <p:nvGrpSpPr>
          <p:cNvPr name="Group 15" id="15"/>
          <p:cNvGrpSpPr/>
          <p:nvPr/>
        </p:nvGrpSpPr>
        <p:grpSpPr>
          <a:xfrm rot="0">
            <a:off x="6936317" y="2612183"/>
            <a:ext cx="4740961" cy="6646076"/>
            <a:chOff x="0" y="0"/>
            <a:chExt cx="531888" cy="745623"/>
          </a:xfrm>
        </p:grpSpPr>
        <p:sp>
          <p:nvSpPr>
            <p:cNvPr name="Freeform 16" id="16"/>
            <p:cNvSpPr/>
            <p:nvPr/>
          </p:nvSpPr>
          <p:spPr>
            <a:xfrm flipH="false" flipV="false" rot="0">
              <a:off x="0" y="0"/>
              <a:ext cx="531888" cy="745623"/>
            </a:xfrm>
            <a:custGeom>
              <a:avLst/>
              <a:gdLst/>
              <a:ahLst/>
              <a:cxnLst/>
              <a:rect r="r" b="b" t="t" l="l"/>
              <a:pathLst>
                <a:path h="745623" w="531888">
                  <a:moveTo>
                    <a:pt x="40825" y="0"/>
                  </a:moveTo>
                  <a:lnTo>
                    <a:pt x="491063" y="0"/>
                  </a:lnTo>
                  <a:cubicBezTo>
                    <a:pt x="501891" y="0"/>
                    <a:pt x="512275" y="4301"/>
                    <a:pt x="519931" y="11957"/>
                  </a:cubicBezTo>
                  <a:cubicBezTo>
                    <a:pt x="527587" y="19613"/>
                    <a:pt x="531888" y="29997"/>
                    <a:pt x="531888" y="40825"/>
                  </a:cubicBezTo>
                  <a:lnTo>
                    <a:pt x="531888" y="704798"/>
                  </a:lnTo>
                  <a:cubicBezTo>
                    <a:pt x="531888" y="727345"/>
                    <a:pt x="513610" y="745623"/>
                    <a:pt x="491063" y="745623"/>
                  </a:cubicBezTo>
                  <a:lnTo>
                    <a:pt x="40825" y="745623"/>
                  </a:lnTo>
                  <a:cubicBezTo>
                    <a:pt x="18278" y="745623"/>
                    <a:pt x="0" y="727345"/>
                    <a:pt x="0" y="704798"/>
                  </a:cubicBezTo>
                  <a:lnTo>
                    <a:pt x="0" y="40825"/>
                  </a:lnTo>
                  <a:cubicBezTo>
                    <a:pt x="0" y="18278"/>
                    <a:pt x="18278" y="0"/>
                    <a:pt x="40825" y="0"/>
                  </a:cubicBezTo>
                  <a:close/>
                </a:path>
              </a:pathLst>
            </a:custGeom>
            <a:gradFill rotWithShape="true">
              <a:gsLst>
                <a:gs pos="0">
                  <a:srgbClr val="31A1D4">
                    <a:alpha val="47000"/>
                  </a:srgbClr>
                </a:gs>
                <a:gs pos="100000">
                  <a:srgbClr val="035E8E">
                    <a:alpha val="0"/>
                  </a:srgbClr>
                </a:gs>
              </a:gsLst>
              <a:lin ang="2700000"/>
            </a:gradFill>
          </p:spPr>
        </p:sp>
        <p:sp>
          <p:nvSpPr>
            <p:cNvPr name="TextBox 17" id="17"/>
            <p:cNvSpPr txBox="true"/>
            <p:nvPr/>
          </p:nvSpPr>
          <p:spPr>
            <a:xfrm>
              <a:off x="0" y="-57150"/>
              <a:ext cx="531888" cy="802773"/>
            </a:xfrm>
            <a:prstGeom prst="rect">
              <a:avLst/>
            </a:prstGeom>
          </p:spPr>
          <p:txBody>
            <a:bodyPr anchor="ctr" rtlCol="false" tIns="50800" lIns="50800" bIns="50800" rIns="50800"/>
            <a:lstStyle/>
            <a:p>
              <a:pPr algn="ctr" marL="0" indent="0" lvl="0">
                <a:lnSpc>
                  <a:spcPts val="3357"/>
                </a:lnSpc>
                <a:spcBef>
                  <a:spcPct val="0"/>
                </a:spcBef>
              </a:pPr>
            </a:p>
          </p:txBody>
        </p:sp>
      </p:grpSp>
      <p:grpSp>
        <p:nvGrpSpPr>
          <p:cNvPr name="Group 18" id="18"/>
          <p:cNvGrpSpPr/>
          <p:nvPr/>
        </p:nvGrpSpPr>
        <p:grpSpPr>
          <a:xfrm rot="0">
            <a:off x="12484817" y="2612183"/>
            <a:ext cx="4740961" cy="6646076"/>
            <a:chOff x="0" y="0"/>
            <a:chExt cx="531888" cy="745623"/>
          </a:xfrm>
        </p:grpSpPr>
        <p:sp>
          <p:nvSpPr>
            <p:cNvPr name="Freeform 19" id="19"/>
            <p:cNvSpPr/>
            <p:nvPr/>
          </p:nvSpPr>
          <p:spPr>
            <a:xfrm flipH="false" flipV="false" rot="0">
              <a:off x="0" y="0"/>
              <a:ext cx="531888" cy="745623"/>
            </a:xfrm>
            <a:custGeom>
              <a:avLst/>
              <a:gdLst/>
              <a:ahLst/>
              <a:cxnLst/>
              <a:rect r="r" b="b" t="t" l="l"/>
              <a:pathLst>
                <a:path h="745623" w="531888">
                  <a:moveTo>
                    <a:pt x="40825" y="0"/>
                  </a:moveTo>
                  <a:lnTo>
                    <a:pt x="491063" y="0"/>
                  </a:lnTo>
                  <a:cubicBezTo>
                    <a:pt x="501891" y="0"/>
                    <a:pt x="512275" y="4301"/>
                    <a:pt x="519931" y="11957"/>
                  </a:cubicBezTo>
                  <a:cubicBezTo>
                    <a:pt x="527587" y="19613"/>
                    <a:pt x="531888" y="29997"/>
                    <a:pt x="531888" y="40825"/>
                  </a:cubicBezTo>
                  <a:lnTo>
                    <a:pt x="531888" y="704798"/>
                  </a:lnTo>
                  <a:cubicBezTo>
                    <a:pt x="531888" y="727345"/>
                    <a:pt x="513610" y="745623"/>
                    <a:pt x="491063" y="745623"/>
                  </a:cubicBezTo>
                  <a:lnTo>
                    <a:pt x="40825" y="745623"/>
                  </a:lnTo>
                  <a:cubicBezTo>
                    <a:pt x="18278" y="745623"/>
                    <a:pt x="0" y="727345"/>
                    <a:pt x="0" y="704798"/>
                  </a:cubicBezTo>
                  <a:lnTo>
                    <a:pt x="0" y="40825"/>
                  </a:lnTo>
                  <a:cubicBezTo>
                    <a:pt x="0" y="18278"/>
                    <a:pt x="18278" y="0"/>
                    <a:pt x="40825" y="0"/>
                  </a:cubicBezTo>
                  <a:close/>
                </a:path>
              </a:pathLst>
            </a:custGeom>
            <a:gradFill rotWithShape="true">
              <a:gsLst>
                <a:gs pos="0">
                  <a:srgbClr val="31A1D4">
                    <a:alpha val="47000"/>
                  </a:srgbClr>
                </a:gs>
                <a:gs pos="100000">
                  <a:srgbClr val="035E8E">
                    <a:alpha val="0"/>
                  </a:srgbClr>
                </a:gs>
              </a:gsLst>
              <a:lin ang="2700000"/>
            </a:gradFill>
          </p:spPr>
        </p:sp>
        <p:sp>
          <p:nvSpPr>
            <p:cNvPr name="TextBox 20" id="20"/>
            <p:cNvSpPr txBox="true"/>
            <p:nvPr/>
          </p:nvSpPr>
          <p:spPr>
            <a:xfrm>
              <a:off x="0" y="-57150"/>
              <a:ext cx="531888" cy="802773"/>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21" id="21"/>
          <p:cNvSpPr txBox="true"/>
          <p:nvPr/>
        </p:nvSpPr>
        <p:spPr>
          <a:xfrm rot="0">
            <a:off x="6846605" y="2612395"/>
            <a:ext cx="4740961" cy="6350377"/>
          </a:xfrm>
          <a:prstGeom prst="rect">
            <a:avLst/>
          </a:prstGeom>
        </p:spPr>
        <p:txBody>
          <a:bodyPr anchor="t" rtlCol="false" tIns="0" lIns="0" bIns="0" rIns="0">
            <a:spAutoFit/>
          </a:bodyPr>
          <a:lstStyle/>
          <a:p>
            <a:pPr algn="l" marL="489435" indent="-244717" lvl="1">
              <a:lnSpc>
                <a:spcPts val="5667"/>
              </a:lnSpc>
              <a:buFont typeface="Arial"/>
              <a:buChar char="•"/>
            </a:pPr>
            <a:r>
              <a:rPr lang="en-US" sz="2266">
                <a:solidFill>
                  <a:srgbClr val="FFFFFF"/>
                </a:solidFill>
                <a:latin typeface="Times New Roman"/>
                <a:ea typeface="Times New Roman"/>
                <a:cs typeface="Times New Roman"/>
                <a:sym typeface="Times New Roman"/>
              </a:rPr>
              <a:t>Thiết kế hệ thống quản lý công việc cá nhân trên nền tảng web — tích hợp đa chức năng</a:t>
            </a:r>
          </a:p>
          <a:p>
            <a:pPr algn="l" marL="489435" indent="-244717" lvl="1">
              <a:lnSpc>
                <a:spcPts val="5667"/>
              </a:lnSpc>
              <a:buFont typeface="Arial"/>
              <a:buChar char="•"/>
            </a:pPr>
            <a:r>
              <a:rPr lang="en-US" sz="2266">
                <a:solidFill>
                  <a:srgbClr val="FFFFFF"/>
                </a:solidFill>
                <a:latin typeface="Times New Roman"/>
                <a:ea typeface="Times New Roman"/>
                <a:cs typeface="Times New Roman"/>
                <a:sym typeface="Times New Roman"/>
              </a:rPr>
              <a:t>Tích hợp AI Google Gemini hỗ trợ </a:t>
            </a:r>
            <a:r>
              <a:rPr lang="en-US" sz="2266">
                <a:solidFill>
                  <a:srgbClr val="FFFFFF"/>
                </a:solidFill>
                <a:latin typeface="Times New Roman"/>
                <a:ea typeface="Times New Roman"/>
                <a:cs typeface="Times New Roman"/>
                <a:sym typeface="Times New Roman"/>
              </a:rPr>
              <a:t>người dùng bằng tiếng Việt: tạo task, phân rã subtask, chatbot cố vấn</a:t>
            </a:r>
          </a:p>
          <a:p>
            <a:pPr algn="l" marL="489435" indent="-244717" lvl="1">
              <a:lnSpc>
                <a:spcPts val="5667"/>
              </a:lnSpc>
              <a:buFont typeface="Arial"/>
              <a:buChar char="•"/>
            </a:pPr>
            <a:r>
              <a:rPr lang="en-US" sz="2266">
                <a:solidFill>
                  <a:srgbClr val="FFFFFF"/>
                </a:solidFill>
                <a:latin typeface="Times New Roman"/>
                <a:ea typeface="Times New Roman"/>
                <a:cs typeface="Times New Roman"/>
                <a:sym typeface="Times New Roman"/>
              </a:rPr>
              <a:t>Ứng dụng gamification tạo động lực: XP, Level, Badge, Streak, Leaderboard</a:t>
            </a:r>
          </a:p>
        </p:txBody>
      </p:sp>
      <p:sp>
        <p:nvSpPr>
          <p:cNvPr name="TextBox 22" id="22"/>
          <p:cNvSpPr txBox="true"/>
          <p:nvPr/>
        </p:nvSpPr>
        <p:spPr>
          <a:xfrm rot="0">
            <a:off x="12484817" y="2585412"/>
            <a:ext cx="4740961" cy="4921627"/>
          </a:xfrm>
          <a:prstGeom prst="rect">
            <a:avLst/>
          </a:prstGeom>
        </p:spPr>
        <p:txBody>
          <a:bodyPr anchor="t" rtlCol="false" tIns="0" lIns="0" bIns="0" rIns="0">
            <a:spAutoFit/>
          </a:bodyPr>
          <a:lstStyle/>
          <a:p>
            <a:pPr algn="l" marL="489435" indent="-244717" lvl="1">
              <a:lnSpc>
                <a:spcPts val="5667"/>
              </a:lnSpc>
              <a:buFont typeface="Arial"/>
              <a:buChar char="•"/>
            </a:pPr>
            <a:r>
              <a:rPr lang="en-US" sz="2266">
                <a:solidFill>
                  <a:srgbClr val="FFFFFF"/>
                </a:solidFill>
                <a:latin typeface="Times New Roman"/>
                <a:ea typeface="Times New Roman"/>
                <a:cs typeface="Times New Roman"/>
                <a:sym typeface="Times New Roman"/>
              </a:rPr>
              <a:t>Xây</a:t>
            </a:r>
            <a:r>
              <a:rPr lang="en-US" sz="2266">
                <a:solidFill>
                  <a:srgbClr val="FFFFFF"/>
                </a:solidFill>
                <a:latin typeface="Times New Roman"/>
                <a:ea typeface="Times New Roman"/>
                <a:cs typeface="Times New Roman"/>
                <a:sym typeface="Times New Roman"/>
              </a:rPr>
              <a:t> dựng trang web quản lý công việc — hiển thị đẹp trên máy tính, điện thoại và cài đặt trực t</a:t>
            </a:r>
            <a:r>
              <a:rPr lang="en-US" sz="2266">
                <a:solidFill>
                  <a:srgbClr val="FFFFFF"/>
                </a:solidFill>
                <a:latin typeface="Times New Roman"/>
                <a:ea typeface="Times New Roman"/>
                <a:cs typeface="Times New Roman"/>
                <a:sym typeface="Times New Roman"/>
              </a:rPr>
              <a:t>iếp trên Android</a:t>
            </a:r>
          </a:p>
          <a:p>
            <a:pPr algn="l" marL="489435" indent="-244717" lvl="1">
              <a:lnSpc>
                <a:spcPts val="5667"/>
              </a:lnSpc>
              <a:buFont typeface="Arial"/>
              <a:buChar char="•"/>
            </a:pPr>
            <a:r>
              <a:rPr lang="en-US" sz="2266">
                <a:solidFill>
                  <a:srgbClr val="FFFFFF"/>
                </a:solidFill>
                <a:latin typeface="Times New Roman"/>
                <a:ea typeface="Times New Roman"/>
                <a:cs typeface="Times New Roman"/>
                <a:sym typeface="Times New Roman"/>
              </a:rPr>
              <a:t> Tạo trang: Dashboard, Nhiệm vụ, Dự án, Lịch, Pomodoro, GPA, Ghi chú, OKR và nhiều trang khác</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24631" r="-124631" b="0"/>
            </a:stretch>
          </a:blipFill>
        </p:spPr>
      </p:sp>
      <p:sp>
        <p:nvSpPr>
          <p:cNvPr name="TextBox 3" id="3"/>
          <p:cNvSpPr txBox="true"/>
          <p:nvPr/>
        </p:nvSpPr>
        <p:spPr>
          <a:xfrm rot="0">
            <a:off x="5091193" y="292911"/>
            <a:ext cx="9119384" cy="1047354"/>
          </a:xfrm>
          <a:prstGeom prst="rect">
            <a:avLst/>
          </a:prstGeom>
        </p:spPr>
        <p:txBody>
          <a:bodyPr anchor="t" rtlCol="false" tIns="0" lIns="0" bIns="0" rIns="0">
            <a:spAutoFit/>
          </a:bodyPr>
          <a:lstStyle/>
          <a:p>
            <a:pPr algn="l">
              <a:lnSpc>
                <a:spcPts val="8240"/>
              </a:lnSpc>
              <a:spcBef>
                <a:spcPct val="0"/>
              </a:spcBef>
            </a:pPr>
            <a:r>
              <a:rPr lang="en-US" b="true" sz="5885">
                <a:solidFill>
                  <a:srgbClr val="FFFFFF"/>
                </a:solidFill>
                <a:latin typeface="Times New Roman Bold"/>
                <a:ea typeface="Times New Roman Bold"/>
                <a:cs typeface="Times New Roman Bold"/>
                <a:sym typeface="Times New Roman Bold"/>
              </a:rPr>
              <a:t> YÊU CẦU HỆ THỐNG</a:t>
            </a:r>
          </a:p>
        </p:txBody>
      </p:sp>
      <p:sp>
        <p:nvSpPr>
          <p:cNvPr name="AutoShape 4" id="4"/>
          <p:cNvSpPr/>
          <p:nvPr/>
        </p:nvSpPr>
        <p:spPr>
          <a:xfrm>
            <a:off x="849275" y="5237639"/>
            <a:ext cx="16230600" cy="0"/>
          </a:xfrm>
          <a:prstGeom prst="line">
            <a:avLst/>
          </a:prstGeom>
          <a:ln cap="flat" w="152400">
            <a:solidFill>
              <a:srgbClr val="8E93A9"/>
            </a:solidFill>
            <a:prstDash val="solid"/>
            <a:headEnd type="none" len="sm" w="sm"/>
            <a:tailEnd type="none" len="sm" w="sm"/>
          </a:ln>
        </p:spPr>
      </p:sp>
      <p:sp>
        <p:nvSpPr>
          <p:cNvPr name="Freeform 5" id="5"/>
          <p:cNvSpPr/>
          <p:nvPr/>
        </p:nvSpPr>
        <p:spPr>
          <a:xfrm flipH="false" flipV="false" rot="0">
            <a:off x="1386326" y="2512725"/>
            <a:ext cx="2190750" cy="2190750"/>
          </a:xfrm>
          <a:custGeom>
            <a:avLst/>
            <a:gdLst/>
            <a:ahLst/>
            <a:cxnLst/>
            <a:rect r="r" b="b" t="t" l="l"/>
            <a:pathLst>
              <a:path h="2190750" w="2190750">
                <a:moveTo>
                  <a:pt x="0" y="0"/>
                </a:moveTo>
                <a:lnTo>
                  <a:pt x="2190750" y="0"/>
                </a:lnTo>
                <a:lnTo>
                  <a:pt x="2190750" y="2190750"/>
                </a:lnTo>
                <a:lnTo>
                  <a:pt x="0" y="2190750"/>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6" id="6"/>
          <p:cNvGrpSpPr/>
          <p:nvPr/>
        </p:nvGrpSpPr>
        <p:grpSpPr>
          <a:xfrm rot="0">
            <a:off x="2178845" y="3456021"/>
            <a:ext cx="301556" cy="1707431"/>
            <a:chOff x="0" y="0"/>
            <a:chExt cx="79422" cy="449694"/>
          </a:xfrm>
        </p:grpSpPr>
        <p:sp>
          <p:nvSpPr>
            <p:cNvPr name="Freeform 7" id="7"/>
            <p:cNvSpPr/>
            <p:nvPr/>
          </p:nvSpPr>
          <p:spPr>
            <a:xfrm flipH="false" flipV="false" rot="0">
              <a:off x="0" y="0"/>
              <a:ext cx="79422" cy="449694"/>
            </a:xfrm>
            <a:custGeom>
              <a:avLst/>
              <a:gdLst/>
              <a:ahLst/>
              <a:cxnLst/>
              <a:rect r="r" b="b" t="t" l="l"/>
              <a:pathLst>
                <a:path h="449694" w="79422">
                  <a:moveTo>
                    <a:pt x="0" y="0"/>
                  </a:moveTo>
                  <a:lnTo>
                    <a:pt x="79422" y="0"/>
                  </a:lnTo>
                  <a:lnTo>
                    <a:pt x="79422" y="449694"/>
                  </a:lnTo>
                  <a:lnTo>
                    <a:pt x="0" y="449694"/>
                  </a:lnTo>
                  <a:close/>
                </a:path>
              </a:pathLst>
            </a:custGeom>
            <a:solidFill>
              <a:srgbClr val="3B3B1A"/>
            </a:solidFill>
          </p:spPr>
        </p:sp>
        <p:sp>
          <p:nvSpPr>
            <p:cNvPr name="TextBox 8" id="8"/>
            <p:cNvSpPr txBox="true"/>
            <p:nvPr/>
          </p:nvSpPr>
          <p:spPr>
            <a:xfrm>
              <a:off x="0" y="-9525"/>
              <a:ext cx="79422" cy="459219"/>
            </a:xfrm>
            <a:prstGeom prst="rect">
              <a:avLst/>
            </a:prstGeom>
          </p:spPr>
          <p:txBody>
            <a:bodyPr anchor="ctr" rtlCol="false" tIns="50800" lIns="50800" bIns="50800" rIns="50800"/>
            <a:lstStyle/>
            <a:p>
              <a:pPr algn="ctr">
                <a:lnSpc>
                  <a:spcPts val="2879"/>
                </a:lnSpc>
              </a:pPr>
            </a:p>
          </p:txBody>
        </p:sp>
      </p:grpSp>
      <p:grpSp>
        <p:nvGrpSpPr>
          <p:cNvPr name="Group 9" id="9"/>
          <p:cNvGrpSpPr/>
          <p:nvPr/>
        </p:nvGrpSpPr>
        <p:grpSpPr>
          <a:xfrm rot="0">
            <a:off x="1386326" y="2512725"/>
            <a:ext cx="1886593" cy="18865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3B1A"/>
            </a:solidFill>
            <a:ln cap="sq">
              <a:noFill/>
              <a:prstDash val="solid"/>
              <a:miter/>
            </a:ln>
          </p:spPr>
        </p:sp>
        <p:sp>
          <p:nvSpPr>
            <p:cNvPr name="TextBox 11" id="11"/>
            <p:cNvSpPr txBox="true"/>
            <p:nvPr/>
          </p:nvSpPr>
          <p:spPr>
            <a:xfrm>
              <a:off x="76200" y="28575"/>
              <a:ext cx="660400" cy="708025"/>
            </a:xfrm>
            <a:prstGeom prst="rect">
              <a:avLst/>
            </a:prstGeom>
          </p:spPr>
          <p:txBody>
            <a:bodyPr anchor="ctr" rtlCol="false" tIns="51456" lIns="51456" bIns="51456" rIns="51456"/>
            <a:lstStyle/>
            <a:p>
              <a:pPr algn="ctr">
                <a:lnSpc>
                  <a:spcPts val="2659"/>
                </a:lnSpc>
              </a:pPr>
            </a:p>
          </p:txBody>
        </p:sp>
      </p:grpSp>
      <p:grpSp>
        <p:nvGrpSpPr>
          <p:cNvPr name="Group 12" id="12"/>
          <p:cNvGrpSpPr/>
          <p:nvPr/>
        </p:nvGrpSpPr>
        <p:grpSpPr>
          <a:xfrm rot="-5400000">
            <a:off x="1624450" y="2750849"/>
            <a:ext cx="1410346" cy="141034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14" id="14"/>
            <p:cNvSpPr txBox="true"/>
            <p:nvPr/>
          </p:nvSpPr>
          <p:spPr>
            <a:xfrm>
              <a:off x="76200" y="47625"/>
              <a:ext cx="660400" cy="688975"/>
            </a:xfrm>
            <a:prstGeom prst="rect">
              <a:avLst/>
            </a:prstGeom>
          </p:spPr>
          <p:txBody>
            <a:bodyPr anchor="ctr" rtlCol="false" tIns="45781" lIns="45781" bIns="45781" rIns="45781"/>
            <a:lstStyle/>
            <a:p>
              <a:pPr algn="ctr">
                <a:lnSpc>
                  <a:spcPts val="1743"/>
                </a:lnSpc>
              </a:pPr>
            </a:p>
          </p:txBody>
        </p:sp>
      </p:grpSp>
      <p:grpSp>
        <p:nvGrpSpPr>
          <p:cNvPr name="Group 15" id="15"/>
          <p:cNvGrpSpPr/>
          <p:nvPr/>
        </p:nvGrpSpPr>
        <p:grpSpPr>
          <a:xfrm rot="0">
            <a:off x="2028067" y="5550475"/>
            <a:ext cx="603111" cy="422077"/>
            <a:chOff x="0" y="0"/>
            <a:chExt cx="812800" cy="568824"/>
          </a:xfrm>
        </p:grpSpPr>
        <p:sp>
          <p:nvSpPr>
            <p:cNvPr name="Freeform 16" id="16"/>
            <p:cNvSpPr/>
            <p:nvPr/>
          </p:nvSpPr>
          <p:spPr>
            <a:xfrm flipH="false" flipV="false" rot="0">
              <a:off x="0" y="0"/>
              <a:ext cx="812800" cy="568824"/>
            </a:xfrm>
            <a:custGeom>
              <a:avLst/>
              <a:gdLst/>
              <a:ahLst/>
              <a:cxnLst/>
              <a:rect r="r" b="b" t="t" l="l"/>
              <a:pathLst>
                <a:path h="568824" w="812800">
                  <a:moveTo>
                    <a:pt x="406400" y="568824"/>
                  </a:moveTo>
                  <a:lnTo>
                    <a:pt x="812800" y="0"/>
                  </a:lnTo>
                  <a:lnTo>
                    <a:pt x="0" y="0"/>
                  </a:lnTo>
                  <a:lnTo>
                    <a:pt x="406400" y="568824"/>
                  </a:lnTo>
                  <a:close/>
                </a:path>
              </a:pathLst>
            </a:custGeom>
            <a:solidFill>
              <a:srgbClr val="3B3B1A"/>
            </a:solidFill>
          </p:spPr>
        </p:sp>
        <p:sp>
          <p:nvSpPr>
            <p:cNvPr name="TextBox 17" id="17"/>
            <p:cNvSpPr txBox="true"/>
            <p:nvPr/>
          </p:nvSpPr>
          <p:spPr>
            <a:xfrm>
              <a:off x="127000" y="31105"/>
              <a:ext cx="558800" cy="273622"/>
            </a:xfrm>
            <a:prstGeom prst="rect">
              <a:avLst/>
            </a:prstGeom>
          </p:spPr>
          <p:txBody>
            <a:bodyPr anchor="ctr" rtlCol="false" tIns="50800" lIns="50800" bIns="50800" rIns="50800"/>
            <a:lstStyle/>
            <a:p>
              <a:pPr algn="ctr">
                <a:lnSpc>
                  <a:spcPts val="2879"/>
                </a:lnSpc>
              </a:pPr>
            </a:p>
          </p:txBody>
        </p:sp>
      </p:grpSp>
      <p:grpSp>
        <p:nvGrpSpPr>
          <p:cNvPr name="Group 18" id="18"/>
          <p:cNvGrpSpPr/>
          <p:nvPr/>
        </p:nvGrpSpPr>
        <p:grpSpPr>
          <a:xfrm rot="0">
            <a:off x="7486807" y="3456021"/>
            <a:ext cx="301556" cy="1707431"/>
            <a:chOff x="0" y="0"/>
            <a:chExt cx="79422" cy="449694"/>
          </a:xfrm>
        </p:grpSpPr>
        <p:sp>
          <p:nvSpPr>
            <p:cNvPr name="Freeform 19" id="19"/>
            <p:cNvSpPr/>
            <p:nvPr/>
          </p:nvSpPr>
          <p:spPr>
            <a:xfrm flipH="false" flipV="false" rot="0">
              <a:off x="0" y="0"/>
              <a:ext cx="79422" cy="449694"/>
            </a:xfrm>
            <a:custGeom>
              <a:avLst/>
              <a:gdLst/>
              <a:ahLst/>
              <a:cxnLst/>
              <a:rect r="r" b="b" t="t" l="l"/>
              <a:pathLst>
                <a:path h="449694" w="79422">
                  <a:moveTo>
                    <a:pt x="0" y="0"/>
                  </a:moveTo>
                  <a:lnTo>
                    <a:pt x="79422" y="0"/>
                  </a:lnTo>
                  <a:lnTo>
                    <a:pt x="79422" y="449694"/>
                  </a:lnTo>
                  <a:lnTo>
                    <a:pt x="0" y="449694"/>
                  </a:lnTo>
                  <a:close/>
                </a:path>
              </a:pathLst>
            </a:custGeom>
            <a:solidFill>
              <a:srgbClr val="AEC8A4"/>
            </a:solidFill>
          </p:spPr>
        </p:sp>
        <p:sp>
          <p:nvSpPr>
            <p:cNvPr name="TextBox 20" id="20"/>
            <p:cNvSpPr txBox="true"/>
            <p:nvPr/>
          </p:nvSpPr>
          <p:spPr>
            <a:xfrm>
              <a:off x="0" y="-9525"/>
              <a:ext cx="79422" cy="459219"/>
            </a:xfrm>
            <a:prstGeom prst="rect">
              <a:avLst/>
            </a:prstGeom>
          </p:spPr>
          <p:txBody>
            <a:bodyPr anchor="ctr" rtlCol="false" tIns="50800" lIns="50800" bIns="50800" rIns="50800"/>
            <a:lstStyle/>
            <a:p>
              <a:pPr algn="ctr">
                <a:lnSpc>
                  <a:spcPts val="2879"/>
                </a:lnSpc>
              </a:pPr>
            </a:p>
          </p:txBody>
        </p:sp>
      </p:grpSp>
      <p:sp>
        <p:nvSpPr>
          <p:cNvPr name="Freeform 21" id="21"/>
          <p:cNvSpPr/>
          <p:nvPr/>
        </p:nvSpPr>
        <p:spPr>
          <a:xfrm flipH="false" flipV="false" rot="0">
            <a:off x="6694288" y="2512725"/>
            <a:ext cx="2190750" cy="2190750"/>
          </a:xfrm>
          <a:custGeom>
            <a:avLst/>
            <a:gdLst/>
            <a:ahLst/>
            <a:cxnLst/>
            <a:rect r="r" b="b" t="t" l="l"/>
            <a:pathLst>
              <a:path h="2190750" w="2190750">
                <a:moveTo>
                  <a:pt x="0" y="0"/>
                </a:moveTo>
                <a:lnTo>
                  <a:pt x="2190750" y="0"/>
                </a:lnTo>
                <a:lnTo>
                  <a:pt x="2190750" y="2190750"/>
                </a:lnTo>
                <a:lnTo>
                  <a:pt x="0" y="2190750"/>
                </a:lnTo>
                <a:lnTo>
                  <a:pt x="0" y="0"/>
                </a:lnTo>
                <a:close/>
              </a:path>
            </a:pathLst>
          </a:custGeom>
          <a:blipFill>
            <a:blip r:embed="rId3">
              <a:alphaModFix amt="30000"/>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22" id="22"/>
          <p:cNvGrpSpPr/>
          <p:nvPr/>
        </p:nvGrpSpPr>
        <p:grpSpPr>
          <a:xfrm rot="0">
            <a:off x="6694288" y="2512725"/>
            <a:ext cx="1886593" cy="188659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EC8A4"/>
            </a:solidFill>
            <a:ln cap="sq">
              <a:noFill/>
              <a:prstDash val="solid"/>
              <a:miter/>
            </a:ln>
          </p:spPr>
        </p:sp>
        <p:sp>
          <p:nvSpPr>
            <p:cNvPr name="TextBox 24" id="24"/>
            <p:cNvSpPr txBox="true"/>
            <p:nvPr/>
          </p:nvSpPr>
          <p:spPr>
            <a:xfrm>
              <a:off x="76200" y="28575"/>
              <a:ext cx="660400" cy="708025"/>
            </a:xfrm>
            <a:prstGeom prst="rect">
              <a:avLst/>
            </a:prstGeom>
          </p:spPr>
          <p:txBody>
            <a:bodyPr anchor="ctr" rtlCol="false" tIns="51456" lIns="51456" bIns="51456" rIns="51456"/>
            <a:lstStyle/>
            <a:p>
              <a:pPr algn="ctr">
                <a:lnSpc>
                  <a:spcPts val="2659"/>
                </a:lnSpc>
              </a:pPr>
            </a:p>
          </p:txBody>
        </p:sp>
      </p:grpSp>
      <p:grpSp>
        <p:nvGrpSpPr>
          <p:cNvPr name="Group 25" id="25"/>
          <p:cNvGrpSpPr/>
          <p:nvPr/>
        </p:nvGrpSpPr>
        <p:grpSpPr>
          <a:xfrm rot="-5400000">
            <a:off x="6932412" y="2750849"/>
            <a:ext cx="1410346" cy="1410346"/>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27" id="27"/>
            <p:cNvSpPr txBox="true"/>
            <p:nvPr/>
          </p:nvSpPr>
          <p:spPr>
            <a:xfrm>
              <a:off x="76200" y="47625"/>
              <a:ext cx="660400" cy="688975"/>
            </a:xfrm>
            <a:prstGeom prst="rect">
              <a:avLst/>
            </a:prstGeom>
          </p:spPr>
          <p:txBody>
            <a:bodyPr anchor="ctr" rtlCol="false" tIns="45781" lIns="45781" bIns="45781" rIns="45781"/>
            <a:lstStyle/>
            <a:p>
              <a:pPr algn="ctr">
                <a:lnSpc>
                  <a:spcPts val="1743"/>
                </a:lnSpc>
              </a:pPr>
            </a:p>
          </p:txBody>
        </p:sp>
      </p:grpSp>
      <p:grpSp>
        <p:nvGrpSpPr>
          <p:cNvPr name="Group 28" id="28"/>
          <p:cNvGrpSpPr/>
          <p:nvPr/>
        </p:nvGrpSpPr>
        <p:grpSpPr>
          <a:xfrm rot="0">
            <a:off x="7336029" y="5550475"/>
            <a:ext cx="603111" cy="422077"/>
            <a:chOff x="0" y="0"/>
            <a:chExt cx="812800" cy="568824"/>
          </a:xfrm>
        </p:grpSpPr>
        <p:sp>
          <p:nvSpPr>
            <p:cNvPr name="Freeform 29" id="29"/>
            <p:cNvSpPr/>
            <p:nvPr/>
          </p:nvSpPr>
          <p:spPr>
            <a:xfrm flipH="false" flipV="false" rot="0">
              <a:off x="0" y="0"/>
              <a:ext cx="812800" cy="568824"/>
            </a:xfrm>
            <a:custGeom>
              <a:avLst/>
              <a:gdLst/>
              <a:ahLst/>
              <a:cxnLst/>
              <a:rect r="r" b="b" t="t" l="l"/>
              <a:pathLst>
                <a:path h="568824" w="812800">
                  <a:moveTo>
                    <a:pt x="406400" y="568824"/>
                  </a:moveTo>
                  <a:lnTo>
                    <a:pt x="812800" y="0"/>
                  </a:lnTo>
                  <a:lnTo>
                    <a:pt x="0" y="0"/>
                  </a:lnTo>
                  <a:lnTo>
                    <a:pt x="406400" y="568824"/>
                  </a:lnTo>
                  <a:close/>
                </a:path>
              </a:pathLst>
            </a:custGeom>
            <a:solidFill>
              <a:srgbClr val="AEC8A4"/>
            </a:solidFill>
          </p:spPr>
        </p:sp>
        <p:sp>
          <p:nvSpPr>
            <p:cNvPr name="TextBox 30" id="30"/>
            <p:cNvSpPr txBox="true"/>
            <p:nvPr/>
          </p:nvSpPr>
          <p:spPr>
            <a:xfrm>
              <a:off x="127000" y="31105"/>
              <a:ext cx="558800" cy="273622"/>
            </a:xfrm>
            <a:prstGeom prst="rect">
              <a:avLst/>
            </a:prstGeom>
          </p:spPr>
          <p:txBody>
            <a:bodyPr anchor="ctr" rtlCol="false" tIns="50800" lIns="50800" bIns="50800" rIns="50800"/>
            <a:lstStyle/>
            <a:p>
              <a:pPr algn="ctr">
                <a:lnSpc>
                  <a:spcPts val="2879"/>
                </a:lnSpc>
              </a:pPr>
            </a:p>
          </p:txBody>
        </p:sp>
      </p:grpSp>
      <p:grpSp>
        <p:nvGrpSpPr>
          <p:cNvPr name="Group 31" id="31"/>
          <p:cNvGrpSpPr/>
          <p:nvPr/>
        </p:nvGrpSpPr>
        <p:grpSpPr>
          <a:xfrm rot="0">
            <a:off x="12794769" y="3456021"/>
            <a:ext cx="301556" cy="1707431"/>
            <a:chOff x="0" y="0"/>
            <a:chExt cx="79422" cy="449694"/>
          </a:xfrm>
        </p:grpSpPr>
        <p:sp>
          <p:nvSpPr>
            <p:cNvPr name="Freeform 32" id="32"/>
            <p:cNvSpPr/>
            <p:nvPr/>
          </p:nvSpPr>
          <p:spPr>
            <a:xfrm flipH="false" flipV="false" rot="0">
              <a:off x="0" y="0"/>
              <a:ext cx="79422" cy="449694"/>
            </a:xfrm>
            <a:custGeom>
              <a:avLst/>
              <a:gdLst/>
              <a:ahLst/>
              <a:cxnLst/>
              <a:rect r="r" b="b" t="t" l="l"/>
              <a:pathLst>
                <a:path h="449694" w="79422">
                  <a:moveTo>
                    <a:pt x="0" y="0"/>
                  </a:moveTo>
                  <a:lnTo>
                    <a:pt x="79422" y="0"/>
                  </a:lnTo>
                  <a:lnTo>
                    <a:pt x="79422" y="449694"/>
                  </a:lnTo>
                  <a:lnTo>
                    <a:pt x="0" y="449694"/>
                  </a:lnTo>
                  <a:close/>
                </a:path>
              </a:pathLst>
            </a:custGeom>
            <a:solidFill>
              <a:srgbClr val="98A1BC"/>
            </a:solidFill>
          </p:spPr>
        </p:sp>
        <p:sp>
          <p:nvSpPr>
            <p:cNvPr name="TextBox 33" id="33"/>
            <p:cNvSpPr txBox="true"/>
            <p:nvPr/>
          </p:nvSpPr>
          <p:spPr>
            <a:xfrm>
              <a:off x="0" y="-9525"/>
              <a:ext cx="79422" cy="459219"/>
            </a:xfrm>
            <a:prstGeom prst="rect">
              <a:avLst/>
            </a:prstGeom>
          </p:spPr>
          <p:txBody>
            <a:bodyPr anchor="ctr" rtlCol="false" tIns="50800" lIns="50800" bIns="50800" rIns="50800"/>
            <a:lstStyle/>
            <a:p>
              <a:pPr algn="ctr">
                <a:lnSpc>
                  <a:spcPts val="2879"/>
                </a:lnSpc>
              </a:pPr>
            </a:p>
          </p:txBody>
        </p:sp>
      </p:grpSp>
      <p:sp>
        <p:nvSpPr>
          <p:cNvPr name="Freeform 34" id="34"/>
          <p:cNvSpPr/>
          <p:nvPr/>
        </p:nvSpPr>
        <p:spPr>
          <a:xfrm flipH="false" flipV="false" rot="0">
            <a:off x="12002251" y="2512725"/>
            <a:ext cx="2190750" cy="2190750"/>
          </a:xfrm>
          <a:custGeom>
            <a:avLst/>
            <a:gdLst/>
            <a:ahLst/>
            <a:cxnLst/>
            <a:rect r="r" b="b" t="t" l="l"/>
            <a:pathLst>
              <a:path h="2190750" w="2190750">
                <a:moveTo>
                  <a:pt x="0" y="0"/>
                </a:moveTo>
                <a:lnTo>
                  <a:pt x="2190750" y="0"/>
                </a:lnTo>
                <a:lnTo>
                  <a:pt x="2190750" y="2190750"/>
                </a:lnTo>
                <a:lnTo>
                  <a:pt x="0" y="2190750"/>
                </a:lnTo>
                <a:lnTo>
                  <a:pt x="0" y="0"/>
                </a:lnTo>
                <a:close/>
              </a:path>
            </a:pathLst>
          </a:custGeom>
          <a:blipFill>
            <a:blip r:embed="rId3">
              <a:alphaModFix amt="30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35" id="35"/>
          <p:cNvGrpSpPr/>
          <p:nvPr/>
        </p:nvGrpSpPr>
        <p:grpSpPr>
          <a:xfrm rot="0">
            <a:off x="12002251" y="2512725"/>
            <a:ext cx="1886593" cy="1886593"/>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8A1BC"/>
            </a:solidFill>
            <a:ln cap="sq">
              <a:noFill/>
              <a:prstDash val="solid"/>
              <a:miter/>
            </a:ln>
          </p:spPr>
        </p:sp>
        <p:sp>
          <p:nvSpPr>
            <p:cNvPr name="TextBox 37" id="37"/>
            <p:cNvSpPr txBox="true"/>
            <p:nvPr/>
          </p:nvSpPr>
          <p:spPr>
            <a:xfrm>
              <a:off x="76200" y="28575"/>
              <a:ext cx="660400" cy="708025"/>
            </a:xfrm>
            <a:prstGeom prst="rect">
              <a:avLst/>
            </a:prstGeom>
          </p:spPr>
          <p:txBody>
            <a:bodyPr anchor="ctr" rtlCol="false" tIns="51456" lIns="51456" bIns="51456" rIns="51456"/>
            <a:lstStyle/>
            <a:p>
              <a:pPr algn="ctr">
                <a:lnSpc>
                  <a:spcPts val="2659"/>
                </a:lnSpc>
              </a:pPr>
            </a:p>
          </p:txBody>
        </p:sp>
      </p:grpSp>
      <p:grpSp>
        <p:nvGrpSpPr>
          <p:cNvPr name="Group 38" id="38"/>
          <p:cNvGrpSpPr/>
          <p:nvPr/>
        </p:nvGrpSpPr>
        <p:grpSpPr>
          <a:xfrm rot="-5400000">
            <a:off x="12240374" y="2750849"/>
            <a:ext cx="1410346" cy="1410346"/>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40" id="40"/>
            <p:cNvSpPr txBox="true"/>
            <p:nvPr/>
          </p:nvSpPr>
          <p:spPr>
            <a:xfrm>
              <a:off x="76200" y="47625"/>
              <a:ext cx="660400" cy="688975"/>
            </a:xfrm>
            <a:prstGeom prst="rect">
              <a:avLst/>
            </a:prstGeom>
          </p:spPr>
          <p:txBody>
            <a:bodyPr anchor="ctr" rtlCol="false" tIns="45781" lIns="45781" bIns="45781" rIns="45781"/>
            <a:lstStyle/>
            <a:p>
              <a:pPr algn="ctr">
                <a:lnSpc>
                  <a:spcPts val="1743"/>
                </a:lnSpc>
              </a:pPr>
            </a:p>
          </p:txBody>
        </p:sp>
      </p:grpSp>
      <p:grpSp>
        <p:nvGrpSpPr>
          <p:cNvPr name="Group 41" id="41"/>
          <p:cNvGrpSpPr/>
          <p:nvPr/>
        </p:nvGrpSpPr>
        <p:grpSpPr>
          <a:xfrm rot="0">
            <a:off x="12643991" y="5550475"/>
            <a:ext cx="603111" cy="422077"/>
            <a:chOff x="0" y="0"/>
            <a:chExt cx="812800" cy="568824"/>
          </a:xfrm>
        </p:grpSpPr>
        <p:sp>
          <p:nvSpPr>
            <p:cNvPr name="Freeform 42" id="42"/>
            <p:cNvSpPr/>
            <p:nvPr/>
          </p:nvSpPr>
          <p:spPr>
            <a:xfrm flipH="false" flipV="false" rot="0">
              <a:off x="0" y="0"/>
              <a:ext cx="812800" cy="568824"/>
            </a:xfrm>
            <a:custGeom>
              <a:avLst/>
              <a:gdLst/>
              <a:ahLst/>
              <a:cxnLst/>
              <a:rect r="r" b="b" t="t" l="l"/>
              <a:pathLst>
                <a:path h="568824" w="812800">
                  <a:moveTo>
                    <a:pt x="406400" y="568824"/>
                  </a:moveTo>
                  <a:lnTo>
                    <a:pt x="812800" y="0"/>
                  </a:lnTo>
                  <a:lnTo>
                    <a:pt x="0" y="0"/>
                  </a:lnTo>
                  <a:lnTo>
                    <a:pt x="406400" y="568824"/>
                  </a:lnTo>
                  <a:close/>
                </a:path>
              </a:pathLst>
            </a:custGeom>
            <a:solidFill>
              <a:srgbClr val="98A1BC"/>
            </a:solidFill>
          </p:spPr>
        </p:sp>
        <p:sp>
          <p:nvSpPr>
            <p:cNvPr name="TextBox 43" id="43"/>
            <p:cNvSpPr txBox="true"/>
            <p:nvPr/>
          </p:nvSpPr>
          <p:spPr>
            <a:xfrm>
              <a:off x="127000" y="31105"/>
              <a:ext cx="558800" cy="273622"/>
            </a:xfrm>
            <a:prstGeom prst="rect">
              <a:avLst/>
            </a:prstGeom>
          </p:spPr>
          <p:txBody>
            <a:bodyPr anchor="ctr" rtlCol="false" tIns="50800" lIns="50800" bIns="50800" rIns="50800"/>
            <a:lstStyle/>
            <a:p>
              <a:pPr algn="ctr">
                <a:lnSpc>
                  <a:spcPts val="2879"/>
                </a:lnSpc>
              </a:pPr>
            </a:p>
          </p:txBody>
        </p:sp>
      </p:grpSp>
      <p:sp>
        <p:nvSpPr>
          <p:cNvPr name="Freeform 44" id="44"/>
          <p:cNvSpPr/>
          <p:nvPr/>
        </p:nvSpPr>
        <p:spPr>
          <a:xfrm flipH="false" flipV="false" rot="0">
            <a:off x="4040307" y="6074966"/>
            <a:ext cx="2190750" cy="2190750"/>
          </a:xfrm>
          <a:custGeom>
            <a:avLst/>
            <a:gdLst/>
            <a:ahLst/>
            <a:cxnLst/>
            <a:rect r="r" b="b" t="t" l="l"/>
            <a:pathLst>
              <a:path h="2190750" w="2190750">
                <a:moveTo>
                  <a:pt x="0" y="0"/>
                </a:moveTo>
                <a:lnTo>
                  <a:pt x="2190750" y="0"/>
                </a:lnTo>
                <a:lnTo>
                  <a:pt x="2190750" y="2190750"/>
                </a:lnTo>
                <a:lnTo>
                  <a:pt x="0" y="2190750"/>
                </a:lnTo>
                <a:lnTo>
                  <a:pt x="0" y="0"/>
                </a:lnTo>
                <a:close/>
              </a:path>
            </a:pathLst>
          </a:custGeom>
          <a:blipFill>
            <a:blip r:embed="rId3">
              <a:alphaModFix amt="30000"/>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45" id="45"/>
          <p:cNvGrpSpPr/>
          <p:nvPr/>
        </p:nvGrpSpPr>
        <p:grpSpPr>
          <a:xfrm rot="-10800000">
            <a:off x="4832826" y="5310832"/>
            <a:ext cx="301556" cy="1707431"/>
            <a:chOff x="0" y="0"/>
            <a:chExt cx="79422" cy="449694"/>
          </a:xfrm>
        </p:grpSpPr>
        <p:sp>
          <p:nvSpPr>
            <p:cNvPr name="Freeform 46" id="46"/>
            <p:cNvSpPr/>
            <p:nvPr/>
          </p:nvSpPr>
          <p:spPr>
            <a:xfrm flipH="false" flipV="false" rot="0">
              <a:off x="0" y="0"/>
              <a:ext cx="79422" cy="449694"/>
            </a:xfrm>
            <a:custGeom>
              <a:avLst/>
              <a:gdLst/>
              <a:ahLst/>
              <a:cxnLst/>
              <a:rect r="r" b="b" t="t" l="l"/>
              <a:pathLst>
                <a:path h="449694" w="79422">
                  <a:moveTo>
                    <a:pt x="0" y="0"/>
                  </a:moveTo>
                  <a:lnTo>
                    <a:pt x="79422" y="0"/>
                  </a:lnTo>
                  <a:lnTo>
                    <a:pt x="79422" y="449694"/>
                  </a:lnTo>
                  <a:lnTo>
                    <a:pt x="0" y="449694"/>
                  </a:lnTo>
                  <a:close/>
                </a:path>
              </a:pathLst>
            </a:custGeom>
            <a:solidFill>
              <a:srgbClr val="8A784E"/>
            </a:solidFill>
          </p:spPr>
        </p:sp>
        <p:sp>
          <p:nvSpPr>
            <p:cNvPr name="TextBox 47" id="47"/>
            <p:cNvSpPr txBox="true"/>
            <p:nvPr/>
          </p:nvSpPr>
          <p:spPr>
            <a:xfrm>
              <a:off x="0" y="-9525"/>
              <a:ext cx="79422" cy="459219"/>
            </a:xfrm>
            <a:prstGeom prst="rect">
              <a:avLst/>
            </a:prstGeom>
          </p:spPr>
          <p:txBody>
            <a:bodyPr anchor="ctr" rtlCol="false" tIns="50800" lIns="50800" bIns="50800" rIns="50800"/>
            <a:lstStyle/>
            <a:p>
              <a:pPr algn="ctr">
                <a:lnSpc>
                  <a:spcPts val="2879"/>
                </a:lnSpc>
              </a:pPr>
            </a:p>
          </p:txBody>
        </p:sp>
      </p:grpSp>
      <p:grpSp>
        <p:nvGrpSpPr>
          <p:cNvPr name="Group 48" id="48"/>
          <p:cNvGrpSpPr/>
          <p:nvPr/>
        </p:nvGrpSpPr>
        <p:grpSpPr>
          <a:xfrm rot="-10800000">
            <a:off x="4040307" y="6074966"/>
            <a:ext cx="1886593" cy="1886593"/>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784E"/>
            </a:solidFill>
            <a:ln cap="sq">
              <a:noFill/>
              <a:prstDash val="solid"/>
              <a:miter/>
            </a:ln>
          </p:spPr>
        </p:sp>
        <p:sp>
          <p:nvSpPr>
            <p:cNvPr name="TextBox 50" id="50"/>
            <p:cNvSpPr txBox="true"/>
            <p:nvPr/>
          </p:nvSpPr>
          <p:spPr>
            <a:xfrm>
              <a:off x="76200" y="28575"/>
              <a:ext cx="660400" cy="708025"/>
            </a:xfrm>
            <a:prstGeom prst="rect">
              <a:avLst/>
            </a:prstGeom>
          </p:spPr>
          <p:txBody>
            <a:bodyPr anchor="ctr" rtlCol="false" tIns="51456" lIns="51456" bIns="51456" rIns="51456"/>
            <a:lstStyle/>
            <a:p>
              <a:pPr algn="ctr">
                <a:lnSpc>
                  <a:spcPts val="2659"/>
                </a:lnSpc>
              </a:pPr>
            </a:p>
          </p:txBody>
        </p:sp>
      </p:grpSp>
      <p:grpSp>
        <p:nvGrpSpPr>
          <p:cNvPr name="Group 51" id="51"/>
          <p:cNvGrpSpPr/>
          <p:nvPr/>
        </p:nvGrpSpPr>
        <p:grpSpPr>
          <a:xfrm rot="5400000">
            <a:off x="4278431" y="6313090"/>
            <a:ext cx="1410346" cy="1410346"/>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53" id="53"/>
            <p:cNvSpPr txBox="true"/>
            <p:nvPr/>
          </p:nvSpPr>
          <p:spPr>
            <a:xfrm>
              <a:off x="76200" y="47625"/>
              <a:ext cx="660400" cy="688975"/>
            </a:xfrm>
            <a:prstGeom prst="rect">
              <a:avLst/>
            </a:prstGeom>
          </p:spPr>
          <p:txBody>
            <a:bodyPr anchor="ctr" rtlCol="false" tIns="45781" lIns="45781" bIns="45781" rIns="45781"/>
            <a:lstStyle/>
            <a:p>
              <a:pPr algn="ctr">
                <a:lnSpc>
                  <a:spcPts val="1743"/>
                </a:lnSpc>
              </a:pPr>
            </a:p>
          </p:txBody>
        </p:sp>
      </p:grpSp>
      <p:grpSp>
        <p:nvGrpSpPr>
          <p:cNvPr name="Group 54" id="54"/>
          <p:cNvGrpSpPr/>
          <p:nvPr/>
        </p:nvGrpSpPr>
        <p:grpSpPr>
          <a:xfrm rot="-10800000">
            <a:off x="4682048" y="4529797"/>
            <a:ext cx="603111" cy="422077"/>
            <a:chOff x="0" y="0"/>
            <a:chExt cx="812800" cy="568824"/>
          </a:xfrm>
        </p:grpSpPr>
        <p:sp>
          <p:nvSpPr>
            <p:cNvPr name="Freeform 55" id="55"/>
            <p:cNvSpPr/>
            <p:nvPr/>
          </p:nvSpPr>
          <p:spPr>
            <a:xfrm flipH="false" flipV="false" rot="0">
              <a:off x="0" y="0"/>
              <a:ext cx="812800" cy="568824"/>
            </a:xfrm>
            <a:custGeom>
              <a:avLst/>
              <a:gdLst/>
              <a:ahLst/>
              <a:cxnLst/>
              <a:rect r="r" b="b" t="t" l="l"/>
              <a:pathLst>
                <a:path h="568824" w="812800">
                  <a:moveTo>
                    <a:pt x="406400" y="568824"/>
                  </a:moveTo>
                  <a:lnTo>
                    <a:pt x="812800" y="0"/>
                  </a:lnTo>
                  <a:lnTo>
                    <a:pt x="0" y="0"/>
                  </a:lnTo>
                  <a:lnTo>
                    <a:pt x="406400" y="568824"/>
                  </a:lnTo>
                  <a:close/>
                </a:path>
              </a:pathLst>
            </a:custGeom>
            <a:solidFill>
              <a:srgbClr val="8A784E"/>
            </a:solidFill>
          </p:spPr>
        </p:sp>
        <p:sp>
          <p:nvSpPr>
            <p:cNvPr name="TextBox 56" id="56"/>
            <p:cNvSpPr txBox="true"/>
            <p:nvPr/>
          </p:nvSpPr>
          <p:spPr>
            <a:xfrm>
              <a:off x="127000" y="31105"/>
              <a:ext cx="558800" cy="273622"/>
            </a:xfrm>
            <a:prstGeom prst="rect">
              <a:avLst/>
            </a:prstGeom>
          </p:spPr>
          <p:txBody>
            <a:bodyPr anchor="ctr" rtlCol="false" tIns="50800" lIns="50800" bIns="50800" rIns="50800"/>
            <a:lstStyle/>
            <a:p>
              <a:pPr algn="ctr">
                <a:lnSpc>
                  <a:spcPts val="2879"/>
                </a:lnSpc>
              </a:pPr>
            </a:p>
          </p:txBody>
        </p:sp>
      </p:grpSp>
      <p:grpSp>
        <p:nvGrpSpPr>
          <p:cNvPr name="Group 57" id="57"/>
          <p:cNvGrpSpPr/>
          <p:nvPr/>
        </p:nvGrpSpPr>
        <p:grpSpPr>
          <a:xfrm rot="-10800000">
            <a:off x="10140788" y="5310832"/>
            <a:ext cx="301556" cy="1707431"/>
            <a:chOff x="0" y="0"/>
            <a:chExt cx="79422" cy="449694"/>
          </a:xfrm>
        </p:grpSpPr>
        <p:sp>
          <p:nvSpPr>
            <p:cNvPr name="Freeform 58" id="58"/>
            <p:cNvSpPr/>
            <p:nvPr/>
          </p:nvSpPr>
          <p:spPr>
            <a:xfrm flipH="false" flipV="false" rot="0">
              <a:off x="0" y="0"/>
              <a:ext cx="79422" cy="449694"/>
            </a:xfrm>
            <a:custGeom>
              <a:avLst/>
              <a:gdLst/>
              <a:ahLst/>
              <a:cxnLst/>
              <a:rect r="r" b="b" t="t" l="l"/>
              <a:pathLst>
                <a:path h="449694" w="79422">
                  <a:moveTo>
                    <a:pt x="0" y="0"/>
                  </a:moveTo>
                  <a:lnTo>
                    <a:pt x="79422" y="0"/>
                  </a:lnTo>
                  <a:lnTo>
                    <a:pt x="79422" y="449694"/>
                  </a:lnTo>
                  <a:lnTo>
                    <a:pt x="0" y="449694"/>
                  </a:lnTo>
                  <a:close/>
                </a:path>
              </a:pathLst>
            </a:custGeom>
            <a:solidFill>
              <a:srgbClr val="5F99AE"/>
            </a:solidFill>
          </p:spPr>
        </p:sp>
        <p:sp>
          <p:nvSpPr>
            <p:cNvPr name="TextBox 59" id="59"/>
            <p:cNvSpPr txBox="true"/>
            <p:nvPr/>
          </p:nvSpPr>
          <p:spPr>
            <a:xfrm>
              <a:off x="0" y="-9525"/>
              <a:ext cx="79422" cy="459219"/>
            </a:xfrm>
            <a:prstGeom prst="rect">
              <a:avLst/>
            </a:prstGeom>
          </p:spPr>
          <p:txBody>
            <a:bodyPr anchor="ctr" rtlCol="false" tIns="50800" lIns="50800" bIns="50800" rIns="50800"/>
            <a:lstStyle/>
            <a:p>
              <a:pPr algn="ctr">
                <a:lnSpc>
                  <a:spcPts val="2879"/>
                </a:lnSpc>
              </a:pPr>
            </a:p>
          </p:txBody>
        </p:sp>
      </p:grpSp>
      <p:sp>
        <p:nvSpPr>
          <p:cNvPr name="Freeform 60" id="60"/>
          <p:cNvSpPr/>
          <p:nvPr/>
        </p:nvSpPr>
        <p:spPr>
          <a:xfrm flipH="false" flipV="false" rot="0">
            <a:off x="9348269" y="6074966"/>
            <a:ext cx="2190750" cy="2190750"/>
          </a:xfrm>
          <a:custGeom>
            <a:avLst/>
            <a:gdLst/>
            <a:ahLst/>
            <a:cxnLst/>
            <a:rect r="r" b="b" t="t" l="l"/>
            <a:pathLst>
              <a:path h="2190750" w="2190750">
                <a:moveTo>
                  <a:pt x="0" y="0"/>
                </a:moveTo>
                <a:lnTo>
                  <a:pt x="2190750" y="0"/>
                </a:lnTo>
                <a:lnTo>
                  <a:pt x="2190750" y="2190750"/>
                </a:lnTo>
                <a:lnTo>
                  <a:pt x="0" y="2190750"/>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61" id="61"/>
          <p:cNvGrpSpPr/>
          <p:nvPr/>
        </p:nvGrpSpPr>
        <p:grpSpPr>
          <a:xfrm rot="-10800000">
            <a:off x="9348269" y="6074966"/>
            <a:ext cx="1886593" cy="1886593"/>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99AE"/>
            </a:solidFill>
            <a:ln cap="sq">
              <a:noFill/>
              <a:prstDash val="solid"/>
              <a:miter/>
            </a:ln>
          </p:spPr>
        </p:sp>
        <p:sp>
          <p:nvSpPr>
            <p:cNvPr name="TextBox 63" id="63"/>
            <p:cNvSpPr txBox="true"/>
            <p:nvPr/>
          </p:nvSpPr>
          <p:spPr>
            <a:xfrm>
              <a:off x="76200" y="28575"/>
              <a:ext cx="660400" cy="708025"/>
            </a:xfrm>
            <a:prstGeom prst="rect">
              <a:avLst/>
            </a:prstGeom>
          </p:spPr>
          <p:txBody>
            <a:bodyPr anchor="ctr" rtlCol="false" tIns="51456" lIns="51456" bIns="51456" rIns="51456"/>
            <a:lstStyle/>
            <a:p>
              <a:pPr algn="ctr">
                <a:lnSpc>
                  <a:spcPts val="2659"/>
                </a:lnSpc>
              </a:pPr>
            </a:p>
          </p:txBody>
        </p:sp>
      </p:grpSp>
      <p:grpSp>
        <p:nvGrpSpPr>
          <p:cNvPr name="Group 64" id="64"/>
          <p:cNvGrpSpPr/>
          <p:nvPr/>
        </p:nvGrpSpPr>
        <p:grpSpPr>
          <a:xfrm rot="5400000">
            <a:off x="9586393" y="6313090"/>
            <a:ext cx="1410346" cy="1410346"/>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66" id="66"/>
            <p:cNvSpPr txBox="true"/>
            <p:nvPr/>
          </p:nvSpPr>
          <p:spPr>
            <a:xfrm>
              <a:off x="76200" y="47625"/>
              <a:ext cx="660400" cy="688975"/>
            </a:xfrm>
            <a:prstGeom prst="rect">
              <a:avLst/>
            </a:prstGeom>
          </p:spPr>
          <p:txBody>
            <a:bodyPr anchor="ctr" rtlCol="false" tIns="45781" lIns="45781" bIns="45781" rIns="45781"/>
            <a:lstStyle/>
            <a:p>
              <a:pPr algn="ctr">
                <a:lnSpc>
                  <a:spcPts val="1743"/>
                </a:lnSpc>
              </a:pPr>
            </a:p>
          </p:txBody>
        </p:sp>
      </p:grpSp>
      <p:grpSp>
        <p:nvGrpSpPr>
          <p:cNvPr name="Group 67" id="67"/>
          <p:cNvGrpSpPr/>
          <p:nvPr/>
        </p:nvGrpSpPr>
        <p:grpSpPr>
          <a:xfrm rot="-10800000">
            <a:off x="9990010" y="4529797"/>
            <a:ext cx="603111" cy="422077"/>
            <a:chOff x="0" y="0"/>
            <a:chExt cx="812800" cy="568824"/>
          </a:xfrm>
        </p:grpSpPr>
        <p:sp>
          <p:nvSpPr>
            <p:cNvPr name="Freeform 68" id="68"/>
            <p:cNvSpPr/>
            <p:nvPr/>
          </p:nvSpPr>
          <p:spPr>
            <a:xfrm flipH="false" flipV="false" rot="0">
              <a:off x="0" y="0"/>
              <a:ext cx="812800" cy="568824"/>
            </a:xfrm>
            <a:custGeom>
              <a:avLst/>
              <a:gdLst/>
              <a:ahLst/>
              <a:cxnLst/>
              <a:rect r="r" b="b" t="t" l="l"/>
              <a:pathLst>
                <a:path h="568824" w="812800">
                  <a:moveTo>
                    <a:pt x="406400" y="568824"/>
                  </a:moveTo>
                  <a:lnTo>
                    <a:pt x="812800" y="0"/>
                  </a:lnTo>
                  <a:lnTo>
                    <a:pt x="0" y="0"/>
                  </a:lnTo>
                  <a:lnTo>
                    <a:pt x="406400" y="568824"/>
                  </a:lnTo>
                  <a:close/>
                </a:path>
              </a:pathLst>
            </a:custGeom>
            <a:solidFill>
              <a:srgbClr val="5F99AE"/>
            </a:solidFill>
          </p:spPr>
        </p:sp>
        <p:sp>
          <p:nvSpPr>
            <p:cNvPr name="TextBox 69" id="69"/>
            <p:cNvSpPr txBox="true"/>
            <p:nvPr/>
          </p:nvSpPr>
          <p:spPr>
            <a:xfrm>
              <a:off x="127000" y="31105"/>
              <a:ext cx="558800" cy="273622"/>
            </a:xfrm>
            <a:prstGeom prst="rect">
              <a:avLst/>
            </a:prstGeom>
          </p:spPr>
          <p:txBody>
            <a:bodyPr anchor="ctr" rtlCol="false" tIns="50800" lIns="50800" bIns="50800" rIns="50800"/>
            <a:lstStyle/>
            <a:p>
              <a:pPr algn="ctr">
                <a:lnSpc>
                  <a:spcPts val="2879"/>
                </a:lnSpc>
              </a:pPr>
            </a:p>
          </p:txBody>
        </p:sp>
      </p:grpSp>
      <p:grpSp>
        <p:nvGrpSpPr>
          <p:cNvPr name="Group 70" id="70"/>
          <p:cNvGrpSpPr/>
          <p:nvPr/>
        </p:nvGrpSpPr>
        <p:grpSpPr>
          <a:xfrm rot="-10800000">
            <a:off x="15448750" y="5310832"/>
            <a:ext cx="301556" cy="1707431"/>
            <a:chOff x="0" y="0"/>
            <a:chExt cx="79422" cy="449694"/>
          </a:xfrm>
        </p:grpSpPr>
        <p:sp>
          <p:nvSpPr>
            <p:cNvPr name="Freeform 71" id="71"/>
            <p:cNvSpPr/>
            <p:nvPr/>
          </p:nvSpPr>
          <p:spPr>
            <a:xfrm flipH="false" flipV="false" rot="0">
              <a:off x="0" y="0"/>
              <a:ext cx="79422" cy="449694"/>
            </a:xfrm>
            <a:custGeom>
              <a:avLst/>
              <a:gdLst/>
              <a:ahLst/>
              <a:cxnLst/>
              <a:rect r="r" b="b" t="t" l="l"/>
              <a:pathLst>
                <a:path h="449694" w="79422">
                  <a:moveTo>
                    <a:pt x="0" y="0"/>
                  </a:moveTo>
                  <a:lnTo>
                    <a:pt x="79422" y="0"/>
                  </a:lnTo>
                  <a:lnTo>
                    <a:pt x="79422" y="449694"/>
                  </a:lnTo>
                  <a:lnTo>
                    <a:pt x="0" y="449694"/>
                  </a:lnTo>
                  <a:close/>
                </a:path>
              </a:pathLst>
            </a:custGeom>
            <a:solidFill>
              <a:srgbClr val="555879"/>
            </a:solidFill>
          </p:spPr>
        </p:sp>
        <p:sp>
          <p:nvSpPr>
            <p:cNvPr name="TextBox 72" id="72"/>
            <p:cNvSpPr txBox="true"/>
            <p:nvPr/>
          </p:nvSpPr>
          <p:spPr>
            <a:xfrm>
              <a:off x="0" y="-9525"/>
              <a:ext cx="79422" cy="459219"/>
            </a:xfrm>
            <a:prstGeom prst="rect">
              <a:avLst/>
            </a:prstGeom>
          </p:spPr>
          <p:txBody>
            <a:bodyPr anchor="ctr" rtlCol="false" tIns="50800" lIns="50800" bIns="50800" rIns="50800"/>
            <a:lstStyle/>
            <a:p>
              <a:pPr algn="ctr">
                <a:lnSpc>
                  <a:spcPts val="2879"/>
                </a:lnSpc>
              </a:pPr>
            </a:p>
          </p:txBody>
        </p:sp>
      </p:grpSp>
      <p:sp>
        <p:nvSpPr>
          <p:cNvPr name="Freeform 73" id="73"/>
          <p:cNvSpPr/>
          <p:nvPr/>
        </p:nvSpPr>
        <p:spPr>
          <a:xfrm flipH="false" flipV="false" rot="0">
            <a:off x="14656232" y="6074966"/>
            <a:ext cx="2190750" cy="2190750"/>
          </a:xfrm>
          <a:custGeom>
            <a:avLst/>
            <a:gdLst/>
            <a:ahLst/>
            <a:cxnLst/>
            <a:rect r="r" b="b" t="t" l="l"/>
            <a:pathLst>
              <a:path h="2190750" w="2190750">
                <a:moveTo>
                  <a:pt x="0" y="0"/>
                </a:moveTo>
                <a:lnTo>
                  <a:pt x="2190750" y="0"/>
                </a:lnTo>
                <a:lnTo>
                  <a:pt x="2190750" y="2190750"/>
                </a:lnTo>
                <a:lnTo>
                  <a:pt x="0" y="2190750"/>
                </a:lnTo>
                <a:lnTo>
                  <a:pt x="0" y="0"/>
                </a:lnTo>
                <a:close/>
              </a:path>
            </a:pathLst>
          </a:custGeom>
          <a:blipFill>
            <a:blip r:embed="rId3">
              <a:alphaModFix amt="30000"/>
              <a:extLst>
                <a:ext uri="{96DAC541-7B7A-43D3-8B79-37D633B846F1}">
                  <asvg:svgBlip xmlns:asvg="http://schemas.microsoft.com/office/drawing/2016/SVG/main" r:embed="rId8"/>
                </a:ext>
              </a:extLst>
            </a:blip>
            <a:stretch>
              <a:fillRect l="0" t="0" r="0" b="0"/>
            </a:stretch>
          </a:blipFill>
        </p:spPr>
      </p:sp>
      <p:grpSp>
        <p:nvGrpSpPr>
          <p:cNvPr name="Group 74" id="74"/>
          <p:cNvGrpSpPr/>
          <p:nvPr/>
        </p:nvGrpSpPr>
        <p:grpSpPr>
          <a:xfrm rot="-10800000">
            <a:off x="14656232" y="6074966"/>
            <a:ext cx="1886593" cy="1886593"/>
            <a:chOff x="0" y="0"/>
            <a:chExt cx="812800" cy="812800"/>
          </a:xfrm>
        </p:grpSpPr>
        <p:sp>
          <p:nvSpPr>
            <p:cNvPr name="Freeform 75" id="7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5879"/>
            </a:solidFill>
            <a:ln cap="sq">
              <a:noFill/>
              <a:prstDash val="solid"/>
              <a:miter/>
            </a:ln>
          </p:spPr>
        </p:sp>
        <p:sp>
          <p:nvSpPr>
            <p:cNvPr name="TextBox 76" id="76"/>
            <p:cNvSpPr txBox="true"/>
            <p:nvPr/>
          </p:nvSpPr>
          <p:spPr>
            <a:xfrm>
              <a:off x="76200" y="28575"/>
              <a:ext cx="660400" cy="708025"/>
            </a:xfrm>
            <a:prstGeom prst="rect">
              <a:avLst/>
            </a:prstGeom>
          </p:spPr>
          <p:txBody>
            <a:bodyPr anchor="ctr" rtlCol="false" tIns="51456" lIns="51456" bIns="51456" rIns="51456"/>
            <a:lstStyle/>
            <a:p>
              <a:pPr algn="ctr">
                <a:lnSpc>
                  <a:spcPts val="2659"/>
                </a:lnSpc>
              </a:pPr>
            </a:p>
          </p:txBody>
        </p:sp>
      </p:grpSp>
      <p:grpSp>
        <p:nvGrpSpPr>
          <p:cNvPr name="Group 77" id="77"/>
          <p:cNvGrpSpPr/>
          <p:nvPr/>
        </p:nvGrpSpPr>
        <p:grpSpPr>
          <a:xfrm rot="5400000">
            <a:off x="14894355" y="6313090"/>
            <a:ext cx="1410346" cy="1410346"/>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79" id="79"/>
            <p:cNvSpPr txBox="true"/>
            <p:nvPr/>
          </p:nvSpPr>
          <p:spPr>
            <a:xfrm>
              <a:off x="76200" y="47625"/>
              <a:ext cx="660400" cy="688975"/>
            </a:xfrm>
            <a:prstGeom prst="rect">
              <a:avLst/>
            </a:prstGeom>
          </p:spPr>
          <p:txBody>
            <a:bodyPr anchor="ctr" rtlCol="false" tIns="45781" lIns="45781" bIns="45781" rIns="45781"/>
            <a:lstStyle/>
            <a:p>
              <a:pPr algn="ctr">
                <a:lnSpc>
                  <a:spcPts val="1743"/>
                </a:lnSpc>
              </a:pPr>
            </a:p>
          </p:txBody>
        </p:sp>
      </p:grpSp>
      <p:grpSp>
        <p:nvGrpSpPr>
          <p:cNvPr name="Group 80" id="80"/>
          <p:cNvGrpSpPr/>
          <p:nvPr/>
        </p:nvGrpSpPr>
        <p:grpSpPr>
          <a:xfrm rot="-10800000">
            <a:off x="15297973" y="4529797"/>
            <a:ext cx="603111" cy="422077"/>
            <a:chOff x="0" y="0"/>
            <a:chExt cx="812800" cy="568824"/>
          </a:xfrm>
        </p:grpSpPr>
        <p:sp>
          <p:nvSpPr>
            <p:cNvPr name="Freeform 81" id="81"/>
            <p:cNvSpPr/>
            <p:nvPr/>
          </p:nvSpPr>
          <p:spPr>
            <a:xfrm flipH="false" flipV="false" rot="0">
              <a:off x="0" y="0"/>
              <a:ext cx="812800" cy="568824"/>
            </a:xfrm>
            <a:custGeom>
              <a:avLst/>
              <a:gdLst/>
              <a:ahLst/>
              <a:cxnLst/>
              <a:rect r="r" b="b" t="t" l="l"/>
              <a:pathLst>
                <a:path h="568824" w="812800">
                  <a:moveTo>
                    <a:pt x="406400" y="568824"/>
                  </a:moveTo>
                  <a:lnTo>
                    <a:pt x="812800" y="0"/>
                  </a:lnTo>
                  <a:lnTo>
                    <a:pt x="0" y="0"/>
                  </a:lnTo>
                  <a:lnTo>
                    <a:pt x="406400" y="568824"/>
                  </a:lnTo>
                  <a:close/>
                </a:path>
              </a:pathLst>
            </a:custGeom>
            <a:solidFill>
              <a:srgbClr val="555879"/>
            </a:solidFill>
          </p:spPr>
        </p:sp>
        <p:sp>
          <p:nvSpPr>
            <p:cNvPr name="TextBox 82" id="82"/>
            <p:cNvSpPr txBox="true"/>
            <p:nvPr/>
          </p:nvSpPr>
          <p:spPr>
            <a:xfrm>
              <a:off x="127000" y="31105"/>
              <a:ext cx="558800" cy="273622"/>
            </a:xfrm>
            <a:prstGeom prst="rect">
              <a:avLst/>
            </a:prstGeom>
          </p:spPr>
          <p:txBody>
            <a:bodyPr anchor="ctr" rtlCol="false" tIns="50800" lIns="50800" bIns="50800" rIns="50800"/>
            <a:lstStyle/>
            <a:p>
              <a:pPr algn="ctr">
                <a:lnSpc>
                  <a:spcPts val="2879"/>
                </a:lnSpc>
              </a:pPr>
            </a:p>
          </p:txBody>
        </p:sp>
      </p:grpSp>
      <p:sp>
        <p:nvSpPr>
          <p:cNvPr name="Freeform 83" id="83"/>
          <p:cNvSpPr/>
          <p:nvPr/>
        </p:nvSpPr>
        <p:spPr>
          <a:xfrm flipH="false" flipV="false" rot="1834260">
            <a:off x="-1314961" y="7909163"/>
            <a:ext cx="3934545" cy="2429582"/>
          </a:xfrm>
          <a:custGeom>
            <a:avLst/>
            <a:gdLst/>
            <a:ahLst/>
            <a:cxnLst/>
            <a:rect r="r" b="b" t="t" l="l"/>
            <a:pathLst>
              <a:path h="2429582" w="3934545">
                <a:moveTo>
                  <a:pt x="0" y="0"/>
                </a:moveTo>
                <a:lnTo>
                  <a:pt x="3934545" y="0"/>
                </a:lnTo>
                <a:lnTo>
                  <a:pt x="3934545" y="2429581"/>
                </a:lnTo>
                <a:lnTo>
                  <a:pt x="0" y="2429581"/>
                </a:lnTo>
                <a:lnTo>
                  <a:pt x="0" y="0"/>
                </a:lnTo>
                <a:close/>
              </a:path>
            </a:pathLst>
          </a:custGeom>
          <a:blipFill>
            <a:blip r:embed="rId9">
              <a:alphaModFix amt="3299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84" id="84"/>
          <p:cNvSpPr/>
          <p:nvPr/>
        </p:nvSpPr>
        <p:spPr>
          <a:xfrm flipH="false" flipV="false" rot="-5400000">
            <a:off x="16787093" y="8040728"/>
            <a:ext cx="2419350" cy="2147173"/>
          </a:xfrm>
          <a:custGeom>
            <a:avLst/>
            <a:gdLst/>
            <a:ahLst/>
            <a:cxnLst/>
            <a:rect r="r" b="b" t="t" l="l"/>
            <a:pathLst>
              <a:path h="2147173" w="2419350">
                <a:moveTo>
                  <a:pt x="0" y="0"/>
                </a:moveTo>
                <a:lnTo>
                  <a:pt x="2419350" y="0"/>
                </a:lnTo>
                <a:lnTo>
                  <a:pt x="2419350" y="2147173"/>
                </a:lnTo>
                <a:lnTo>
                  <a:pt x="0" y="2147173"/>
                </a:lnTo>
                <a:lnTo>
                  <a:pt x="0" y="0"/>
                </a:lnTo>
                <a:close/>
              </a:path>
            </a:pathLst>
          </a:custGeom>
          <a:blipFill>
            <a:blip r:embed="rId11">
              <a:alphaModFix amt="12000"/>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TextBox 85" id="85"/>
          <p:cNvSpPr txBox="true"/>
          <p:nvPr/>
        </p:nvSpPr>
        <p:spPr>
          <a:xfrm rot="0">
            <a:off x="1002632" y="6391653"/>
            <a:ext cx="2653981" cy="371475"/>
          </a:xfrm>
          <a:prstGeom prst="rect">
            <a:avLst/>
          </a:prstGeom>
        </p:spPr>
        <p:txBody>
          <a:bodyPr anchor="t" rtlCol="false" tIns="0" lIns="0" bIns="0" rIns="0">
            <a:spAutoFit/>
          </a:bodyPr>
          <a:lstStyle/>
          <a:p>
            <a:pPr algn="ctr">
              <a:lnSpc>
                <a:spcPts val="2879"/>
              </a:lnSpc>
            </a:pPr>
            <a:r>
              <a:rPr lang="en-US" b="true" sz="2400">
                <a:solidFill>
                  <a:srgbClr val="FFFFFF"/>
                </a:solidFill>
                <a:latin typeface="Roboto Bold"/>
                <a:ea typeface="Roboto Bold"/>
                <a:cs typeface="Roboto Bold"/>
                <a:sym typeface="Roboto Bold"/>
              </a:rPr>
              <a:t>ĐĂNG NHẬP</a:t>
            </a:r>
          </a:p>
        </p:txBody>
      </p:sp>
      <p:sp>
        <p:nvSpPr>
          <p:cNvPr name="TextBox 86" id="86"/>
          <p:cNvSpPr txBox="true"/>
          <p:nvPr/>
        </p:nvSpPr>
        <p:spPr>
          <a:xfrm rot="0">
            <a:off x="6119049" y="6391653"/>
            <a:ext cx="3037072" cy="371475"/>
          </a:xfrm>
          <a:prstGeom prst="rect">
            <a:avLst/>
          </a:prstGeom>
        </p:spPr>
        <p:txBody>
          <a:bodyPr anchor="t" rtlCol="false" tIns="0" lIns="0" bIns="0" rIns="0">
            <a:spAutoFit/>
          </a:bodyPr>
          <a:lstStyle/>
          <a:p>
            <a:pPr algn="ctr">
              <a:lnSpc>
                <a:spcPts val="2879"/>
              </a:lnSpc>
            </a:pPr>
            <a:r>
              <a:rPr lang="en-US" b="true" sz="2400">
                <a:solidFill>
                  <a:srgbClr val="FFFFFF"/>
                </a:solidFill>
                <a:latin typeface="Roboto Bold"/>
                <a:ea typeface="Roboto Bold"/>
                <a:cs typeface="Roboto Bold"/>
                <a:sym typeface="Roboto Bold"/>
              </a:rPr>
              <a:t>Pomodoro Timer</a:t>
            </a:r>
          </a:p>
        </p:txBody>
      </p:sp>
      <p:sp>
        <p:nvSpPr>
          <p:cNvPr name="TextBox 87" id="87"/>
          <p:cNvSpPr txBox="true"/>
          <p:nvPr/>
        </p:nvSpPr>
        <p:spPr>
          <a:xfrm rot="0">
            <a:off x="11618556" y="6391653"/>
            <a:ext cx="2653981" cy="371475"/>
          </a:xfrm>
          <a:prstGeom prst="rect">
            <a:avLst/>
          </a:prstGeom>
        </p:spPr>
        <p:txBody>
          <a:bodyPr anchor="t" rtlCol="false" tIns="0" lIns="0" bIns="0" rIns="0">
            <a:spAutoFit/>
          </a:bodyPr>
          <a:lstStyle/>
          <a:p>
            <a:pPr algn="ctr">
              <a:lnSpc>
                <a:spcPts val="2879"/>
              </a:lnSpc>
            </a:pPr>
            <a:r>
              <a:rPr lang="en-US" b="true" sz="2400">
                <a:solidFill>
                  <a:srgbClr val="FFFFFF"/>
                </a:solidFill>
                <a:latin typeface="Roboto Bold"/>
                <a:ea typeface="Roboto Bold"/>
                <a:cs typeface="Roboto Bold"/>
                <a:sym typeface="Roboto Bold"/>
              </a:rPr>
              <a:t>Gamification</a:t>
            </a:r>
          </a:p>
        </p:txBody>
      </p:sp>
      <p:sp>
        <p:nvSpPr>
          <p:cNvPr name="TextBox 88" id="88"/>
          <p:cNvSpPr txBox="true"/>
          <p:nvPr/>
        </p:nvSpPr>
        <p:spPr>
          <a:xfrm rot="0">
            <a:off x="3454760" y="3970694"/>
            <a:ext cx="3057687" cy="371475"/>
          </a:xfrm>
          <a:prstGeom prst="rect">
            <a:avLst/>
          </a:prstGeom>
        </p:spPr>
        <p:txBody>
          <a:bodyPr anchor="t" rtlCol="false" tIns="0" lIns="0" bIns="0" rIns="0">
            <a:spAutoFit/>
          </a:bodyPr>
          <a:lstStyle/>
          <a:p>
            <a:pPr algn="ctr">
              <a:lnSpc>
                <a:spcPts val="2879"/>
              </a:lnSpc>
            </a:pPr>
            <a:r>
              <a:rPr lang="en-US" b="true" sz="2400">
                <a:solidFill>
                  <a:srgbClr val="FFFFFF"/>
                </a:solidFill>
                <a:latin typeface="Roboto Bold"/>
                <a:ea typeface="Roboto Bold"/>
                <a:cs typeface="Roboto Bold"/>
                <a:sym typeface="Roboto Bold"/>
              </a:rPr>
              <a:t>QUẢN LÝ CÔNG VIỆC</a:t>
            </a:r>
          </a:p>
        </p:txBody>
      </p:sp>
      <p:sp>
        <p:nvSpPr>
          <p:cNvPr name="TextBox 89" id="89"/>
          <p:cNvSpPr txBox="true"/>
          <p:nvPr/>
        </p:nvSpPr>
        <p:spPr>
          <a:xfrm rot="0">
            <a:off x="8937365" y="4049004"/>
            <a:ext cx="2653981" cy="371475"/>
          </a:xfrm>
          <a:prstGeom prst="rect">
            <a:avLst/>
          </a:prstGeom>
        </p:spPr>
        <p:txBody>
          <a:bodyPr anchor="t" rtlCol="false" tIns="0" lIns="0" bIns="0" rIns="0">
            <a:spAutoFit/>
          </a:bodyPr>
          <a:lstStyle/>
          <a:p>
            <a:pPr algn="ctr">
              <a:lnSpc>
                <a:spcPts val="2879"/>
              </a:lnSpc>
            </a:pPr>
            <a:r>
              <a:rPr lang="en-US" b="true" sz="2400">
                <a:solidFill>
                  <a:srgbClr val="FFFFFF"/>
                </a:solidFill>
                <a:latin typeface="Roboto Bold"/>
                <a:ea typeface="Roboto Bold"/>
                <a:cs typeface="Roboto Bold"/>
                <a:sym typeface="Roboto Bold"/>
              </a:rPr>
              <a:t>Trợ lý AI</a:t>
            </a:r>
          </a:p>
        </p:txBody>
      </p:sp>
      <p:sp>
        <p:nvSpPr>
          <p:cNvPr name="TextBox 90" id="90"/>
          <p:cNvSpPr txBox="true"/>
          <p:nvPr/>
        </p:nvSpPr>
        <p:spPr>
          <a:xfrm rot="0">
            <a:off x="14425894" y="3970694"/>
            <a:ext cx="2653981" cy="371475"/>
          </a:xfrm>
          <a:prstGeom prst="rect">
            <a:avLst/>
          </a:prstGeom>
        </p:spPr>
        <p:txBody>
          <a:bodyPr anchor="t" rtlCol="false" tIns="0" lIns="0" bIns="0" rIns="0">
            <a:spAutoFit/>
          </a:bodyPr>
          <a:lstStyle/>
          <a:p>
            <a:pPr algn="ctr">
              <a:lnSpc>
                <a:spcPts val="2879"/>
              </a:lnSpc>
            </a:pPr>
            <a:r>
              <a:rPr lang="en-US" b="true" sz="2400">
                <a:solidFill>
                  <a:srgbClr val="FFFFFF"/>
                </a:solidFill>
                <a:latin typeface="Roboto Bold"/>
                <a:ea typeface="Roboto Bold"/>
                <a:cs typeface="Roboto Bold"/>
                <a:sym typeface="Roboto Bold"/>
              </a:rPr>
              <a:t>QUẢN LÝ HỌC TẬP</a:t>
            </a:r>
          </a:p>
        </p:txBody>
      </p:sp>
      <p:sp>
        <p:nvSpPr>
          <p:cNvPr name="TextBox 91" id="91"/>
          <p:cNvSpPr txBox="true"/>
          <p:nvPr/>
        </p:nvSpPr>
        <p:spPr>
          <a:xfrm rot="0">
            <a:off x="1627142" y="2931587"/>
            <a:ext cx="1410346" cy="887095"/>
          </a:xfrm>
          <a:prstGeom prst="rect">
            <a:avLst/>
          </a:prstGeom>
        </p:spPr>
        <p:txBody>
          <a:bodyPr anchor="t" rtlCol="false" tIns="0" lIns="0" bIns="0" rIns="0">
            <a:spAutoFit/>
          </a:bodyPr>
          <a:lstStyle/>
          <a:p>
            <a:pPr algn="ctr">
              <a:lnSpc>
                <a:spcPts val="7279"/>
              </a:lnSpc>
            </a:pPr>
            <a:r>
              <a:rPr lang="en-US" sz="5199" b="true">
                <a:solidFill>
                  <a:srgbClr val="023153"/>
                </a:solidFill>
                <a:latin typeface="Noto Sans Bold"/>
                <a:ea typeface="Noto Sans Bold"/>
                <a:cs typeface="Noto Sans Bold"/>
                <a:sym typeface="Noto Sans Bold"/>
              </a:rPr>
              <a:t>1</a:t>
            </a:r>
          </a:p>
        </p:txBody>
      </p:sp>
      <p:sp>
        <p:nvSpPr>
          <p:cNvPr name="TextBox 92" id="92"/>
          <p:cNvSpPr txBox="true"/>
          <p:nvPr/>
        </p:nvSpPr>
        <p:spPr>
          <a:xfrm rot="0">
            <a:off x="4280078" y="6527090"/>
            <a:ext cx="1410346" cy="887095"/>
          </a:xfrm>
          <a:prstGeom prst="rect">
            <a:avLst/>
          </a:prstGeom>
        </p:spPr>
        <p:txBody>
          <a:bodyPr anchor="t" rtlCol="false" tIns="0" lIns="0" bIns="0" rIns="0">
            <a:spAutoFit/>
          </a:bodyPr>
          <a:lstStyle/>
          <a:p>
            <a:pPr algn="ctr">
              <a:lnSpc>
                <a:spcPts val="7279"/>
              </a:lnSpc>
            </a:pPr>
            <a:r>
              <a:rPr lang="en-US" sz="5199" b="true">
                <a:solidFill>
                  <a:srgbClr val="023153"/>
                </a:solidFill>
                <a:latin typeface="Noto Sans Bold"/>
                <a:ea typeface="Noto Sans Bold"/>
                <a:cs typeface="Noto Sans Bold"/>
                <a:sym typeface="Noto Sans Bold"/>
              </a:rPr>
              <a:t>2</a:t>
            </a:r>
          </a:p>
        </p:txBody>
      </p:sp>
      <p:sp>
        <p:nvSpPr>
          <p:cNvPr name="TextBox 93" id="93"/>
          <p:cNvSpPr txBox="true"/>
          <p:nvPr/>
        </p:nvSpPr>
        <p:spPr>
          <a:xfrm rot="0">
            <a:off x="6929719" y="2964849"/>
            <a:ext cx="1410346" cy="887095"/>
          </a:xfrm>
          <a:prstGeom prst="rect">
            <a:avLst/>
          </a:prstGeom>
        </p:spPr>
        <p:txBody>
          <a:bodyPr anchor="t" rtlCol="false" tIns="0" lIns="0" bIns="0" rIns="0">
            <a:spAutoFit/>
          </a:bodyPr>
          <a:lstStyle/>
          <a:p>
            <a:pPr algn="ctr">
              <a:lnSpc>
                <a:spcPts val="7279"/>
              </a:lnSpc>
            </a:pPr>
            <a:r>
              <a:rPr lang="en-US" sz="5199" b="true">
                <a:solidFill>
                  <a:srgbClr val="023153"/>
                </a:solidFill>
                <a:latin typeface="Noto Sans Bold"/>
                <a:ea typeface="Noto Sans Bold"/>
                <a:cs typeface="Noto Sans Bold"/>
                <a:sym typeface="Noto Sans Bold"/>
              </a:rPr>
              <a:t>3</a:t>
            </a:r>
          </a:p>
        </p:txBody>
      </p:sp>
      <p:sp>
        <p:nvSpPr>
          <p:cNvPr name="TextBox 94" id="94"/>
          <p:cNvSpPr txBox="true"/>
          <p:nvPr/>
        </p:nvSpPr>
        <p:spPr>
          <a:xfrm rot="0">
            <a:off x="9584746" y="6527090"/>
            <a:ext cx="1410346" cy="887095"/>
          </a:xfrm>
          <a:prstGeom prst="rect">
            <a:avLst/>
          </a:prstGeom>
        </p:spPr>
        <p:txBody>
          <a:bodyPr anchor="t" rtlCol="false" tIns="0" lIns="0" bIns="0" rIns="0">
            <a:spAutoFit/>
          </a:bodyPr>
          <a:lstStyle/>
          <a:p>
            <a:pPr algn="ctr">
              <a:lnSpc>
                <a:spcPts val="7279"/>
              </a:lnSpc>
            </a:pPr>
            <a:r>
              <a:rPr lang="en-US" sz="5199" b="true">
                <a:solidFill>
                  <a:srgbClr val="023153"/>
                </a:solidFill>
                <a:latin typeface="Noto Sans Bold"/>
                <a:ea typeface="Noto Sans Bold"/>
                <a:cs typeface="Noto Sans Bold"/>
                <a:sym typeface="Noto Sans Bold"/>
              </a:rPr>
              <a:t>4</a:t>
            </a:r>
          </a:p>
        </p:txBody>
      </p:sp>
      <p:sp>
        <p:nvSpPr>
          <p:cNvPr name="TextBox 95" id="95"/>
          <p:cNvSpPr txBox="true"/>
          <p:nvPr/>
        </p:nvSpPr>
        <p:spPr>
          <a:xfrm rot="0">
            <a:off x="12247206" y="2978944"/>
            <a:ext cx="1410346" cy="887095"/>
          </a:xfrm>
          <a:prstGeom prst="rect">
            <a:avLst/>
          </a:prstGeom>
        </p:spPr>
        <p:txBody>
          <a:bodyPr anchor="t" rtlCol="false" tIns="0" lIns="0" bIns="0" rIns="0">
            <a:spAutoFit/>
          </a:bodyPr>
          <a:lstStyle/>
          <a:p>
            <a:pPr algn="ctr">
              <a:lnSpc>
                <a:spcPts val="7279"/>
              </a:lnSpc>
            </a:pPr>
            <a:r>
              <a:rPr lang="en-US" sz="5199" b="true">
                <a:solidFill>
                  <a:srgbClr val="023153"/>
                </a:solidFill>
                <a:latin typeface="Noto Sans Bold"/>
                <a:ea typeface="Noto Sans Bold"/>
                <a:cs typeface="Noto Sans Bold"/>
                <a:sym typeface="Noto Sans Bold"/>
              </a:rPr>
              <a:t>5</a:t>
            </a:r>
          </a:p>
        </p:txBody>
      </p:sp>
      <p:sp>
        <p:nvSpPr>
          <p:cNvPr name="TextBox 96" id="96"/>
          <p:cNvSpPr txBox="true"/>
          <p:nvPr/>
        </p:nvSpPr>
        <p:spPr>
          <a:xfrm rot="0">
            <a:off x="14894355" y="6586280"/>
            <a:ext cx="1410346" cy="887095"/>
          </a:xfrm>
          <a:prstGeom prst="rect">
            <a:avLst/>
          </a:prstGeom>
        </p:spPr>
        <p:txBody>
          <a:bodyPr anchor="t" rtlCol="false" tIns="0" lIns="0" bIns="0" rIns="0">
            <a:spAutoFit/>
          </a:bodyPr>
          <a:lstStyle/>
          <a:p>
            <a:pPr algn="ctr">
              <a:lnSpc>
                <a:spcPts val="7279"/>
              </a:lnSpc>
            </a:pPr>
            <a:r>
              <a:rPr lang="en-US" sz="5199" b="true">
                <a:solidFill>
                  <a:srgbClr val="023153"/>
                </a:solidFill>
                <a:latin typeface="Noto Sans Bold"/>
                <a:ea typeface="Noto Sans Bold"/>
                <a:cs typeface="Noto Sans Bold"/>
                <a:sym typeface="Noto Sans Bold"/>
              </a:rPr>
              <a:t>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1C37"/>
        </a:solidFill>
      </p:bgPr>
    </p:bg>
    <p:spTree>
      <p:nvGrpSpPr>
        <p:cNvPr id="1" name=""/>
        <p:cNvGrpSpPr/>
        <p:nvPr/>
      </p:nvGrpSpPr>
      <p:grpSpPr>
        <a:xfrm>
          <a:off x="0" y="0"/>
          <a:ext cx="0" cy="0"/>
          <a:chOff x="0" y="0"/>
          <a:chExt cx="0" cy="0"/>
        </a:xfrm>
      </p:grpSpPr>
      <p:sp>
        <p:nvSpPr>
          <p:cNvPr name="Freeform 2" id="2"/>
          <p:cNvSpPr/>
          <p:nvPr/>
        </p:nvSpPr>
        <p:spPr>
          <a:xfrm flipH="false" flipV="false" rot="0">
            <a:off x="12291640" y="-4689380"/>
            <a:ext cx="9438577" cy="6748583"/>
          </a:xfrm>
          <a:custGeom>
            <a:avLst/>
            <a:gdLst/>
            <a:ahLst/>
            <a:cxnLst/>
            <a:rect r="r" b="b" t="t" l="l"/>
            <a:pathLst>
              <a:path h="6748583" w="9438577">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0597" y="1168749"/>
            <a:ext cx="8867728" cy="8993548"/>
            <a:chOff x="0" y="0"/>
            <a:chExt cx="994870" cy="1008986"/>
          </a:xfrm>
        </p:grpSpPr>
        <p:sp>
          <p:nvSpPr>
            <p:cNvPr name="Freeform 4" id="4"/>
            <p:cNvSpPr/>
            <p:nvPr/>
          </p:nvSpPr>
          <p:spPr>
            <a:xfrm flipH="false" flipV="false" rot="0">
              <a:off x="0" y="0"/>
              <a:ext cx="994870" cy="1008986"/>
            </a:xfrm>
            <a:custGeom>
              <a:avLst/>
              <a:gdLst/>
              <a:ahLst/>
              <a:cxnLst/>
              <a:rect r="r" b="b" t="t" l="l"/>
              <a:pathLst>
                <a:path h="1008986" w="994870">
                  <a:moveTo>
                    <a:pt x="21826" y="0"/>
                  </a:moveTo>
                  <a:lnTo>
                    <a:pt x="973044" y="0"/>
                  </a:lnTo>
                  <a:cubicBezTo>
                    <a:pt x="978832" y="0"/>
                    <a:pt x="984384" y="2300"/>
                    <a:pt x="988477" y="6393"/>
                  </a:cubicBezTo>
                  <a:cubicBezTo>
                    <a:pt x="992570" y="10486"/>
                    <a:pt x="994870" y="16037"/>
                    <a:pt x="994870" y="21826"/>
                  </a:cubicBezTo>
                  <a:lnTo>
                    <a:pt x="994870" y="987160"/>
                  </a:lnTo>
                  <a:cubicBezTo>
                    <a:pt x="994870" y="999214"/>
                    <a:pt x="985098" y="1008986"/>
                    <a:pt x="973044" y="1008986"/>
                  </a:cubicBezTo>
                  <a:lnTo>
                    <a:pt x="21826" y="1008986"/>
                  </a:lnTo>
                  <a:cubicBezTo>
                    <a:pt x="9772" y="1008986"/>
                    <a:pt x="0" y="999214"/>
                    <a:pt x="0" y="987160"/>
                  </a:cubicBezTo>
                  <a:lnTo>
                    <a:pt x="0" y="21826"/>
                  </a:lnTo>
                  <a:cubicBezTo>
                    <a:pt x="0" y="9772"/>
                    <a:pt x="9772" y="0"/>
                    <a:pt x="21826" y="0"/>
                  </a:cubicBezTo>
                  <a:close/>
                </a:path>
              </a:pathLst>
            </a:custGeom>
            <a:gradFill rotWithShape="true">
              <a:gsLst>
                <a:gs pos="0">
                  <a:srgbClr val="31A1D4">
                    <a:alpha val="47000"/>
                  </a:srgbClr>
                </a:gs>
                <a:gs pos="100000">
                  <a:srgbClr val="035E8E">
                    <a:alpha val="0"/>
                  </a:srgbClr>
                </a:gs>
              </a:gsLst>
              <a:lin ang="2700000"/>
            </a:gradFill>
          </p:spPr>
        </p:sp>
        <p:sp>
          <p:nvSpPr>
            <p:cNvPr name="TextBox 5" id="5"/>
            <p:cNvSpPr txBox="true"/>
            <p:nvPr/>
          </p:nvSpPr>
          <p:spPr>
            <a:xfrm>
              <a:off x="0" y="-57150"/>
              <a:ext cx="994870" cy="1066136"/>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Freeform 6" id="6"/>
          <p:cNvSpPr/>
          <p:nvPr/>
        </p:nvSpPr>
        <p:spPr>
          <a:xfrm flipH="false" flipV="false" rot="0">
            <a:off x="-4305142" y="-4943565"/>
            <a:ext cx="9438577" cy="6748583"/>
          </a:xfrm>
          <a:custGeom>
            <a:avLst/>
            <a:gdLst/>
            <a:ahLst/>
            <a:cxnLst/>
            <a:rect r="r" b="b" t="t" l="l"/>
            <a:pathLst>
              <a:path h="6748583" w="9438577">
                <a:moveTo>
                  <a:pt x="0" y="0"/>
                </a:moveTo>
                <a:lnTo>
                  <a:pt x="9438577" y="0"/>
                </a:lnTo>
                <a:lnTo>
                  <a:pt x="9438577"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258741" y="1713574"/>
            <a:ext cx="8473114" cy="8259433"/>
          </a:xfrm>
          <a:custGeom>
            <a:avLst/>
            <a:gdLst/>
            <a:ahLst/>
            <a:cxnLst/>
            <a:rect r="r" b="b" t="t" l="l"/>
            <a:pathLst>
              <a:path h="8259433" w="8473114">
                <a:moveTo>
                  <a:pt x="0" y="0"/>
                </a:moveTo>
                <a:lnTo>
                  <a:pt x="8473114" y="0"/>
                </a:lnTo>
                <a:lnTo>
                  <a:pt x="8473114" y="8259433"/>
                </a:lnTo>
                <a:lnTo>
                  <a:pt x="0" y="8259433"/>
                </a:lnTo>
                <a:lnTo>
                  <a:pt x="0" y="0"/>
                </a:lnTo>
                <a:close/>
              </a:path>
            </a:pathLst>
          </a:custGeom>
          <a:blipFill>
            <a:blip r:embed="rId4"/>
            <a:stretch>
              <a:fillRect l="0" t="-266" r="0" b="-266"/>
            </a:stretch>
          </a:blipFill>
        </p:spPr>
      </p:sp>
      <p:sp>
        <p:nvSpPr>
          <p:cNvPr name="TextBox 8" id="8"/>
          <p:cNvSpPr txBox="true"/>
          <p:nvPr/>
        </p:nvSpPr>
        <p:spPr>
          <a:xfrm rot="0">
            <a:off x="6389363" y="301279"/>
            <a:ext cx="5808315" cy="887095"/>
          </a:xfrm>
          <a:prstGeom prst="rect">
            <a:avLst/>
          </a:prstGeom>
        </p:spPr>
        <p:txBody>
          <a:bodyPr anchor="t" rtlCol="false" tIns="0" lIns="0" bIns="0" rIns="0">
            <a:spAutoFit/>
          </a:bodyPr>
          <a:lstStyle/>
          <a:p>
            <a:pPr algn="ctr">
              <a:lnSpc>
                <a:spcPts val="7279"/>
              </a:lnSpc>
            </a:pPr>
            <a:r>
              <a:rPr lang="en-US" b="true" sz="5199">
                <a:solidFill>
                  <a:srgbClr val="FFFFFF"/>
                </a:solidFill>
                <a:latin typeface="Noto Sans Bold"/>
                <a:ea typeface="Noto Sans Bold"/>
                <a:cs typeface="Noto Sans Bold"/>
                <a:sym typeface="Noto Sans Bold"/>
              </a:rPr>
              <a:t>Thiết kế hệ thống</a:t>
            </a:r>
          </a:p>
        </p:txBody>
      </p:sp>
      <p:sp>
        <p:nvSpPr>
          <p:cNvPr name="TextBox 9" id="9"/>
          <p:cNvSpPr txBox="true"/>
          <p:nvPr/>
        </p:nvSpPr>
        <p:spPr>
          <a:xfrm rot="0">
            <a:off x="613034" y="1859992"/>
            <a:ext cx="6146930" cy="8113014"/>
          </a:xfrm>
          <a:prstGeom prst="rect">
            <a:avLst/>
          </a:prstGeom>
        </p:spPr>
        <p:txBody>
          <a:bodyPr anchor="t" rtlCol="false" tIns="0" lIns="0" bIns="0" rIns="0">
            <a:spAutoFit/>
          </a:bodyPr>
          <a:lstStyle/>
          <a:p>
            <a:pPr algn="l">
              <a:lnSpc>
                <a:spcPts val="4277"/>
              </a:lnSpc>
            </a:pPr>
            <a:r>
              <a:rPr lang="en-US" sz="2299" b="true">
                <a:solidFill>
                  <a:srgbClr val="FFFFFF"/>
                </a:solidFill>
                <a:latin typeface="Times New Roman Bold"/>
                <a:ea typeface="Times New Roman Bold"/>
                <a:cs typeface="Times New Roman Bold"/>
                <a:sym typeface="Times New Roman Bold"/>
              </a:rPr>
              <a:t>Khách (Guest): </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 Đăng ký tài khoản</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Đăng nhập</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Khôi phục mật khẩu</a:t>
            </a:r>
          </a:p>
          <a:p>
            <a:pPr algn="l">
              <a:lnSpc>
                <a:spcPts val="4277"/>
              </a:lnSpc>
            </a:pPr>
            <a:r>
              <a:rPr lang="en-US" sz="2299" b="true">
                <a:solidFill>
                  <a:srgbClr val="FFFFFF"/>
                </a:solidFill>
                <a:latin typeface="Times New Roman Bold"/>
                <a:ea typeface="Times New Roman Bold"/>
                <a:cs typeface="Times New Roman Bold"/>
                <a:sym typeface="Times New Roman Bold"/>
              </a:rPr>
              <a:t>Người dùng (User): Quản lý công việc: </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 </a:t>
            </a:r>
            <a:r>
              <a:rPr lang="en-US" b="true" sz="2299">
                <a:solidFill>
                  <a:srgbClr val="FFFFFF"/>
                </a:solidFill>
                <a:latin typeface="Times New Roman Bold"/>
                <a:ea typeface="Times New Roman Bold"/>
                <a:cs typeface="Times New Roman Bold"/>
                <a:sym typeface="Times New Roman Bold"/>
              </a:rPr>
              <a:t>Thêm/Sửa/Xóa </a:t>
            </a:r>
          </a:p>
          <a:p>
            <a:pPr algn="l">
              <a:lnSpc>
                <a:spcPts val="4277"/>
              </a:lnSpc>
            </a:pPr>
            <a:r>
              <a:rPr lang="en-US" sz="2299" b="true">
                <a:solidFill>
                  <a:srgbClr val="FFFFFF"/>
                </a:solidFill>
                <a:latin typeface="Times New Roman Bold"/>
                <a:ea typeface="Times New Roman Bold"/>
                <a:cs typeface="Times New Roman Bold"/>
                <a:sym typeface="Times New Roman Bold"/>
              </a:rPr>
              <a:t>Quản lý chi tiết: Subtask &amp; Phụ thuộc </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Tương tác: Bình luận &amp; Tệp đính kèm </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Trò chuyện với Trợ lý AI Gemin</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Xem Dashboard &amp; Thống kê cá nhân </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Quản lý Thùng rác</a:t>
            </a:r>
          </a:p>
          <a:p>
            <a:pPr algn="l">
              <a:lnSpc>
                <a:spcPts val="4277"/>
              </a:lnSpc>
            </a:pPr>
            <a:r>
              <a:rPr lang="en-US" sz="2299" b="true">
                <a:solidFill>
                  <a:srgbClr val="FFFFFF"/>
                </a:solidFill>
                <a:latin typeface="Times New Roman Bold"/>
                <a:ea typeface="Times New Roman Bold"/>
                <a:cs typeface="Times New Roman Bold"/>
                <a:sym typeface="Times New Roman Bold"/>
              </a:rPr>
              <a:t>Quản trị viên (Admin): </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 Kế thừa mọi quyền hạn của User </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 Quản lý tài khoản toàn hệ thống </a:t>
            </a:r>
          </a:p>
          <a:p>
            <a:pPr algn="l" marL="496569" indent="-248284" lvl="1">
              <a:lnSpc>
                <a:spcPts val="4277"/>
              </a:lnSpc>
              <a:buFont typeface="Arial"/>
              <a:buChar char="•"/>
            </a:pPr>
            <a:r>
              <a:rPr lang="en-US" b="true" sz="2299">
                <a:solidFill>
                  <a:srgbClr val="FFFFFF"/>
                </a:solidFill>
                <a:latin typeface="Times New Roman Bold"/>
                <a:ea typeface="Times New Roman Bold"/>
                <a:cs typeface="Times New Roman Bold"/>
                <a:sym typeface="Times New Roman Bold"/>
              </a:rPr>
              <a:t>Theo dõi thống kê tổng quan</a:t>
            </a:r>
          </a:p>
        </p:txBody>
      </p:sp>
      <p:sp>
        <p:nvSpPr>
          <p:cNvPr name="TextBox 10" id="10"/>
          <p:cNvSpPr txBox="true"/>
          <p:nvPr/>
        </p:nvSpPr>
        <p:spPr>
          <a:xfrm rot="0">
            <a:off x="414147" y="1092549"/>
            <a:ext cx="4033689" cy="712469"/>
          </a:xfrm>
          <a:prstGeom prst="rect">
            <a:avLst/>
          </a:prstGeom>
        </p:spPr>
        <p:txBody>
          <a:bodyPr anchor="t" rtlCol="false" tIns="0" lIns="0" bIns="0" rIns="0">
            <a:spAutoFit/>
          </a:bodyPr>
          <a:lstStyle/>
          <a:p>
            <a:pPr algn="ctr">
              <a:lnSpc>
                <a:spcPts val="5880"/>
              </a:lnSpc>
            </a:pPr>
            <a:r>
              <a:rPr lang="en-US" b="true" sz="4200" i="true" u="sng">
                <a:solidFill>
                  <a:srgbClr val="FFFFFF"/>
                </a:solidFill>
                <a:latin typeface="Noto Sans Bold Italics"/>
                <a:ea typeface="Noto Sans Bold Italics"/>
                <a:cs typeface="Noto Sans Bold Italics"/>
                <a:sym typeface="Noto Sans Bold Italics"/>
              </a:rPr>
              <a:t>SƠ ĐỒ USE CASE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1C37"/>
        </a:solidFill>
      </p:bgPr>
    </p:bg>
    <p:spTree>
      <p:nvGrpSpPr>
        <p:cNvPr id="1" name=""/>
        <p:cNvGrpSpPr/>
        <p:nvPr/>
      </p:nvGrpSpPr>
      <p:grpSpPr>
        <a:xfrm>
          <a:off x="0" y="0"/>
          <a:ext cx="0" cy="0"/>
          <a:chOff x="0" y="0"/>
          <a:chExt cx="0" cy="0"/>
        </a:xfrm>
      </p:grpSpPr>
      <p:sp>
        <p:nvSpPr>
          <p:cNvPr name="Freeform 2" id="2"/>
          <p:cNvSpPr/>
          <p:nvPr/>
        </p:nvSpPr>
        <p:spPr>
          <a:xfrm flipH="false" flipV="false" rot="0">
            <a:off x="12291640" y="-4689380"/>
            <a:ext cx="9438577" cy="6748583"/>
          </a:xfrm>
          <a:custGeom>
            <a:avLst/>
            <a:gdLst/>
            <a:ahLst/>
            <a:cxnLst/>
            <a:rect r="r" b="b" t="t" l="l"/>
            <a:pathLst>
              <a:path h="6748583" w="9438577">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05142" y="-4943565"/>
            <a:ext cx="9438577" cy="6748583"/>
          </a:xfrm>
          <a:custGeom>
            <a:avLst/>
            <a:gdLst/>
            <a:ahLst/>
            <a:cxnLst/>
            <a:rect r="r" b="b" t="t" l="l"/>
            <a:pathLst>
              <a:path h="6748583" w="9438577">
                <a:moveTo>
                  <a:pt x="0" y="0"/>
                </a:moveTo>
                <a:lnTo>
                  <a:pt x="9438577" y="0"/>
                </a:lnTo>
                <a:lnTo>
                  <a:pt x="9438577"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261620" y="2021917"/>
            <a:ext cx="10792226" cy="7828651"/>
          </a:xfrm>
          <a:custGeom>
            <a:avLst/>
            <a:gdLst/>
            <a:ahLst/>
            <a:cxnLst/>
            <a:rect r="r" b="b" t="t" l="l"/>
            <a:pathLst>
              <a:path h="7828651" w="10792226">
                <a:moveTo>
                  <a:pt x="0" y="0"/>
                </a:moveTo>
                <a:lnTo>
                  <a:pt x="10792226" y="0"/>
                </a:lnTo>
                <a:lnTo>
                  <a:pt x="10792226" y="7828651"/>
                </a:lnTo>
                <a:lnTo>
                  <a:pt x="0" y="7828651"/>
                </a:lnTo>
                <a:lnTo>
                  <a:pt x="0" y="0"/>
                </a:lnTo>
                <a:close/>
              </a:path>
            </a:pathLst>
          </a:custGeom>
          <a:blipFill>
            <a:blip r:embed="rId4"/>
            <a:stretch>
              <a:fillRect l="-4350" t="0" r="-5736" b="0"/>
            </a:stretch>
          </a:blipFill>
        </p:spPr>
      </p:sp>
      <p:sp>
        <p:nvSpPr>
          <p:cNvPr name="TextBox 5" id="5"/>
          <p:cNvSpPr txBox="true"/>
          <p:nvPr/>
        </p:nvSpPr>
        <p:spPr>
          <a:xfrm rot="0">
            <a:off x="6747964" y="301279"/>
            <a:ext cx="5091112"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Noto Sans Bold"/>
                <a:ea typeface="Noto Sans Bold"/>
                <a:cs typeface="Noto Sans Bold"/>
                <a:sym typeface="Noto Sans Bold"/>
              </a:rPr>
              <a:t>SƠ ĐỒ </a:t>
            </a:r>
            <a:r>
              <a:rPr lang="en-US" b="true" sz="5199">
                <a:solidFill>
                  <a:srgbClr val="FFFFFF"/>
                </a:solidFill>
                <a:latin typeface="Noto Sans Bold"/>
                <a:ea typeface="Noto Sans Bold"/>
                <a:cs typeface="Noto Sans Bold"/>
                <a:sym typeface="Noto Sans Bold"/>
              </a:rPr>
              <a:t>WEBSITE</a:t>
            </a:r>
          </a:p>
        </p:txBody>
      </p:sp>
      <p:grpSp>
        <p:nvGrpSpPr>
          <p:cNvPr name="Group 6" id="6"/>
          <p:cNvGrpSpPr/>
          <p:nvPr/>
        </p:nvGrpSpPr>
        <p:grpSpPr>
          <a:xfrm rot="0">
            <a:off x="-318707" y="2447752"/>
            <a:ext cx="7282810" cy="7797384"/>
            <a:chOff x="0" y="0"/>
            <a:chExt cx="817058" cy="874788"/>
          </a:xfrm>
        </p:grpSpPr>
        <p:sp>
          <p:nvSpPr>
            <p:cNvPr name="Freeform 7" id="7"/>
            <p:cNvSpPr/>
            <p:nvPr/>
          </p:nvSpPr>
          <p:spPr>
            <a:xfrm flipH="false" flipV="false" rot="0">
              <a:off x="0" y="0"/>
              <a:ext cx="817058" cy="874788"/>
            </a:xfrm>
            <a:custGeom>
              <a:avLst/>
              <a:gdLst/>
              <a:ahLst/>
              <a:cxnLst/>
              <a:rect r="r" b="b" t="t" l="l"/>
              <a:pathLst>
                <a:path h="874788" w="817058">
                  <a:moveTo>
                    <a:pt x="26576" y="0"/>
                  </a:moveTo>
                  <a:lnTo>
                    <a:pt x="790482" y="0"/>
                  </a:lnTo>
                  <a:cubicBezTo>
                    <a:pt x="805159" y="0"/>
                    <a:pt x="817058" y="11898"/>
                    <a:pt x="817058" y="26576"/>
                  </a:cubicBezTo>
                  <a:lnTo>
                    <a:pt x="817058" y="848212"/>
                  </a:lnTo>
                  <a:cubicBezTo>
                    <a:pt x="817058" y="855260"/>
                    <a:pt x="814258" y="862020"/>
                    <a:pt x="809274" y="867004"/>
                  </a:cubicBezTo>
                  <a:cubicBezTo>
                    <a:pt x="804290" y="871988"/>
                    <a:pt x="797530" y="874788"/>
                    <a:pt x="790482" y="874788"/>
                  </a:cubicBezTo>
                  <a:lnTo>
                    <a:pt x="26576" y="874788"/>
                  </a:lnTo>
                  <a:cubicBezTo>
                    <a:pt x="11898" y="874788"/>
                    <a:pt x="0" y="862889"/>
                    <a:pt x="0" y="848212"/>
                  </a:cubicBezTo>
                  <a:lnTo>
                    <a:pt x="0" y="26576"/>
                  </a:lnTo>
                  <a:cubicBezTo>
                    <a:pt x="0" y="11898"/>
                    <a:pt x="11898" y="0"/>
                    <a:pt x="26576" y="0"/>
                  </a:cubicBezTo>
                  <a:close/>
                </a:path>
              </a:pathLst>
            </a:custGeom>
            <a:gradFill rotWithShape="true">
              <a:gsLst>
                <a:gs pos="0">
                  <a:srgbClr val="31A1D4">
                    <a:alpha val="47000"/>
                  </a:srgbClr>
                </a:gs>
                <a:gs pos="100000">
                  <a:srgbClr val="035E8E">
                    <a:alpha val="0"/>
                  </a:srgbClr>
                </a:gs>
              </a:gsLst>
              <a:lin ang="2700000"/>
            </a:gradFill>
          </p:spPr>
        </p:sp>
        <p:sp>
          <p:nvSpPr>
            <p:cNvPr name="TextBox 8" id="8"/>
            <p:cNvSpPr txBox="true"/>
            <p:nvPr/>
          </p:nvSpPr>
          <p:spPr>
            <a:xfrm>
              <a:off x="0" y="-57150"/>
              <a:ext cx="817058" cy="931938"/>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9" id="9"/>
          <p:cNvSpPr txBox="true"/>
          <p:nvPr/>
        </p:nvSpPr>
        <p:spPr>
          <a:xfrm rot="0">
            <a:off x="287041" y="2328712"/>
            <a:ext cx="6595492" cy="7217413"/>
          </a:xfrm>
          <a:prstGeom prst="rect">
            <a:avLst/>
          </a:prstGeom>
        </p:spPr>
        <p:txBody>
          <a:bodyPr anchor="t" rtlCol="false" tIns="0" lIns="0" bIns="0" rIns="0">
            <a:spAutoFit/>
          </a:bodyPr>
          <a:lstStyle/>
          <a:p>
            <a:pPr algn="l" marL="626106" indent="-313053" lvl="1">
              <a:lnSpc>
                <a:spcPts val="7249"/>
              </a:lnSpc>
              <a:buFont typeface="Arial"/>
              <a:buChar char="•"/>
            </a:pPr>
            <a:r>
              <a:rPr lang="en-US" b="true" sz="2899">
                <a:solidFill>
                  <a:srgbClr val="FFFFFF"/>
                </a:solidFill>
                <a:latin typeface="Times New Roman Bold"/>
                <a:ea typeface="Times New Roman Bold"/>
                <a:cs typeface="Times New Roman Bold"/>
                <a:sym typeface="Times New Roman Bold"/>
              </a:rPr>
              <a:t>Tài khoản → Đăng nhập / Đăng ký. Hồ sơ cá nhân</a:t>
            </a:r>
          </a:p>
          <a:p>
            <a:pPr algn="l" marL="626106" indent="-313053" lvl="1">
              <a:lnSpc>
                <a:spcPts val="7249"/>
              </a:lnSpc>
              <a:buFont typeface="Arial"/>
              <a:buChar char="•"/>
            </a:pPr>
            <a:r>
              <a:rPr lang="en-US" b="true" sz="2899">
                <a:solidFill>
                  <a:srgbClr val="FFFFFF"/>
                </a:solidFill>
                <a:latin typeface="Times New Roman Bold"/>
                <a:ea typeface="Times New Roman Bold"/>
                <a:cs typeface="Times New Roman Bold"/>
                <a:sym typeface="Times New Roman Bold"/>
              </a:rPr>
              <a:t>Công việc → </a:t>
            </a:r>
            <a:r>
              <a:rPr lang="en-US" b="true" sz="2899">
                <a:solidFill>
                  <a:srgbClr val="FFFFFF"/>
                </a:solidFill>
                <a:latin typeface="Times New Roman Bold"/>
                <a:ea typeface="Times New Roman Bold"/>
                <a:cs typeface="Times New Roman Bold"/>
                <a:sym typeface="Times New Roman Bold"/>
              </a:rPr>
              <a:t>Thêm / Sửa / Xóa Task. Chia Subtasks · Liên kết Phụ thuộc</a:t>
            </a:r>
          </a:p>
          <a:p>
            <a:pPr algn="l" marL="626106" indent="-313053" lvl="1">
              <a:lnSpc>
                <a:spcPts val="7249"/>
              </a:lnSpc>
              <a:buFont typeface="Arial"/>
              <a:buChar char="•"/>
            </a:pPr>
            <a:r>
              <a:rPr lang="en-US" b="true" sz="2899">
                <a:solidFill>
                  <a:srgbClr val="FFFFFF"/>
                </a:solidFill>
                <a:latin typeface="Times New Roman Bold"/>
                <a:ea typeface="Times New Roman Bold"/>
                <a:cs typeface="Times New Roman Bold"/>
                <a:sym typeface="Times New Roman Bold"/>
              </a:rPr>
              <a:t>Tương tác &amp; AI → Chat AI Gemini. Bình luận &amp; Tệp đính kèm</a:t>
            </a:r>
          </a:p>
          <a:p>
            <a:pPr algn="l" marL="626106" indent="-313053" lvl="1">
              <a:lnSpc>
                <a:spcPts val="7249"/>
              </a:lnSpc>
              <a:buFont typeface="Arial"/>
              <a:buChar char="•"/>
            </a:pPr>
            <a:r>
              <a:rPr lang="en-US" b="true" sz="2899">
                <a:solidFill>
                  <a:srgbClr val="FFFFFF"/>
                </a:solidFill>
                <a:latin typeface="Times New Roman Bold"/>
                <a:ea typeface="Times New Roman Bold"/>
                <a:cs typeface="Times New Roman Bold"/>
                <a:sym typeface="Times New Roman Bold"/>
              </a:rPr>
              <a:t>Quản trị → Dashboard Thống kê · Quản lý User toàn hệ thống</a:t>
            </a:r>
          </a:p>
        </p:txBody>
      </p:sp>
      <p:sp>
        <p:nvSpPr>
          <p:cNvPr name="TextBox 10" id="10"/>
          <p:cNvSpPr txBox="true"/>
          <p:nvPr/>
        </p:nvSpPr>
        <p:spPr>
          <a:xfrm rot="0">
            <a:off x="-2392329" y="1743926"/>
            <a:ext cx="13055709" cy="563879"/>
          </a:xfrm>
          <a:prstGeom prst="rect">
            <a:avLst/>
          </a:prstGeom>
        </p:spPr>
        <p:txBody>
          <a:bodyPr anchor="t" rtlCol="false" tIns="0" lIns="0" bIns="0" rIns="0">
            <a:spAutoFit/>
          </a:bodyPr>
          <a:lstStyle/>
          <a:p>
            <a:pPr algn="ctr">
              <a:lnSpc>
                <a:spcPts val="4620"/>
              </a:lnSpc>
            </a:pPr>
            <a:r>
              <a:rPr lang="en-US" b="true" sz="3300" i="true" u="sng">
                <a:solidFill>
                  <a:srgbClr val="FFFFFF"/>
                </a:solidFill>
                <a:latin typeface="Noto Sans Bold Italics"/>
                <a:ea typeface="Noto Sans Bold Italics"/>
                <a:cs typeface="Noto Sans Bold Italics"/>
                <a:sym typeface="Noto Sans Bold Italics"/>
              </a:rPr>
              <a:t>SƠ ĐỒ LUỒNG HOẠT ĐỘNG TỔNG QUÁT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24631" r="-124631" b="0"/>
            </a:stretch>
          </a:blipFill>
        </p:spPr>
      </p:sp>
      <p:sp>
        <p:nvSpPr>
          <p:cNvPr name="Freeform 3" id="3"/>
          <p:cNvSpPr/>
          <p:nvPr/>
        </p:nvSpPr>
        <p:spPr>
          <a:xfrm flipH="false" flipV="false" rot="0">
            <a:off x="11330360" y="1331288"/>
            <a:ext cx="5700996" cy="2462118"/>
          </a:xfrm>
          <a:custGeom>
            <a:avLst/>
            <a:gdLst/>
            <a:ahLst/>
            <a:cxnLst/>
            <a:rect r="r" b="b" t="t" l="l"/>
            <a:pathLst>
              <a:path h="2462118" w="5700996">
                <a:moveTo>
                  <a:pt x="0" y="0"/>
                </a:moveTo>
                <a:lnTo>
                  <a:pt x="5700996" y="0"/>
                </a:lnTo>
                <a:lnTo>
                  <a:pt x="5700996" y="2462118"/>
                </a:lnTo>
                <a:lnTo>
                  <a:pt x="0" y="2462118"/>
                </a:lnTo>
                <a:lnTo>
                  <a:pt x="0" y="0"/>
                </a:lnTo>
                <a:close/>
              </a:path>
            </a:pathLst>
          </a:custGeom>
          <a:blipFill>
            <a:blip r:embed="rId3"/>
            <a:stretch>
              <a:fillRect l="0" t="0" r="0" b="0"/>
            </a:stretch>
          </a:blipFill>
        </p:spPr>
      </p:sp>
      <p:sp>
        <p:nvSpPr>
          <p:cNvPr name="Freeform 4" id="4"/>
          <p:cNvSpPr/>
          <p:nvPr/>
        </p:nvSpPr>
        <p:spPr>
          <a:xfrm flipH="false" flipV="false" rot="0">
            <a:off x="11360264" y="4105183"/>
            <a:ext cx="5705543" cy="2724397"/>
          </a:xfrm>
          <a:custGeom>
            <a:avLst/>
            <a:gdLst/>
            <a:ahLst/>
            <a:cxnLst/>
            <a:rect r="r" b="b" t="t" l="l"/>
            <a:pathLst>
              <a:path h="2724397" w="5705543">
                <a:moveTo>
                  <a:pt x="0" y="0"/>
                </a:moveTo>
                <a:lnTo>
                  <a:pt x="5705543" y="0"/>
                </a:lnTo>
                <a:lnTo>
                  <a:pt x="5705543" y="2724397"/>
                </a:lnTo>
                <a:lnTo>
                  <a:pt x="0" y="2724397"/>
                </a:lnTo>
                <a:lnTo>
                  <a:pt x="0" y="0"/>
                </a:lnTo>
                <a:close/>
              </a:path>
            </a:pathLst>
          </a:custGeom>
          <a:blipFill>
            <a:blip r:embed="rId4"/>
            <a:stretch>
              <a:fillRect l="0" t="0" r="0" b="0"/>
            </a:stretch>
          </a:blipFill>
        </p:spPr>
      </p:sp>
      <p:sp>
        <p:nvSpPr>
          <p:cNvPr name="Freeform 5" id="5"/>
          <p:cNvSpPr/>
          <p:nvPr/>
        </p:nvSpPr>
        <p:spPr>
          <a:xfrm flipH="false" flipV="false" rot="0">
            <a:off x="11330360" y="7325176"/>
            <a:ext cx="5705543" cy="2635248"/>
          </a:xfrm>
          <a:custGeom>
            <a:avLst/>
            <a:gdLst/>
            <a:ahLst/>
            <a:cxnLst/>
            <a:rect r="r" b="b" t="t" l="l"/>
            <a:pathLst>
              <a:path h="2635248" w="5705543">
                <a:moveTo>
                  <a:pt x="0" y="0"/>
                </a:moveTo>
                <a:lnTo>
                  <a:pt x="5705543" y="0"/>
                </a:lnTo>
                <a:lnTo>
                  <a:pt x="5705543" y="2635248"/>
                </a:lnTo>
                <a:lnTo>
                  <a:pt x="0" y="2635248"/>
                </a:lnTo>
                <a:lnTo>
                  <a:pt x="0" y="0"/>
                </a:lnTo>
                <a:close/>
              </a:path>
            </a:pathLst>
          </a:custGeom>
          <a:blipFill>
            <a:blip r:embed="rId5"/>
            <a:stretch>
              <a:fillRect l="0" t="0" r="0" b="0"/>
            </a:stretch>
          </a:blipFill>
        </p:spPr>
      </p:sp>
      <p:sp>
        <p:nvSpPr>
          <p:cNvPr name="TextBox 6" id="6"/>
          <p:cNvSpPr txBox="true"/>
          <p:nvPr/>
        </p:nvSpPr>
        <p:spPr>
          <a:xfrm rot="0">
            <a:off x="134569" y="155857"/>
            <a:ext cx="18871130" cy="695959"/>
          </a:xfrm>
          <a:prstGeom prst="rect">
            <a:avLst/>
          </a:prstGeom>
        </p:spPr>
        <p:txBody>
          <a:bodyPr anchor="t" rtlCol="false" tIns="0" lIns="0" bIns="0" rIns="0">
            <a:spAutoFit/>
          </a:bodyPr>
          <a:lstStyle/>
          <a:p>
            <a:pPr algn="ctr">
              <a:lnSpc>
                <a:spcPts val="5740"/>
              </a:lnSpc>
            </a:pPr>
            <a:r>
              <a:rPr lang="en-US" sz="4100" b="true">
                <a:solidFill>
                  <a:srgbClr val="FFFFFF"/>
                </a:solidFill>
                <a:latin typeface="Noto Sans Bold"/>
                <a:ea typeface="Noto Sans Bold"/>
                <a:cs typeface="Noto Sans Bold"/>
                <a:sym typeface="Noto Sans Bold"/>
              </a:rPr>
              <a:t>MÔ </a:t>
            </a:r>
            <a:r>
              <a:rPr lang="en-US" b="true" sz="4100">
                <a:solidFill>
                  <a:srgbClr val="FFFFFF"/>
                </a:solidFill>
                <a:latin typeface="Noto Sans Bold"/>
                <a:ea typeface="Noto Sans Bold"/>
                <a:cs typeface="Noto Sans Bold"/>
                <a:sym typeface="Noto Sans Bold"/>
              </a:rPr>
              <a:t>TẢ GIAO DIỆN TRANG CHỦ ĐĂNG KÝ — ĐĂNG NHẬP</a:t>
            </a:r>
          </a:p>
        </p:txBody>
      </p:sp>
      <p:grpSp>
        <p:nvGrpSpPr>
          <p:cNvPr name="Group 7" id="7"/>
          <p:cNvGrpSpPr/>
          <p:nvPr/>
        </p:nvGrpSpPr>
        <p:grpSpPr>
          <a:xfrm rot="0">
            <a:off x="982121" y="1161875"/>
            <a:ext cx="8598591" cy="8993548"/>
            <a:chOff x="0" y="0"/>
            <a:chExt cx="964675" cy="1008986"/>
          </a:xfrm>
        </p:grpSpPr>
        <p:sp>
          <p:nvSpPr>
            <p:cNvPr name="Freeform 8" id="8"/>
            <p:cNvSpPr/>
            <p:nvPr/>
          </p:nvSpPr>
          <p:spPr>
            <a:xfrm flipH="false" flipV="false" rot="0">
              <a:off x="0" y="0"/>
              <a:ext cx="964675" cy="1008986"/>
            </a:xfrm>
            <a:custGeom>
              <a:avLst/>
              <a:gdLst/>
              <a:ahLst/>
              <a:cxnLst/>
              <a:rect r="r" b="b" t="t" l="l"/>
              <a:pathLst>
                <a:path h="1008986" w="964675">
                  <a:moveTo>
                    <a:pt x="22509" y="0"/>
                  </a:moveTo>
                  <a:lnTo>
                    <a:pt x="942166" y="0"/>
                  </a:lnTo>
                  <a:cubicBezTo>
                    <a:pt x="948136" y="0"/>
                    <a:pt x="953861" y="2372"/>
                    <a:pt x="958083" y="6593"/>
                  </a:cubicBezTo>
                  <a:cubicBezTo>
                    <a:pt x="962304" y="10814"/>
                    <a:pt x="964675" y="16539"/>
                    <a:pt x="964675" y="22509"/>
                  </a:cubicBezTo>
                  <a:lnTo>
                    <a:pt x="964675" y="986476"/>
                  </a:lnTo>
                  <a:cubicBezTo>
                    <a:pt x="964675" y="998908"/>
                    <a:pt x="954598" y="1008986"/>
                    <a:pt x="942166" y="1008986"/>
                  </a:cubicBezTo>
                  <a:lnTo>
                    <a:pt x="22509" y="1008986"/>
                  </a:lnTo>
                  <a:cubicBezTo>
                    <a:pt x="16539" y="1008986"/>
                    <a:pt x="10814" y="1006614"/>
                    <a:pt x="6593" y="1002393"/>
                  </a:cubicBezTo>
                  <a:cubicBezTo>
                    <a:pt x="2372" y="998171"/>
                    <a:pt x="0" y="992446"/>
                    <a:pt x="0" y="986476"/>
                  </a:cubicBezTo>
                  <a:lnTo>
                    <a:pt x="0" y="22509"/>
                  </a:lnTo>
                  <a:cubicBezTo>
                    <a:pt x="0" y="16539"/>
                    <a:pt x="2372" y="10814"/>
                    <a:pt x="6593" y="6593"/>
                  </a:cubicBezTo>
                  <a:cubicBezTo>
                    <a:pt x="10814" y="2372"/>
                    <a:pt x="16539" y="0"/>
                    <a:pt x="22509" y="0"/>
                  </a:cubicBezTo>
                  <a:close/>
                </a:path>
              </a:pathLst>
            </a:custGeom>
            <a:gradFill rotWithShape="true">
              <a:gsLst>
                <a:gs pos="0">
                  <a:srgbClr val="31A1D4">
                    <a:alpha val="47000"/>
                  </a:srgbClr>
                </a:gs>
                <a:gs pos="100000">
                  <a:srgbClr val="035E8E">
                    <a:alpha val="0"/>
                  </a:srgbClr>
                </a:gs>
              </a:gsLst>
              <a:lin ang="2700000"/>
            </a:gradFill>
          </p:spPr>
        </p:sp>
        <p:sp>
          <p:nvSpPr>
            <p:cNvPr name="TextBox 9" id="9"/>
            <p:cNvSpPr txBox="true"/>
            <p:nvPr/>
          </p:nvSpPr>
          <p:spPr>
            <a:xfrm>
              <a:off x="0" y="-57150"/>
              <a:ext cx="964675" cy="1066136"/>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10" id="10"/>
          <p:cNvSpPr txBox="true"/>
          <p:nvPr/>
        </p:nvSpPr>
        <p:spPr>
          <a:xfrm rot="0">
            <a:off x="1028700" y="1007438"/>
            <a:ext cx="8037548" cy="8607427"/>
          </a:xfrm>
          <a:prstGeom prst="rect">
            <a:avLst/>
          </a:prstGeom>
        </p:spPr>
        <p:txBody>
          <a:bodyPr anchor="t" rtlCol="false" tIns="0" lIns="0" bIns="0" rIns="0">
            <a:spAutoFit/>
          </a:bodyPr>
          <a:lstStyle/>
          <a:p>
            <a:pPr algn="l" marL="539748" indent="-269874" lvl="1">
              <a:lnSpc>
                <a:spcPts val="6249"/>
              </a:lnSpc>
              <a:buAutoNum type="arabicPeriod" startAt="1"/>
            </a:pPr>
            <a:r>
              <a:rPr lang="en-US" sz="2499">
                <a:solidFill>
                  <a:srgbClr val="FFFFFF"/>
                </a:solidFill>
                <a:latin typeface="Times New Roman"/>
                <a:ea typeface="Times New Roman"/>
                <a:cs typeface="Times New Roman"/>
                <a:sym typeface="Times New Roman"/>
              </a:rPr>
              <a:t>Trang chủ TaskFlow hiển thị thông điệp chính "Quản lý công việc cá nhân hiệu quả và thông minh" với nút "Bắt đầu ngay" dẫn đến trang đăng ký. Thiết kế responsive trên Desktop và Mobile, hình minh họa mascot bên phải, menu trên cùng gồm: Trang chủ, Giới thiệu, Tính năng, Liên hệ.</a:t>
            </a:r>
          </a:p>
          <a:p>
            <a:pPr algn="l" marL="539748" indent="-269874" lvl="1">
              <a:lnSpc>
                <a:spcPts val="6249"/>
              </a:lnSpc>
              <a:buAutoNum type="arabicPeriod" startAt="1"/>
            </a:pPr>
            <a:r>
              <a:rPr lang="en-US" sz="2499">
                <a:solidFill>
                  <a:srgbClr val="FFFFFF"/>
                </a:solidFill>
                <a:latin typeface="Times New Roman"/>
                <a:ea typeface="Times New Roman"/>
                <a:cs typeface="Times New Roman"/>
                <a:sym typeface="Times New Roman"/>
              </a:rPr>
              <a:t>Trang đăng ký gồm: Họ tên, Email, Mật khẩu, Xác nhận mật khẩu — nút "Tạo tài khoản" màu xanh lá "Đã có tài khoản? Đăng nhập" phía dưới.</a:t>
            </a:r>
          </a:p>
          <a:p>
            <a:pPr algn="l" marL="539748" indent="-269874" lvl="1">
              <a:lnSpc>
                <a:spcPts val="6249"/>
              </a:lnSpc>
              <a:buAutoNum type="arabicPeriod" startAt="1"/>
            </a:pPr>
            <a:r>
              <a:rPr lang="en-US" sz="2499">
                <a:solidFill>
                  <a:srgbClr val="FFFFFF"/>
                </a:solidFill>
                <a:latin typeface="Times New Roman"/>
                <a:ea typeface="Times New Roman"/>
                <a:cs typeface="Times New Roman"/>
                <a:sym typeface="Times New Roman"/>
              </a:rPr>
              <a:t>Trang đăng nhập gồm: Email, Mật khẩu nút "Đăng nhập" checkbox "Ghi nhớ đăng nhập"Chưa có tài khoản? Đăng ký" phía dưới.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24631" r="-124631" b="0"/>
            </a:stretch>
          </a:blipFill>
        </p:spPr>
      </p:sp>
      <p:sp>
        <p:nvSpPr>
          <p:cNvPr name="Freeform 3" id="3"/>
          <p:cNvSpPr/>
          <p:nvPr/>
        </p:nvSpPr>
        <p:spPr>
          <a:xfrm flipH="false" flipV="false" rot="0">
            <a:off x="10203408" y="1746024"/>
            <a:ext cx="7972275" cy="3811091"/>
          </a:xfrm>
          <a:custGeom>
            <a:avLst/>
            <a:gdLst/>
            <a:ahLst/>
            <a:cxnLst/>
            <a:rect r="r" b="b" t="t" l="l"/>
            <a:pathLst>
              <a:path h="3811091" w="7972275">
                <a:moveTo>
                  <a:pt x="0" y="0"/>
                </a:moveTo>
                <a:lnTo>
                  <a:pt x="7972275" y="0"/>
                </a:lnTo>
                <a:lnTo>
                  <a:pt x="7972275" y="3811091"/>
                </a:lnTo>
                <a:lnTo>
                  <a:pt x="0" y="3811091"/>
                </a:lnTo>
                <a:lnTo>
                  <a:pt x="0" y="0"/>
                </a:lnTo>
                <a:close/>
              </a:path>
            </a:pathLst>
          </a:custGeom>
          <a:blipFill>
            <a:blip r:embed="rId3"/>
            <a:stretch>
              <a:fillRect l="0" t="-1315" r="0" b="-1315"/>
            </a:stretch>
          </a:blipFill>
        </p:spPr>
      </p:sp>
      <p:sp>
        <p:nvSpPr>
          <p:cNvPr name="Freeform 4" id="4"/>
          <p:cNvSpPr/>
          <p:nvPr/>
        </p:nvSpPr>
        <p:spPr>
          <a:xfrm flipH="false" flipV="false" rot="0">
            <a:off x="10203408" y="6319595"/>
            <a:ext cx="7972275" cy="3534362"/>
          </a:xfrm>
          <a:custGeom>
            <a:avLst/>
            <a:gdLst/>
            <a:ahLst/>
            <a:cxnLst/>
            <a:rect r="r" b="b" t="t" l="l"/>
            <a:pathLst>
              <a:path h="3534362" w="7972275">
                <a:moveTo>
                  <a:pt x="0" y="0"/>
                </a:moveTo>
                <a:lnTo>
                  <a:pt x="7972275" y="0"/>
                </a:lnTo>
                <a:lnTo>
                  <a:pt x="7972275" y="3534362"/>
                </a:lnTo>
                <a:lnTo>
                  <a:pt x="0" y="3534362"/>
                </a:lnTo>
                <a:lnTo>
                  <a:pt x="0" y="0"/>
                </a:lnTo>
                <a:close/>
              </a:path>
            </a:pathLst>
          </a:custGeom>
          <a:blipFill>
            <a:blip r:embed="rId4"/>
            <a:stretch>
              <a:fillRect l="0" t="-1315" r="0" b="-1315"/>
            </a:stretch>
          </a:blipFill>
        </p:spPr>
      </p:sp>
      <p:sp>
        <p:nvSpPr>
          <p:cNvPr name="Freeform 5" id="5"/>
          <p:cNvSpPr/>
          <p:nvPr/>
        </p:nvSpPr>
        <p:spPr>
          <a:xfrm flipH="false" flipV="false" rot="0">
            <a:off x="1057793" y="6312267"/>
            <a:ext cx="7794642" cy="3541690"/>
          </a:xfrm>
          <a:custGeom>
            <a:avLst/>
            <a:gdLst/>
            <a:ahLst/>
            <a:cxnLst/>
            <a:rect r="r" b="b" t="t" l="l"/>
            <a:pathLst>
              <a:path h="3541690" w="7794642">
                <a:moveTo>
                  <a:pt x="0" y="0"/>
                </a:moveTo>
                <a:lnTo>
                  <a:pt x="7794642" y="0"/>
                </a:lnTo>
                <a:lnTo>
                  <a:pt x="7794642" y="3541690"/>
                </a:lnTo>
                <a:lnTo>
                  <a:pt x="0" y="3541690"/>
                </a:lnTo>
                <a:lnTo>
                  <a:pt x="0" y="0"/>
                </a:lnTo>
                <a:close/>
              </a:path>
            </a:pathLst>
          </a:custGeom>
          <a:blipFill>
            <a:blip r:embed="rId5"/>
            <a:stretch>
              <a:fillRect l="0" t="0" r="0" b="0"/>
            </a:stretch>
          </a:blipFill>
        </p:spPr>
      </p:sp>
      <p:sp>
        <p:nvSpPr>
          <p:cNvPr name="TextBox 6" id="6"/>
          <p:cNvSpPr txBox="true"/>
          <p:nvPr/>
        </p:nvSpPr>
        <p:spPr>
          <a:xfrm rot="0">
            <a:off x="-583130" y="260521"/>
            <a:ext cx="18871130" cy="695959"/>
          </a:xfrm>
          <a:prstGeom prst="rect">
            <a:avLst/>
          </a:prstGeom>
        </p:spPr>
        <p:txBody>
          <a:bodyPr anchor="t" rtlCol="false" tIns="0" lIns="0" bIns="0" rIns="0">
            <a:spAutoFit/>
          </a:bodyPr>
          <a:lstStyle/>
          <a:p>
            <a:pPr algn="ctr">
              <a:lnSpc>
                <a:spcPts val="5740"/>
              </a:lnSpc>
            </a:pPr>
            <a:r>
              <a:rPr lang="en-US" sz="4100" b="true">
                <a:solidFill>
                  <a:srgbClr val="FFFFFF"/>
                </a:solidFill>
                <a:latin typeface="Noto Sans Bold"/>
                <a:ea typeface="Noto Sans Bold"/>
                <a:cs typeface="Noto Sans Bold"/>
                <a:sym typeface="Noto Sans Bold"/>
              </a:rPr>
              <a:t> KẾT QUẢ NGHIÊN CỨU</a:t>
            </a:r>
          </a:p>
        </p:txBody>
      </p:sp>
      <p:grpSp>
        <p:nvGrpSpPr>
          <p:cNvPr name="Group 7" id="7"/>
          <p:cNvGrpSpPr/>
          <p:nvPr/>
        </p:nvGrpSpPr>
        <p:grpSpPr>
          <a:xfrm rot="0">
            <a:off x="-79474" y="1161875"/>
            <a:ext cx="10282882" cy="5029726"/>
            <a:chOff x="0" y="0"/>
            <a:chExt cx="1153636" cy="564285"/>
          </a:xfrm>
        </p:grpSpPr>
        <p:sp>
          <p:nvSpPr>
            <p:cNvPr name="Freeform 8" id="8"/>
            <p:cNvSpPr/>
            <p:nvPr/>
          </p:nvSpPr>
          <p:spPr>
            <a:xfrm flipH="false" flipV="false" rot="0">
              <a:off x="0" y="0"/>
              <a:ext cx="1153636" cy="564285"/>
            </a:xfrm>
            <a:custGeom>
              <a:avLst/>
              <a:gdLst/>
              <a:ahLst/>
              <a:cxnLst/>
              <a:rect r="r" b="b" t="t" l="l"/>
              <a:pathLst>
                <a:path h="564285" w="1153636">
                  <a:moveTo>
                    <a:pt x="18822" y="0"/>
                  </a:moveTo>
                  <a:lnTo>
                    <a:pt x="1134814" y="0"/>
                  </a:lnTo>
                  <a:cubicBezTo>
                    <a:pt x="1145209" y="0"/>
                    <a:pt x="1153636" y="8427"/>
                    <a:pt x="1153636" y="18822"/>
                  </a:cubicBezTo>
                  <a:lnTo>
                    <a:pt x="1153636" y="545462"/>
                  </a:lnTo>
                  <a:cubicBezTo>
                    <a:pt x="1153636" y="555858"/>
                    <a:pt x="1145209" y="564285"/>
                    <a:pt x="1134814" y="564285"/>
                  </a:cubicBezTo>
                  <a:lnTo>
                    <a:pt x="18822" y="564285"/>
                  </a:lnTo>
                  <a:cubicBezTo>
                    <a:pt x="8427" y="564285"/>
                    <a:pt x="0" y="555858"/>
                    <a:pt x="0" y="545462"/>
                  </a:cubicBezTo>
                  <a:lnTo>
                    <a:pt x="0" y="18822"/>
                  </a:lnTo>
                  <a:cubicBezTo>
                    <a:pt x="0" y="8427"/>
                    <a:pt x="8427" y="0"/>
                    <a:pt x="18822" y="0"/>
                  </a:cubicBezTo>
                  <a:close/>
                </a:path>
              </a:pathLst>
            </a:custGeom>
            <a:gradFill rotWithShape="true">
              <a:gsLst>
                <a:gs pos="0">
                  <a:srgbClr val="31A1D4">
                    <a:alpha val="47000"/>
                  </a:srgbClr>
                </a:gs>
                <a:gs pos="100000">
                  <a:srgbClr val="035E8E">
                    <a:alpha val="0"/>
                  </a:srgbClr>
                </a:gs>
              </a:gsLst>
              <a:lin ang="2700000"/>
            </a:gradFill>
          </p:spPr>
        </p:sp>
        <p:sp>
          <p:nvSpPr>
            <p:cNvPr name="TextBox 9" id="9"/>
            <p:cNvSpPr txBox="true"/>
            <p:nvPr/>
          </p:nvSpPr>
          <p:spPr>
            <a:xfrm>
              <a:off x="0" y="-57150"/>
              <a:ext cx="1153636" cy="621435"/>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10" id="10"/>
          <p:cNvSpPr txBox="true"/>
          <p:nvPr/>
        </p:nvSpPr>
        <p:spPr>
          <a:xfrm rot="0">
            <a:off x="86530" y="1060900"/>
            <a:ext cx="9855432" cy="5019415"/>
          </a:xfrm>
          <a:prstGeom prst="rect">
            <a:avLst/>
          </a:prstGeom>
        </p:spPr>
        <p:txBody>
          <a:bodyPr anchor="t" rtlCol="false" tIns="0" lIns="0" bIns="0" rIns="0">
            <a:spAutoFit/>
          </a:bodyPr>
          <a:lstStyle/>
          <a:p>
            <a:pPr algn="just" marL="456750" indent="-228375" lvl="1">
              <a:lnSpc>
                <a:spcPts val="4040"/>
              </a:lnSpc>
              <a:buFont typeface="Arial"/>
              <a:buChar char="•"/>
            </a:pPr>
            <a:r>
              <a:rPr lang="en-US" sz="2115">
                <a:solidFill>
                  <a:srgbClr val="FFFFFF"/>
                </a:solidFill>
                <a:latin typeface="Times New Roman"/>
                <a:ea typeface="Times New Roman"/>
                <a:cs typeface="Times New Roman"/>
                <a:sym typeface="Times New Roman"/>
              </a:rPr>
              <a:t>Dashboard hiển thị tổng quan công việc: số task cần làm, đang làm, đã xong biểu đồ phân bố trạng thái và phân tích theo danh mục phần "Phân </a:t>
            </a:r>
            <a:r>
              <a:rPr lang="en-US" sz="2115">
                <a:solidFill>
                  <a:srgbClr val="FFFFFF"/>
                </a:solidFill>
                <a:latin typeface="Times New Roman"/>
                <a:ea typeface="Times New Roman"/>
                <a:cs typeface="Times New Roman"/>
                <a:sym typeface="Times New Roman"/>
              </a:rPr>
              <a:t>Tích Hiệu Suất" thể hiện xu hướng 7 ngày qua và ngày trì hoãn  sidebar trái hiển thị thông tin người dùng, cấp độ, XP và menu điều hướng 10 trang.</a:t>
            </a:r>
          </a:p>
          <a:p>
            <a:pPr algn="just" marL="456750" indent="-228375" lvl="1">
              <a:lnSpc>
                <a:spcPts val="4040"/>
              </a:lnSpc>
              <a:buFont typeface="Arial"/>
              <a:buChar char="•"/>
            </a:pPr>
            <a:r>
              <a:rPr lang="en-US" sz="2115">
                <a:solidFill>
                  <a:srgbClr val="FFFFFF"/>
                </a:solidFill>
                <a:latin typeface="Times New Roman"/>
                <a:ea typeface="Times New Roman"/>
                <a:cs typeface="Times New Roman"/>
                <a:sym typeface="Times New Roman"/>
              </a:rPr>
              <a:t>Trang "Dự án cá nhân" cho phép tạo và quản lý nhóm công việc lớn  mỗi dự án hiển thị tên, số công việc, tỷ lệ hoàn thành nút "+ Dự án mới" tạo dự án nhanh  click "Xem chi tiết" vào bên trong để quản lý task con.</a:t>
            </a:r>
          </a:p>
          <a:p>
            <a:pPr algn="just" marL="456750" indent="-228375" lvl="1">
              <a:lnSpc>
                <a:spcPts val="4040"/>
              </a:lnSpc>
              <a:buFont typeface="Arial"/>
              <a:buChar char="•"/>
            </a:pPr>
            <a:r>
              <a:rPr lang="en-US" sz="2115">
                <a:solidFill>
                  <a:srgbClr val="FFFFFF"/>
                </a:solidFill>
                <a:latin typeface="Times New Roman"/>
                <a:ea typeface="Times New Roman"/>
                <a:cs typeface="Times New Roman"/>
                <a:sym typeface="Times New Roman"/>
              </a:rPr>
              <a:t>Trang "Nhiệm vụ" quản lý danh sách công việc cá nhân  bộ lọc: Tất cả, Chưa làm, Đang làm, Hoàn thành, Quá hạn  mỗi task hiển thị tên, mức ưu tiên, danh mục, loại nút “+ Tạo Nhiệm Vụ" thêm task mới  bộ lọc phải: Ưu tiên, Danh mục, Sắp xếp.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24631" r="-124631" b="0"/>
            </a:stretch>
          </a:blipFill>
        </p:spPr>
      </p:sp>
      <p:sp>
        <p:nvSpPr>
          <p:cNvPr name="Freeform 3" id="3"/>
          <p:cNvSpPr/>
          <p:nvPr/>
        </p:nvSpPr>
        <p:spPr>
          <a:xfrm flipH="false" flipV="false" rot="0">
            <a:off x="10100470" y="1782001"/>
            <a:ext cx="7797128" cy="3562313"/>
          </a:xfrm>
          <a:custGeom>
            <a:avLst/>
            <a:gdLst/>
            <a:ahLst/>
            <a:cxnLst/>
            <a:rect r="r" b="b" t="t" l="l"/>
            <a:pathLst>
              <a:path h="3562313" w="7797128">
                <a:moveTo>
                  <a:pt x="0" y="0"/>
                </a:moveTo>
                <a:lnTo>
                  <a:pt x="7797128" y="0"/>
                </a:lnTo>
                <a:lnTo>
                  <a:pt x="7797128" y="3562313"/>
                </a:lnTo>
                <a:lnTo>
                  <a:pt x="0" y="3562313"/>
                </a:lnTo>
                <a:lnTo>
                  <a:pt x="0" y="0"/>
                </a:lnTo>
                <a:close/>
              </a:path>
            </a:pathLst>
          </a:custGeom>
          <a:blipFill>
            <a:blip r:embed="rId3"/>
            <a:stretch>
              <a:fillRect l="0" t="0" r="0" b="0"/>
            </a:stretch>
          </a:blipFill>
        </p:spPr>
      </p:sp>
      <p:sp>
        <p:nvSpPr>
          <p:cNvPr name="Freeform 4" id="4"/>
          <p:cNvSpPr/>
          <p:nvPr/>
        </p:nvSpPr>
        <p:spPr>
          <a:xfrm flipH="false" flipV="false" rot="0">
            <a:off x="10100470" y="6454617"/>
            <a:ext cx="7797128" cy="3567186"/>
          </a:xfrm>
          <a:custGeom>
            <a:avLst/>
            <a:gdLst/>
            <a:ahLst/>
            <a:cxnLst/>
            <a:rect r="r" b="b" t="t" l="l"/>
            <a:pathLst>
              <a:path h="3567186" w="7797128">
                <a:moveTo>
                  <a:pt x="0" y="0"/>
                </a:moveTo>
                <a:lnTo>
                  <a:pt x="7797128" y="0"/>
                </a:lnTo>
                <a:lnTo>
                  <a:pt x="7797128" y="3567186"/>
                </a:lnTo>
                <a:lnTo>
                  <a:pt x="0" y="3567186"/>
                </a:lnTo>
                <a:lnTo>
                  <a:pt x="0" y="0"/>
                </a:lnTo>
                <a:close/>
              </a:path>
            </a:pathLst>
          </a:custGeom>
          <a:blipFill>
            <a:blip r:embed="rId4"/>
            <a:stretch>
              <a:fillRect l="0" t="0" r="0" b="0"/>
            </a:stretch>
          </a:blipFill>
        </p:spPr>
      </p:sp>
      <p:sp>
        <p:nvSpPr>
          <p:cNvPr name="Freeform 5" id="5"/>
          <p:cNvSpPr/>
          <p:nvPr/>
        </p:nvSpPr>
        <p:spPr>
          <a:xfrm flipH="false" flipV="false" rot="0">
            <a:off x="1028700" y="6454617"/>
            <a:ext cx="8153375" cy="3567186"/>
          </a:xfrm>
          <a:custGeom>
            <a:avLst/>
            <a:gdLst/>
            <a:ahLst/>
            <a:cxnLst/>
            <a:rect r="r" b="b" t="t" l="l"/>
            <a:pathLst>
              <a:path h="3567186" w="8153375">
                <a:moveTo>
                  <a:pt x="0" y="0"/>
                </a:moveTo>
                <a:lnTo>
                  <a:pt x="8153375" y="0"/>
                </a:lnTo>
                <a:lnTo>
                  <a:pt x="8153375" y="3567186"/>
                </a:lnTo>
                <a:lnTo>
                  <a:pt x="0" y="3567186"/>
                </a:lnTo>
                <a:lnTo>
                  <a:pt x="0" y="0"/>
                </a:lnTo>
                <a:close/>
              </a:path>
            </a:pathLst>
          </a:custGeom>
          <a:blipFill>
            <a:blip r:embed="rId5"/>
            <a:stretch>
              <a:fillRect l="0" t="0" r="0" b="-3997"/>
            </a:stretch>
          </a:blipFill>
        </p:spPr>
      </p:sp>
      <p:sp>
        <p:nvSpPr>
          <p:cNvPr name="TextBox 6" id="6"/>
          <p:cNvSpPr txBox="true"/>
          <p:nvPr/>
        </p:nvSpPr>
        <p:spPr>
          <a:xfrm rot="0">
            <a:off x="-448562" y="265891"/>
            <a:ext cx="18871130" cy="695959"/>
          </a:xfrm>
          <a:prstGeom prst="rect">
            <a:avLst/>
          </a:prstGeom>
        </p:spPr>
        <p:txBody>
          <a:bodyPr anchor="t" rtlCol="false" tIns="0" lIns="0" bIns="0" rIns="0">
            <a:spAutoFit/>
          </a:bodyPr>
          <a:lstStyle/>
          <a:p>
            <a:pPr algn="ctr">
              <a:lnSpc>
                <a:spcPts val="5740"/>
              </a:lnSpc>
            </a:pPr>
            <a:r>
              <a:rPr lang="en-US" sz="4100" b="true">
                <a:solidFill>
                  <a:srgbClr val="FFFFFF"/>
                </a:solidFill>
                <a:latin typeface="Noto Sans Bold"/>
                <a:ea typeface="Noto Sans Bold"/>
                <a:cs typeface="Noto Sans Bold"/>
                <a:sym typeface="Noto Sans Bold"/>
              </a:rPr>
              <a:t> KẾT QUẢ NGHIÊN CỨU</a:t>
            </a:r>
          </a:p>
        </p:txBody>
      </p:sp>
      <p:grpSp>
        <p:nvGrpSpPr>
          <p:cNvPr name="Group 7" id="7"/>
          <p:cNvGrpSpPr/>
          <p:nvPr/>
        </p:nvGrpSpPr>
        <p:grpSpPr>
          <a:xfrm rot="0">
            <a:off x="-916790" y="1161875"/>
            <a:ext cx="10647023" cy="5150870"/>
            <a:chOff x="0" y="0"/>
            <a:chExt cx="1194489" cy="577876"/>
          </a:xfrm>
        </p:grpSpPr>
        <p:sp>
          <p:nvSpPr>
            <p:cNvPr name="Freeform 8" id="8"/>
            <p:cNvSpPr/>
            <p:nvPr/>
          </p:nvSpPr>
          <p:spPr>
            <a:xfrm flipH="false" flipV="false" rot="0">
              <a:off x="0" y="0"/>
              <a:ext cx="1194489" cy="577876"/>
            </a:xfrm>
            <a:custGeom>
              <a:avLst/>
              <a:gdLst/>
              <a:ahLst/>
              <a:cxnLst/>
              <a:rect r="r" b="b" t="t" l="l"/>
              <a:pathLst>
                <a:path h="577876" w="1194489">
                  <a:moveTo>
                    <a:pt x="18179" y="0"/>
                  </a:moveTo>
                  <a:lnTo>
                    <a:pt x="1176310" y="0"/>
                  </a:lnTo>
                  <a:cubicBezTo>
                    <a:pt x="1181131" y="0"/>
                    <a:pt x="1185755" y="1915"/>
                    <a:pt x="1189164" y="5324"/>
                  </a:cubicBezTo>
                  <a:cubicBezTo>
                    <a:pt x="1192574" y="8734"/>
                    <a:pt x="1194489" y="13357"/>
                    <a:pt x="1194489" y="18179"/>
                  </a:cubicBezTo>
                  <a:lnTo>
                    <a:pt x="1194489" y="559697"/>
                  </a:lnTo>
                  <a:cubicBezTo>
                    <a:pt x="1194489" y="569737"/>
                    <a:pt x="1186350" y="577876"/>
                    <a:pt x="1176310" y="577876"/>
                  </a:cubicBezTo>
                  <a:lnTo>
                    <a:pt x="18179" y="577876"/>
                  </a:lnTo>
                  <a:cubicBezTo>
                    <a:pt x="13357" y="577876"/>
                    <a:pt x="8734" y="575960"/>
                    <a:pt x="5324" y="572551"/>
                  </a:cubicBezTo>
                  <a:cubicBezTo>
                    <a:pt x="1915" y="569142"/>
                    <a:pt x="0" y="564518"/>
                    <a:pt x="0" y="559697"/>
                  </a:cubicBezTo>
                  <a:lnTo>
                    <a:pt x="0" y="18179"/>
                  </a:lnTo>
                  <a:cubicBezTo>
                    <a:pt x="0" y="8139"/>
                    <a:pt x="8139" y="0"/>
                    <a:pt x="18179" y="0"/>
                  </a:cubicBezTo>
                  <a:close/>
                </a:path>
              </a:pathLst>
            </a:custGeom>
            <a:gradFill rotWithShape="true">
              <a:gsLst>
                <a:gs pos="0">
                  <a:srgbClr val="31A1D4">
                    <a:alpha val="47000"/>
                  </a:srgbClr>
                </a:gs>
                <a:gs pos="100000">
                  <a:srgbClr val="035E8E">
                    <a:alpha val="0"/>
                  </a:srgbClr>
                </a:gs>
              </a:gsLst>
              <a:lin ang="2700000"/>
            </a:gradFill>
          </p:spPr>
        </p:sp>
        <p:sp>
          <p:nvSpPr>
            <p:cNvPr name="TextBox 9" id="9"/>
            <p:cNvSpPr txBox="true"/>
            <p:nvPr/>
          </p:nvSpPr>
          <p:spPr>
            <a:xfrm>
              <a:off x="0" y="-57150"/>
              <a:ext cx="1194489" cy="635026"/>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TextBox 10" id="10"/>
          <p:cNvSpPr txBox="true"/>
          <p:nvPr/>
        </p:nvSpPr>
        <p:spPr>
          <a:xfrm rot="0">
            <a:off x="-98746" y="1148756"/>
            <a:ext cx="9694411" cy="5109821"/>
          </a:xfrm>
          <a:prstGeom prst="rect">
            <a:avLst/>
          </a:prstGeom>
        </p:spPr>
        <p:txBody>
          <a:bodyPr anchor="t" rtlCol="false" tIns="0" lIns="0" bIns="0" rIns="0">
            <a:spAutoFit/>
          </a:bodyPr>
          <a:lstStyle/>
          <a:p>
            <a:pPr algn="l" marL="472141" indent="-236070" lvl="1">
              <a:lnSpc>
                <a:spcPts val="4089"/>
              </a:lnSpc>
              <a:buFont typeface="Arial"/>
              <a:buChar char="•"/>
            </a:pPr>
            <a:r>
              <a:rPr lang="en-US" sz="2186">
                <a:solidFill>
                  <a:srgbClr val="FFFFFF"/>
                </a:solidFill>
                <a:latin typeface="Times New Roman"/>
                <a:ea typeface="Times New Roman"/>
                <a:cs typeface="Times New Roman"/>
                <a:sym typeface="Times New Roman"/>
              </a:rPr>
              <a:t>Trang "Lịch tự học &amp; lịch thi" h</a:t>
            </a:r>
            <a:r>
              <a:rPr lang="en-US" sz="2186">
                <a:solidFill>
                  <a:srgbClr val="FFFFFF"/>
                </a:solidFill>
                <a:latin typeface="Times New Roman"/>
                <a:ea typeface="Times New Roman"/>
                <a:cs typeface="Times New Roman"/>
                <a:sym typeface="Times New Roman"/>
              </a:rPr>
              <a:t>iển thị lịch tháng theo dõi thời hạn task và ngày thi, màu sắc phân loại cần làm, đang làm, hoàn thành, trễ hạn, nút "Xuất File Lịch (.ics)" tải về Google Calendar, mũi tên chuyển tháng, nút "Hôm nay" quay về ngày hiện tại.</a:t>
            </a:r>
          </a:p>
          <a:p>
            <a:pPr algn="l" marL="472141" indent="-236070" lvl="1">
              <a:lnSpc>
                <a:spcPts val="4089"/>
              </a:lnSpc>
              <a:buFont typeface="Arial"/>
              <a:buChar char="•"/>
            </a:pPr>
            <a:r>
              <a:rPr lang="en-US" sz="2186">
                <a:solidFill>
                  <a:srgbClr val="FFFFFF"/>
                </a:solidFill>
                <a:latin typeface="Times New Roman"/>
                <a:ea typeface="Times New Roman"/>
                <a:cs typeface="Times New Roman"/>
                <a:sym typeface="Times New Roman"/>
              </a:rPr>
              <a:t>Trang "Ghi chú nhanh" quản lý ý tưởng và nội dung học tập, thanh tìm kiếm theo tiêu đề hoặc nội dung, nút "Viết Ghi Chú Mới" tạo ghi chú, nút "Ôn Tập AI Quiz" chuyển ghi chú thành câu hỏi trắc nghiệm tự động bằng AI Google Gemini.</a:t>
            </a:r>
          </a:p>
          <a:p>
            <a:pPr algn="l" marL="472141" indent="-236070" lvl="1">
              <a:lnSpc>
                <a:spcPts val="4089"/>
              </a:lnSpc>
              <a:buFont typeface="Arial"/>
              <a:buChar char="•"/>
            </a:pPr>
            <a:r>
              <a:rPr lang="en-US" sz="2186">
                <a:solidFill>
                  <a:srgbClr val="FFFFFF"/>
                </a:solidFill>
                <a:latin typeface="Times New Roman"/>
                <a:ea typeface="Times New Roman"/>
                <a:cs typeface="Times New Roman"/>
                <a:sym typeface="Times New Roman"/>
              </a:rPr>
              <a:t>Trang "Mục tiêu &amp; Kế hoạch" thiết lập mục tiêu theo phương pháp OKR, đặt mục tiêu, đo lường tiến độ bằng chỉ số then chốt và liên kết với nhiệm vụ, nút "+ Kế hoạch mới" tạo kế hoạch đầu tiên, hiển thị thông báo khi chưa có kế hoạch nào.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24631" r="-124631" b="0"/>
            </a:stretch>
          </a:blipFill>
        </p:spPr>
      </p:sp>
      <p:grpSp>
        <p:nvGrpSpPr>
          <p:cNvPr name="Group 3" id="3"/>
          <p:cNvGrpSpPr/>
          <p:nvPr/>
        </p:nvGrpSpPr>
        <p:grpSpPr>
          <a:xfrm rot="0">
            <a:off x="-916790" y="1161875"/>
            <a:ext cx="10647023" cy="5150870"/>
            <a:chOff x="0" y="0"/>
            <a:chExt cx="1194489" cy="577876"/>
          </a:xfrm>
        </p:grpSpPr>
        <p:sp>
          <p:nvSpPr>
            <p:cNvPr name="Freeform 4" id="4"/>
            <p:cNvSpPr/>
            <p:nvPr/>
          </p:nvSpPr>
          <p:spPr>
            <a:xfrm flipH="false" flipV="false" rot="0">
              <a:off x="0" y="0"/>
              <a:ext cx="1194489" cy="577876"/>
            </a:xfrm>
            <a:custGeom>
              <a:avLst/>
              <a:gdLst/>
              <a:ahLst/>
              <a:cxnLst/>
              <a:rect r="r" b="b" t="t" l="l"/>
              <a:pathLst>
                <a:path h="577876" w="1194489">
                  <a:moveTo>
                    <a:pt x="18179" y="0"/>
                  </a:moveTo>
                  <a:lnTo>
                    <a:pt x="1176310" y="0"/>
                  </a:lnTo>
                  <a:cubicBezTo>
                    <a:pt x="1181131" y="0"/>
                    <a:pt x="1185755" y="1915"/>
                    <a:pt x="1189164" y="5324"/>
                  </a:cubicBezTo>
                  <a:cubicBezTo>
                    <a:pt x="1192574" y="8734"/>
                    <a:pt x="1194489" y="13357"/>
                    <a:pt x="1194489" y="18179"/>
                  </a:cubicBezTo>
                  <a:lnTo>
                    <a:pt x="1194489" y="559697"/>
                  </a:lnTo>
                  <a:cubicBezTo>
                    <a:pt x="1194489" y="569737"/>
                    <a:pt x="1186350" y="577876"/>
                    <a:pt x="1176310" y="577876"/>
                  </a:cubicBezTo>
                  <a:lnTo>
                    <a:pt x="18179" y="577876"/>
                  </a:lnTo>
                  <a:cubicBezTo>
                    <a:pt x="13357" y="577876"/>
                    <a:pt x="8734" y="575960"/>
                    <a:pt x="5324" y="572551"/>
                  </a:cubicBezTo>
                  <a:cubicBezTo>
                    <a:pt x="1915" y="569142"/>
                    <a:pt x="0" y="564518"/>
                    <a:pt x="0" y="559697"/>
                  </a:cubicBezTo>
                  <a:lnTo>
                    <a:pt x="0" y="18179"/>
                  </a:lnTo>
                  <a:cubicBezTo>
                    <a:pt x="0" y="8139"/>
                    <a:pt x="8139" y="0"/>
                    <a:pt x="18179" y="0"/>
                  </a:cubicBezTo>
                  <a:close/>
                </a:path>
              </a:pathLst>
            </a:custGeom>
            <a:gradFill rotWithShape="true">
              <a:gsLst>
                <a:gs pos="0">
                  <a:srgbClr val="31A1D4">
                    <a:alpha val="47000"/>
                  </a:srgbClr>
                </a:gs>
                <a:gs pos="100000">
                  <a:srgbClr val="035E8E">
                    <a:alpha val="0"/>
                  </a:srgbClr>
                </a:gs>
              </a:gsLst>
              <a:lin ang="2700000"/>
            </a:gradFill>
          </p:spPr>
        </p:sp>
        <p:sp>
          <p:nvSpPr>
            <p:cNvPr name="TextBox 5" id="5"/>
            <p:cNvSpPr txBox="true"/>
            <p:nvPr/>
          </p:nvSpPr>
          <p:spPr>
            <a:xfrm>
              <a:off x="0" y="-57150"/>
              <a:ext cx="1194489" cy="635026"/>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Freeform 6" id="6"/>
          <p:cNvSpPr/>
          <p:nvPr/>
        </p:nvSpPr>
        <p:spPr>
          <a:xfrm flipH="false" flipV="false" rot="0">
            <a:off x="362275" y="6482858"/>
            <a:ext cx="7941362" cy="3613320"/>
          </a:xfrm>
          <a:custGeom>
            <a:avLst/>
            <a:gdLst/>
            <a:ahLst/>
            <a:cxnLst/>
            <a:rect r="r" b="b" t="t" l="l"/>
            <a:pathLst>
              <a:path h="3613320" w="7941362">
                <a:moveTo>
                  <a:pt x="0" y="0"/>
                </a:moveTo>
                <a:lnTo>
                  <a:pt x="7941362" y="0"/>
                </a:lnTo>
                <a:lnTo>
                  <a:pt x="7941362" y="3613320"/>
                </a:lnTo>
                <a:lnTo>
                  <a:pt x="0" y="3613320"/>
                </a:lnTo>
                <a:lnTo>
                  <a:pt x="0" y="0"/>
                </a:lnTo>
                <a:close/>
              </a:path>
            </a:pathLst>
          </a:custGeom>
          <a:blipFill>
            <a:blip r:embed="rId3"/>
            <a:stretch>
              <a:fillRect l="0" t="0" r="0" b="0"/>
            </a:stretch>
          </a:blipFill>
        </p:spPr>
      </p:sp>
      <p:sp>
        <p:nvSpPr>
          <p:cNvPr name="Freeform 7" id="7"/>
          <p:cNvSpPr/>
          <p:nvPr/>
        </p:nvSpPr>
        <p:spPr>
          <a:xfrm flipH="false" flipV="false" rot="0">
            <a:off x="9868584" y="1463841"/>
            <a:ext cx="8087163" cy="3679659"/>
          </a:xfrm>
          <a:custGeom>
            <a:avLst/>
            <a:gdLst/>
            <a:ahLst/>
            <a:cxnLst/>
            <a:rect r="r" b="b" t="t" l="l"/>
            <a:pathLst>
              <a:path h="3679659" w="8087163">
                <a:moveTo>
                  <a:pt x="0" y="0"/>
                </a:moveTo>
                <a:lnTo>
                  <a:pt x="8087163" y="0"/>
                </a:lnTo>
                <a:lnTo>
                  <a:pt x="8087163" y="3679659"/>
                </a:lnTo>
                <a:lnTo>
                  <a:pt x="0" y="3679659"/>
                </a:lnTo>
                <a:lnTo>
                  <a:pt x="0" y="0"/>
                </a:lnTo>
                <a:close/>
              </a:path>
            </a:pathLst>
          </a:custGeom>
          <a:blipFill>
            <a:blip r:embed="rId4"/>
            <a:stretch>
              <a:fillRect l="0" t="0" r="0" b="0"/>
            </a:stretch>
          </a:blipFill>
        </p:spPr>
      </p:sp>
      <p:sp>
        <p:nvSpPr>
          <p:cNvPr name="Freeform 8" id="8"/>
          <p:cNvSpPr/>
          <p:nvPr/>
        </p:nvSpPr>
        <p:spPr>
          <a:xfrm flipH="false" flipV="false" rot="0">
            <a:off x="9868584" y="6454368"/>
            <a:ext cx="8070492" cy="3641809"/>
          </a:xfrm>
          <a:custGeom>
            <a:avLst/>
            <a:gdLst/>
            <a:ahLst/>
            <a:cxnLst/>
            <a:rect r="r" b="b" t="t" l="l"/>
            <a:pathLst>
              <a:path h="3641809" w="8070492">
                <a:moveTo>
                  <a:pt x="0" y="0"/>
                </a:moveTo>
                <a:lnTo>
                  <a:pt x="8070492" y="0"/>
                </a:lnTo>
                <a:lnTo>
                  <a:pt x="8070492" y="3641810"/>
                </a:lnTo>
                <a:lnTo>
                  <a:pt x="0" y="3641810"/>
                </a:lnTo>
                <a:lnTo>
                  <a:pt x="0" y="0"/>
                </a:lnTo>
                <a:close/>
              </a:path>
            </a:pathLst>
          </a:custGeom>
          <a:blipFill>
            <a:blip r:embed="rId5"/>
            <a:stretch>
              <a:fillRect l="0" t="0" r="0" b="0"/>
            </a:stretch>
          </a:blipFill>
        </p:spPr>
      </p:sp>
      <p:sp>
        <p:nvSpPr>
          <p:cNvPr name="TextBox 9" id="9"/>
          <p:cNvSpPr txBox="true"/>
          <p:nvPr/>
        </p:nvSpPr>
        <p:spPr>
          <a:xfrm rot="0">
            <a:off x="-448562" y="265891"/>
            <a:ext cx="18871130" cy="695959"/>
          </a:xfrm>
          <a:prstGeom prst="rect">
            <a:avLst/>
          </a:prstGeom>
        </p:spPr>
        <p:txBody>
          <a:bodyPr anchor="t" rtlCol="false" tIns="0" lIns="0" bIns="0" rIns="0">
            <a:spAutoFit/>
          </a:bodyPr>
          <a:lstStyle/>
          <a:p>
            <a:pPr algn="ctr">
              <a:lnSpc>
                <a:spcPts val="5740"/>
              </a:lnSpc>
            </a:pPr>
            <a:r>
              <a:rPr lang="en-US" sz="4100" b="true">
                <a:solidFill>
                  <a:srgbClr val="FFFFFF"/>
                </a:solidFill>
                <a:latin typeface="Noto Sans Bold"/>
                <a:ea typeface="Noto Sans Bold"/>
                <a:cs typeface="Noto Sans Bold"/>
                <a:sym typeface="Noto Sans Bold"/>
              </a:rPr>
              <a:t> KẾT QUẢ NGHIÊN CỨU</a:t>
            </a:r>
          </a:p>
        </p:txBody>
      </p:sp>
      <p:sp>
        <p:nvSpPr>
          <p:cNvPr name="TextBox 10" id="10"/>
          <p:cNvSpPr txBox="true"/>
          <p:nvPr/>
        </p:nvSpPr>
        <p:spPr>
          <a:xfrm rot="0">
            <a:off x="-98746" y="1082081"/>
            <a:ext cx="9828979" cy="5170762"/>
          </a:xfrm>
          <a:prstGeom prst="rect">
            <a:avLst/>
          </a:prstGeom>
        </p:spPr>
        <p:txBody>
          <a:bodyPr anchor="t" rtlCol="false" tIns="0" lIns="0" bIns="0" rIns="0">
            <a:spAutoFit/>
          </a:bodyPr>
          <a:lstStyle/>
          <a:p>
            <a:pPr algn="l" marL="432858" indent="-216429" lvl="1">
              <a:lnSpc>
                <a:spcPts val="4591"/>
              </a:lnSpc>
              <a:buFont typeface="Arial"/>
              <a:buChar char="•"/>
            </a:pPr>
            <a:r>
              <a:rPr lang="en-US" sz="2004">
                <a:solidFill>
                  <a:srgbClr val="FFFFFF"/>
                </a:solidFill>
                <a:latin typeface="Times New Roman"/>
                <a:ea typeface="Times New Roman"/>
                <a:cs typeface="Times New Roman"/>
                <a:sym typeface="Times New Roman"/>
              </a:rPr>
              <a:t>Trang "Dashboard quản trị" h</a:t>
            </a:r>
            <a:r>
              <a:rPr lang="en-US" sz="2004">
                <a:solidFill>
                  <a:srgbClr val="FFFFFF"/>
                </a:solidFill>
                <a:latin typeface="Times New Roman"/>
                <a:ea typeface="Times New Roman"/>
                <a:cs typeface="Times New Roman"/>
                <a:sym typeface="Times New Roman"/>
              </a:rPr>
              <a:t>iển thị tổng quan hệ thống: 7 người dùng, 14 công việc, 10 đang hoạt động, 3 hoàn thành, 1 quá hạn  biểu đồ xu hướng 30 ngày, phân bố theo danh mục, trạng thái công việc, top người dùng tích cực nút "Xuất dữ liệu" tải báo cáo.</a:t>
            </a:r>
          </a:p>
          <a:p>
            <a:pPr algn="l" marL="432858" indent="-216429" lvl="1">
              <a:lnSpc>
                <a:spcPts val="4591"/>
              </a:lnSpc>
              <a:buFont typeface="Arial"/>
              <a:buChar char="•"/>
            </a:pPr>
            <a:r>
              <a:rPr lang="en-US" sz="2004">
                <a:solidFill>
                  <a:srgbClr val="FFFFFF"/>
                </a:solidFill>
                <a:latin typeface="Times New Roman"/>
                <a:ea typeface="Times New Roman"/>
                <a:cs typeface="Times New Roman"/>
                <a:sym typeface="Times New Roman"/>
              </a:rPr>
              <a:t>Trang "Phân Tích &amp; Báo Cáo" theo dõi xu hướng, phân tích năng suất AI, lộ trình Gantt và nhắc nhock deadline  bộ lọc 7 ngày, 30 ngày, 12 tháng phần "Phân tích năng suất AI" đánh giá tổng quan và gợi ý cải thiện dựa trên dữ liệu thực tế  nút "Xuất PDF" tải báo cáo.</a:t>
            </a:r>
          </a:p>
          <a:p>
            <a:pPr algn="l" marL="432858" indent="-216429" lvl="1">
              <a:lnSpc>
                <a:spcPts val="4591"/>
              </a:lnSpc>
              <a:buFont typeface="Arial"/>
              <a:buChar char="•"/>
            </a:pPr>
            <a:r>
              <a:rPr lang="en-US" sz="2004">
                <a:solidFill>
                  <a:srgbClr val="FFFFFF"/>
                </a:solidFill>
                <a:latin typeface="Times New Roman"/>
                <a:ea typeface="Times New Roman"/>
                <a:cs typeface="Times New Roman"/>
                <a:sym typeface="Times New Roman"/>
              </a:rPr>
              <a:t>Trang "Hồ Sơ Cá Nhân" quản lý thông tin tài khoản: tên, email, mật khẩu thống kê: tổng task, hoàn thành, đang làm, quá hạn —vòng tròn hiệu suất nút "Lưu Thay Đổi" cập nhật thông tin  nút "Đăng xuất"  hiển thị "Bảng nhiệt &amp; Đóng góp" theo dõi hoạt động 365 ngày.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1C37"/>
        </a:solidFill>
      </p:bgPr>
    </p:bg>
    <p:spTree>
      <p:nvGrpSpPr>
        <p:cNvPr id="1" name=""/>
        <p:cNvGrpSpPr/>
        <p:nvPr/>
      </p:nvGrpSpPr>
      <p:grpSpPr>
        <a:xfrm>
          <a:off x="0" y="0"/>
          <a:ext cx="0" cy="0"/>
          <a:chOff x="0" y="0"/>
          <a:chExt cx="0" cy="0"/>
        </a:xfrm>
      </p:grpSpPr>
      <p:sp>
        <p:nvSpPr>
          <p:cNvPr name="Freeform 2" id="2"/>
          <p:cNvSpPr/>
          <p:nvPr/>
        </p:nvSpPr>
        <p:spPr>
          <a:xfrm flipH="false" flipV="false" rot="0">
            <a:off x="14624161" y="-5579834"/>
            <a:ext cx="9438577" cy="6748583"/>
          </a:xfrm>
          <a:custGeom>
            <a:avLst/>
            <a:gdLst/>
            <a:ahLst/>
            <a:cxnLst/>
            <a:rect r="r" b="b" t="t" l="l"/>
            <a:pathLst>
              <a:path h="6748583" w="9438577">
                <a:moveTo>
                  <a:pt x="0" y="0"/>
                </a:moveTo>
                <a:lnTo>
                  <a:pt x="9438577" y="0"/>
                </a:lnTo>
                <a:lnTo>
                  <a:pt x="9438577"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31519" y="1168749"/>
            <a:ext cx="19050079" cy="8993548"/>
            <a:chOff x="0" y="0"/>
            <a:chExt cx="2137227" cy="1008986"/>
          </a:xfrm>
        </p:grpSpPr>
        <p:sp>
          <p:nvSpPr>
            <p:cNvPr name="Freeform 4" id="4"/>
            <p:cNvSpPr/>
            <p:nvPr/>
          </p:nvSpPr>
          <p:spPr>
            <a:xfrm flipH="false" flipV="false" rot="0">
              <a:off x="0" y="0"/>
              <a:ext cx="2137227" cy="1008986"/>
            </a:xfrm>
            <a:custGeom>
              <a:avLst/>
              <a:gdLst/>
              <a:ahLst/>
              <a:cxnLst/>
              <a:rect r="r" b="b" t="t" l="l"/>
              <a:pathLst>
                <a:path h="1008986" w="2137227">
                  <a:moveTo>
                    <a:pt x="10160" y="0"/>
                  </a:moveTo>
                  <a:lnTo>
                    <a:pt x="2127067" y="0"/>
                  </a:lnTo>
                  <a:cubicBezTo>
                    <a:pt x="2132678" y="0"/>
                    <a:pt x="2137227" y="4549"/>
                    <a:pt x="2137227" y="10160"/>
                  </a:cubicBezTo>
                  <a:lnTo>
                    <a:pt x="2137227" y="998826"/>
                  </a:lnTo>
                  <a:cubicBezTo>
                    <a:pt x="2137227" y="1004437"/>
                    <a:pt x="2132678" y="1008986"/>
                    <a:pt x="2127067" y="1008986"/>
                  </a:cubicBezTo>
                  <a:lnTo>
                    <a:pt x="10160" y="1008986"/>
                  </a:lnTo>
                  <a:cubicBezTo>
                    <a:pt x="4549" y="1008986"/>
                    <a:pt x="0" y="1004437"/>
                    <a:pt x="0" y="998826"/>
                  </a:cubicBezTo>
                  <a:lnTo>
                    <a:pt x="0" y="10160"/>
                  </a:lnTo>
                  <a:cubicBezTo>
                    <a:pt x="0" y="4549"/>
                    <a:pt x="4549" y="0"/>
                    <a:pt x="10160" y="0"/>
                  </a:cubicBezTo>
                  <a:close/>
                </a:path>
              </a:pathLst>
            </a:custGeom>
            <a:gradFill rotWithShape="true">
              <a:gsLst>
                <a:gs pos="0">
                  <a:srgbClr val="31A1D4">
                    <a:alpha val="47000"/>
                  </a:srgbClr>
                </a:gs>
                <a:gs pos="100000">
                  <a:srgbClr val="035E8E">
                    <a:alpha val="0"/>
                  </a:srgbClr>
                </a:gs>
              </a:gsLst>
              <a:lin ang="2700000"/>
            </a:gradFill>
          </p:spPr>
        </p:sp>
        <p:sp>
          <p:nvSpPr>
            <p:cNvPr name="TextBox 5" id="5"/>
            <p:cNvSpPr txBox="true"/>
            <p:nvPr/>
          </p:nvSpPr>
          <p:spPr>
            <a:xfrm>
              <a:off x="0" y="-57150"/>
              <a:ext cx="2137227" cy="1066136"/>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Freeform 6" id="6"/>
          <p:cNvSpPr/>
          <p:nvPr/>
        </p:nvSpPr>
        <p:spPr>
          <a:xfrm flipH="false" flipV="false" rot="0">
            <a:off x="-6577855" y="-4853852"/>
            <a:ext cx="9438577" cy="6748583"/>
          </a:xfrm>
          <a:custGeom>
            <a:avLst/>
            <a:gdLst/>
            <a:ahLst/>
            <a:cxnLst/>
            <a:rect r="r" b="b" t="t" l="l"/>
            <a:pathLst>
              <a:path h="6748583" w="9438577">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081435" y="141605"/>
            <a:ext cx="12424172"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Noto Sans Bold"/>
                <a:ea typeface="Noto Sans Bold"/>
                <a:cs typeface="Noto Sans Bold"/>
                <a:sym typeface="Noto Sans Bold"/>
              </a:rPr>
              <a:t>K</a:t>
            </a:r>
            <a:r>
              <a:rPr lang="en-US" b="true" sz="5199">
                <a:solidFill>
                  <a:srgbClr val="FFFFFF"/>
                </a:solidFill>
                <a:latin typeface="Noto Sans Bold"/>
                <a:ea typeface="Noto Sans Bold"/>
                <a:cs typeface="Noto Sans Bold"/>
                <a:sym typeface="Noto Sans Bold"/>
              </a:rPr>
              <a:t>ết luận và Phương hướng phát triển</a:t>
            </a:r>
          </a:p>
        </p:txBody>
      </p:sp>
      <p:sp>
        <p:nvSpPr>
          <p:cNvPr name="TextBox 8" id="8"/>
          <p:cNvSpPr txBox="true"/>
          <p:nvPr/>
        </p:nvSpPr>
        <p:spPr>
          <a:xfrm rot="0">
            <a:off x="273961" y="1376638"/>
            <a:ext cx="2101155" cy="712469"/>
          </a:xfrm>
          <a:prstGeom prst="rect">
            <a:avLst/>
          </a:prstGeom>
        </p:spPr>
        <p:txBody>
          <a:bodyPr anchor="t" rtlCol="false" tIns="0" lIns="0" bIns="0" rIns="0">
            <a:spAutoFit/>
          </a:bodyPr>
          <a:lstStyle/>
          <a:p>
            <a:pPr algn="ctr">
              <a:lnSpc>
                <a:spcPts val="5880"/>
              </a:lnSpc>
            </a:pPr>
            <a:r>
              <a:rPr lang="en-US" b="true" sz="4200" i="true" u="sng">
                <a:solidFill>
                  <a:srgbClr val="FFFFFF"/>
                </a:solidFill>
                <a:latin typeface="Noto Sans Bold Italics"/>
                <a:ea typeface="Noto Sans Bold Italics"/>
                <a:cs typeface="Noto Sans Bold Italics"/>
                <a:sym typeface="Noto Sans Bold Italics"/>
              </a:rPr>
              <a:t>Kết luận</a:t>
            </a:r>
          </a:p>
        </p:txBody>
      </p:sp>
      <p:sp>
        <p:nvSpPr>
          <p:cNvPr name="TextBox 9" id="9"/>
          <p:cNvSpPr txBox="true"/>
          <p:nvPr/>
        </p:nvSpPr>
        <p:spPr>
          <a:xfrm rot="0">
            <a:off x="273961" y="1974807"/>
            <a:ext cx="18362760" cy="3559812"/>
          </a:xfrm>
          <a:prstGeom prst="rect">
            <a:avLst/>
          </a:prstGeom>
        </p:spPr>
        <p:txBody>
          <a:bodyPr anchor="t" rtlCol="false" tIns="0" lIns="0" bIns="0" rIns="0">
            <a:spAutoFit/>
          </a:bodyPr>
          <a:lstStyle/>
          <a:p>
            <a:pPr algn="l" marL="626107" indent="-313054" lvl="1">
              <a:lnSpc>
                <a:spcPts val="7249"/>
              </a:lnSpc>
              <a:buFont typeface="Arial"/>
              <a:buChar char="•"/>
            </a:pPr>
            <a:r>
              <a:rPr lang="en-US" b="true" sz="2899" spc="11">
                <a:solidFill>
                  <a:srgbClr val="FFFFFF"/>
                </a:solidFill>
                <a:latin typeface="Times New Roman Bold"/>
                <a:ea typeface="Times New Roman Bold"/>
                <a:cs typeface="Times New Roman Bold"/>
                <a:sym typeface="Times New Roman Bold"/>
              </a:rPr>
              <a:t>Hoàn thành hệ thống quản lý công v</a:t>
            </a:r>
            <a:r>
              <a:rPr lang="en-US" b="true" sz="2899" spc="11">
                <a:solidFill>
                  <a:srgbClr val="FFFFFF"/>
                </a:solidFill>
                <a:latin typeface="Times New Roman Bold"/>
                <a:ea typeface="Times New Roman Bold"/>
                <a:cs typeface="Times New Roman Bold"/>
                <a:sym typeface="Times New Roman Bold"/>
              </a:rPr>
              <a:t>iệc cá nhân với 15+ giao diện, 50+ API, 29 bảng CSDL</a:t>
            </a:r>
          </a:p>
          <a:p>
            <a:pPr algn="l" marL="626107" indent="-313054" lvl="1">
              <a:lnSpc>
                <a:spcPts val="7249"/>
              </a:lnSpc>
              <a:buFont typeface="Arial"/>
              <a:buChar char="•"/>
            </a:pPr>
            <a:r>
              <a:rPr lang="en-US" b="true" sz="2899" spc="11">
                <a:solidFill>
                  <a:srgbClr val="FFFFFF"/>
                </a:solidFill>
                <a:latin typeface="Times New Roman Bold"/>
                <a:ea typeface="Times New Roman Bold"/>
                <a:cs typeface="Times New Roman Bold"/>
                <a:sym typeface="Times New Roman Bold"/>
              </a:rPr>
              <a:t>Tích hợp thành công AI Google Gemini hỗ trợ tiếng Việt: tạo task, phân rã subtask, chatbot cố vấn</a:t>
            </a:r>
          </a:p>
          <a:p>
            <a:pPr algn="l" marL="626107" indent="-313054" lvl="1">
              <a:lnSpc>
                <a:spcPts val="7249"/>
              </a:lnSpc>
              <a:buFont typeface="Arial"/>
              <a:buChar char="•"/>
            </a:pPr>
            <a:r>
              <a:rPr lang="en-US" b="true" sz="2899" spc="11">
                <a:solidFill>
                  <a:srgbClr val="FFFFFF"/>
                </a:solidFill>
                <a:latin typeface="Times New Roman Bold"/>
                <a:ea typeface="Times New Roman Bold"/>
                <a:cs typeface="Times New Roman Bold"/>
                <a:sym typeface="Times New Roman Bold"/>
              </a:rPr>
              <a:t>Ứng dụng gamification: XP, Level, Badge, Streak, Leaderboard tạo động lực sử dụng</a:t>
            </a:r>
          </a:p>
          <a:p>
            <a:pPr algn="l" marL="626107" indent="-313054" lvl="1">
              <a:lnSpc>
                <a:spcPts val="7249"/>
              </a:lnSpc>
              <a:buFont typeface="Arial"/>
              <a:buChar char="•"/>
            </a:pPr>
            <a:r>
              <a:rPr lang="en-US" b="true" sz="2899" spc="11">
                <a:solidFill>
                  <a:srgbClr val="FFFFFF"/>
                </a:solidFill>
                <a:latin typeface="Times New Roman Bold"/>
                <a:ea typeface="Times New Roman Bold"/>
                <a:cs typeface="Times New Roman Bold"/>
                <a:sym typeface="Times New Roman Bold"/>
              </a:rPr>
              <a:t>Deploy thành công lên Render.com + TiDB Cloud + APK Android miễn phí, mã nguồn mở</a:t>
            </a:r>
          </a:p>
        </p:txBody>
      </p:sp>
      <p:sp>
        <p:nvSpPr>
          <p:cNvPr name="TextBox 10" id="10"/>
          <p:cNvSpPr txBox="true"/>
          <p:nvPr/>
        </p:nvSpPr>
        <p:spPr>
          <a:xfrm rot="0">
            <a:off x="0" y="5725119"/>
            <a:ext cx="7344023" cy="712469"/>
          </a:xfrm>
          <a:prstGeom prst="rect">
            <a:avLst/>
          </a:prstGeom>
        </p:spPr>
        <p:txBody>
          <a:bodyPr anchor="t" rtlCol="false" tIns="0" lIns="0" bIns="0" rIns="0">
            <a:spAutoFit/>
          </a:bodyPr>
          <a:lstStyle/>
          <a:p>
            <a:pPr algn="ctr">
              <a:lnSpc>
                <a:spcPts val="5880"/>
              </a:lnSpc>
            </a:pPr>
            <a:r>
              <a:rPr lang="en-US" b="true" sz="4200" i="true">
                <a:solidFill>
                  <a:srgbClr val="FFFFFF"/>
                </a:solidFill>
                <a:latin typeface="Noto Sans Bold Italics"/>
                <a:ea typeface="Noto Sans Bold Italics"/>
                <a:cs typeface="Noto Sans Bold Italics"/>
                <a:sym typeface="Noto Sans Bold Italics"/>
              </a:rPr>
              <a:t>Phương hướng phát triển</a:t>
            </a:r>
          </a:p>
        </p:txBody>
      </p:sp>
      <p:sp>
        <p:nvSpPr>
          <p:cNvPr name="TextBox 11" id="11"/>
          <p:cNvSpPr txBox="true"/>
          <p:nvPr/>
        </p:nvSpPr>
        <p:spPr>
          <a:xfrm rot="0">
            <a:off x="273961" y="6504264"/>
            <a:ext cx="17749726" cy="4021964"/>
          </a:xfrm>
          <a:prstGeom prst="rect">
            <a:avLst/>
          </a:prstGeom>
        </p:spPr>
        <p:txBody>
          <a:bodyPr anchor="t" rtlCol="false" tIns="0" lIns="0" bIns="0" rIns="0">
            <a:spAutoFit/>
          </a:bodyPr>
          <a:lstStyle/>
          <a:p>
            <a:pPr algn="l" marL="626107" indent="-313054" lvl="1">
              <a:lnSpc>
                <a:spcPts val="5335"/>
              </a:lnSpc>
              <a:buFont typeface="Arial"/>
              <a:buChar char="•"/>
            </a:pPr>
            <a:r>
              <a:rPr lang="en-US" b="true" sz="2899">
                <a:solidFill>
                  <a:srgbClr val="FFFFFF"/>
                </a:solidFill>
                <a:latin typeface="Times New Roman Bold"/>
                <a:ea typeface="Times New Roman Bold"/>
                <a:cs typeface="Times New Roman Bold"/>
                <a:sym typeface="Times New Roman Bold"/>
              </a:rPr>
              <a:t>Phát triển ứng dụng di động native với Flutter hoặc React </a:t>
            </a:r>
            <a:r>
              <a:rPr lang="en-US" b="true" sz="2899">
                <a:solidFill>
                  <a:srgbClr val="FFFFFF"/>
                </a:solidFill>
                <a:latin typeface="Times New Roman Bold"/>
                <a:ea typeface="Times New Roman Bold"/>
                <a:cs typeface="Times New Roman Bold"/>
                <a:sym typeface="Times New Roman Bold"/>
              </a:rPr>
              <a:t>Native</a:t>
            </a:r>
          </a:p>
          <a:p>
            <a:pPr algn="l" marL="626107" indent="-313054" lvl="1">
              <a:lnSpc>
                <a:spcPts val="5335"/>
              </a:lnSpc>
              <a:buFont typeface="Arial"/>
              <a:buChar char="•"/>
            </a:pPr>
            <a:r>
              <a:rPr lang="en-US" b="true" sz="2899">
                <a:solidFill>
                  <a:srgbClr val="FFFFFF"/>
                </a:solidFill>
                <a:latin typeface="Times New Roman Bold"/>
                <a:ea typeface="Times New Roman Bold"/>
                <a:cs typeface="Times New Roman Bold"/>
                <a:sym typeface="Times New Roman Bold"/>
              </a:rPr>
              <a:t>Tích hợp chế độ offline-first bằng Service Worker sử dụng khi không có mạng</a:t>
            </a:r>
          </a:p>
          <a:p>
            <a:pPr algn="l" marL="626107" indent="-313054" lvl="1">
              <a:lnSpc>
                <a:spcPts val="5335"/>
              </a:lnSpc>
              <a:buFont typeface="Arial"/>
              <a:buChar char="•"/>
            </a:pPr>
            <a:r>
              <a:rPr lang="en-US" b="true" sz="2899">
                <a:solidFill>
                  <a:srgbClr val="FFFFFF"/>
                </a:solidFill>
                <a:latin typeface="Times New Roman Bold"/>
                <a:ea typeface="Times New Roman Bold"/>
                <a:cs typeface="Times New Roman Bold"/>
                <a:sym typeface="Times New Roman Bold"/>
              </a:rPr>
              <a:t>Thêm Push Notification nhắc nhở deadline tự động</a:t>
            </a:r>
          </a:p>
          <a:p>
            <a:pPr algn="l" marL="626107" indent="-313054" lvl="1">
              <a:lnSpc>
                <a:spcPts val="5335"/>
              </a:lnSpc>
              <a:buFont typeface="Arial"/>
              <a:buChar char="•"/>
            </a:pPr>
            <a:r>
              <a:rPr lang="en-US" b="true" sz="2899">
                <a:solidFill>
                  <a:srgbClr val="FFFFFF"/>
                </a:solidFill>
                <a:latin typeface="Times New Roman Bold"/>
                <a:ea typeface="Times New Roman Bold"/>
                <a:cs typeface="Times New Roman Bold"/>
                <a:sym typeface="Times New Roman Bold"/>
              </a:rPr>
              <a:t>Nâng cấp AI sang mô hình GPT-4 hoặc Gemini Ultra  phân tích hành vi thông minh hơn</a:t>
            </a:r>
          </a:p>
          <a:p>
            <a:pPr algn="l" marL="626107" indent="-313054" lvl="1">
              <a:lnSpc>
                <a:spcPts val="5335"/>
              </a:lnSpc>
              <a:buFont typeface="Arial"/>
              <a:buChar char="•"/>
            </a:pPr>
            <a:r>
              <a:rPr lang="en-US" b="true" sz="2899">
                <a:solidFill>
                  <a:srgbClr val="FFFFFF"/>
                </a:solidFill>
                <a:latin typeface="Times New Roman Bold"/>
                <a:ea typeface="Times New Roman Bold"/>
                <a:cs typeface="Times New Roman Bold"/>
                <a:sym typeface="Times New Roman Bold"/>
              </a:rPr>
              <a:t>Phát triển API mở với Swagger/OpenAPI  cho phép bên thứ ba tích hợp</a:t>
            </a:r>
          </a:p>
          <a:p>
            <a:pPr algn="l">
              <a:lnSpc>
                <a:spcPts val="5335"/>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5984" r="-65984" b="0"/>
            </a:stretch>
          </a:blipFill>
        </p:spPr>
      </p:sp>
      <p:grpSp>
        <p:nvGrpSpPr>
          <p:cNvPr name="Group 3" id="3"/>
          <p:cNvGrpSpPr/>
          <p:nvPr/>
        </p:nvGrpSpPr>
        <p:grpSpPr>
          <a:xfrm rot="0">
            <a:off x="-86773" y="3121406"/>
            <a:ext cx="19649870" cy="3875622"/>
            <a:chOff x="0" y="0"/>
            <a:chExt cx="2204518" cy="434806"/>
          </a:xfrm>
        </p:grpSpPr>
        <p:sp>
          <p:nvSpPr>
            <p:cNvPr name="Freeform 4" id="4"/>
            <p:cNvSpPr/>
            <p:nvPr/>
          </p:nvSpPr>
          <p:spPr>
            <a:xfrm flipH="false" flipV="false" rot="0">
              <a:off x="0" y="0"/>
              <a:ext cx="2204518" cy="434806"/>
            </a:xfrm>
            <a:custGeom>
              <a:avLst/>
              <a:gdLst/>
              <a:ahLst/>
              <a:cxnLst/>
              <a:rect r="r" b="b" t="t" l="l"/>
              <a:pathLst>
                <a:path h="434806" w="2204518">
                  <a:moveTo>
                    <a:pt x="9850" y="0"/>
                  </a:moveTo>
                  <a:lnTo>
                    <a:pt x="2194668" y="0"/>
                  </a:lnTo>
                  <a:cubicBezTo>
                    <a:pt x="2197280" y="0"/>
                    <a:pt x="2199785" y="1038"/>
                    <a:pt x="2201633" y="2885"/>
                  </a:cubicBezTo>
                  <a:cubicBezTo>
                    <a:pt x="2203480" y="4732"/>
                    <a:pt x="2204518" y="7237"/>
                    <a:pt x="2204518" y="9850"/>
                  </a:cubicBezTo>
                  <a:lnTo>
                    <a:pt x="2204518" y="424956"/>
                  </a:lnTo>
                  <a:cubicBezTo>
                    <a:pt x="2204518" y="427568"/>
                    <a:pt x="2203480" y="430074"/>
                    <a:pt x="2201633" y="431921"/>
                  </a:cubicBezTo>
                  <a:cubicBezTo>
                    <a:pt x="2199785" y="433768"/>
                    <a:pt x="2197280" y="434806"/>
                    <a:pt x="2194668" y="434806"/>
                  </a:cubicBezTo>
                  <a:lnTo>
                    <a:pt x="9850" y="434806"/>
                  </a:lnTo>
                  <a:cubicBezTo>
                    <a:pt x="4410" y="434806"/>
                    <a:pt x="0" y="430396"/>
                    <a:pt x="0" y="424956"/>
                  </a:cubicBezTo>
                  <a:lnTo>
                    <a:pt x="0" y="9850"/>
                  </a:lnTo>
                  <a:cubicBezTo>
                    <a:pt x="0" y="7237"/>
                    <a:pt x="1038" y="4732"/>
                    <a:pt x="2885" y="2885"/>
                  </a:cubicBezTo>
                  <a:cubicBezTo>
                    <a:pt x="4732" y="1038"/>
                    <a:pt x="7237" y="0"/>
                    <a:pt x="9850" y="0"/>
                  </a:cubicBezTo>
                  <a:close/>
                </a:path>
              </a:pathLst>
            </a:custGeom>
            <a:gradFill rotWithShape="true">
              <a:gsLst>
                <a:gs pos="0">
                  <a:srgbClr val="31A1D4">
                    <a:alpha val="100000"/>
                  </a:srgbClr>
                </a:gs>
                <a:gs pos="100000">
                  <a:srgbClr val="001C37">
                    <a:alpha val="100000"/>
                  </a:srgbClr>
                </a:gs>
              </a:gsLst>
              <a:lin ang="2700000"/>
            </a:gradFill>
          </p:spPr>
        </p:sp>
        <p:sp>
          <p:nvSpPr>
            <p:cNvPr name="TextBox 5" id="5"/>
            <p:cNvSpPr txBox="true"/>
            <p:nvPr/>
          </p:nvSpPr>
          <p:spPr>
            <a:xfrm>
              <a:off x="0" y="-57150"/>
              <a:ext cx="2204518" cy="491956"/>
            </a:xfrm>
            <a:prstGeom prst="rect">
              <a:avLst/>
            </a:prstGeom>
          </p:spPr>
          <p:txBody>
            <a:bodyPr anchor="ctr" rtlCol="false" tIns="50800" lIns="50800" bIns="50800" rIns="50800"/>
            <a:lstStyle/>
            <a:p>
              <a:pPr algn="ctr" marL="0" indent="0" lvl="0">
                <a:lnSpc>
                  <a:spcPts val="3357"/>
                </a:lnSpc>
                <a:spcBef>
                  <a:spcPct val="0"/>
                </a:spcBef>
              </a:pPr>
            </a:p>
          </p:txBody>
        </p:sp>
      </p:grpSp>
      <p:sp>
        <p:nvSpPr>
          <p:cNvPr name="Freeform 6" id="6"/>
          <p:cNvSpPr/>
          <p:nvPr/>
        </p:nvSpPr>
        <p:spPr>
          <a:xfrm flipH="false" flipV="false" rot="0">
            <a:off x="-2108849" y="6034841"/>
            <a:ext cx="9438577" cy="6748583"/>
          </a:xfrm>
          <a:custGeom>
            <a:avLst/>
            <a:gdLst/>
            <a:ahLst/>
            <a:cxnLst/>
            <a:rect r="r" b="b" t="t" l="l"/>
            <a:pathLst>
              <a:path h="6748583" w="9438577">
                <a:moveTo>
                  <a:pt x="0" y="0"/>
                </a:moveTo>
                <a:lnTo>
                  <a:pt x="9438578" y="0"/>
                </a:lnTo>
                <a:lnTo>
                  <a:pt x="9438578" y="6748583"/>
                </a:lnTo>
                <a:lnTo>
                  <a:pt x="0" y="67485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482992" y="7162049"/>
            <a:ext cx="3636307" cy="3124951"/>
            <a:chOff x="0" y="0"/>
            <a:chExt cx="812800" cy="698500"/>
          </a:xfrm>
        </p:grpSpPr>
        <p:sp>
          <p:nvSpPr>
            <p:cNvPr name="Freeform 8" id="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9" id="9"/>
            <p:cNvSpPr txBox="true"/>
            <p:nvPr/>
          </p:nvSpPr>
          <p:spPr>
            <a:xfrm>
              <a:off x="114300" y="-57150"/>
              <a:ext cx="584200" cy="755650"/>
            </a:xfrm>
            <a:prstGeom prst="rect">
              <a:avLst/>
            </a:prstGeom>
          </p:spPr>
          <p:txBody>
            <a:bodyPr anchor="ctr" rtlCol="false" tIns="50800" lIns="50800" bIns="50800" rIns="50800"/>
            <a:lstStyle/>
            <a:p>
              <a:pPr algn="ctr" marL="0" indent="0" lvl="0">
                <a:lnSpc>
                  <a:spcPts val="3357"/>
                </a:lnSpc>
                <a:spcBef>
                  <a:spcPct val="0"/>
                </a:spcBef>
              </a:pPr>
            </a:p>
          </p:txBody>
        </p:sp>
      </p:grpSp>
      <p:grpSp>
        <p:nvGrpSpPr>
          <p:cNvPr name="Group 10" id="10"/>
          <p:cNvGrpSpPr/>
          <p:nvPr/>
        </p:nvGrpSpPr>
        <p:grpSpPr>
          <a:xfrm rot="0">
            <a:off x="1028700" y="8501408"/>
            <a:ext cx="4155559" cy="3571183"/>
            <a:chOff x="0" y="0"/>
            <a:chExt cx="812800" cy="698500"/>
          </a:xfrm>
        </p:grpSpPr>
        <p:sp>
          <p:nvSpPr>
            <p:cNvPr name="Freeform 11" id="1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12" id="12"/>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grpSp>
        <p:nvGrpSpPr>
          <p:cNvPr name="Group 13" id="13"/>
          <p:cNvGrpSpPr/>
          <p:nvPr/>
        </p:nvGrpSpPr>
        <p:grpSpPr>
          <a:xfrm rot="0">
            <a:off x="335162" y="6342923"/>
            <a:ext cx="1906328" cy="1638251"/>
            <a:chOff x="0" y="0"/>
            <a:chExt cx="812800" cy="698500"/>
          </a:xfrm>
        </p:grpSpPr>
        <p:sp>
          <p:nvSpPr>
            <p:cNvPr name="Freeform 14" id="1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35000"/>
                  </a:srgbClr>
                </a:gs>
                <a:gs pos="100000">
                  <a:srgbClr val="035E8E">
                    <a:alpha val="0"/>
                  </a:srgbClr>
                </a:gs>
              </a:gsLst>
              <a:lin ang="0"/>
            </a:gradFill>
          </p:spPr>
        </p:sp>
        <p:sp>
          <p:nvSpPr>
            <p:cNvPr name="TextBox 15" id="15"/>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grpSp>
        <p:nvGrpSpPr>
          <p:cNvPr name="Group 16" id="16"/>
          <p:cNvGrpSpPr/>
          <p:nvPr/>
        </p:nvGrpSpPr>
        <p:grpSpPr>
          <a:xfrm rot="0">
            <a:off x="3746822" y="8501408"/>
            <a:ext cx="1510485" cy="1298073"/>
            <a:chOff x="0" y="0"/>
            <a:chExt cx="812800" cy="698500"/>
          </a:xfrm>
        </p:grpSpPr>
        <p:sp>
          <p:nvSpPr>
            <p:cNvPr name="Freeform 17" id="1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31A1D4">
                    <a:alpha val="47000"/>
                  </a:srgbClr>
                </a:gs>
                <a:gs pos="100000">
                  <a:srgbClr val="035E8E">
                    <a:alpha val="0"/>
                  </a:srgbClr>
                </a:gs>
              </a:gsLst>
              <a:lin ang="0"/>
            </a:gradFill>
          </p:spPr>
        </p:sp>
        <p:sp>
          <p:nvSpPr>
            <p:cNvPr name="TextBox 18" id="18"/>
            <p:cNvSpPr txBox="true"/>
            <p:nvPr/>
          </p:nvSpPr>
          <p:spPr>
            <a:xfrm>
              <a:off x="114300" y="-57150"/>
              <a:ext cx="584200" cy="755650"/>
            </a:xfrm>
            <a:prstGeom prst="rect">
              <a:avLst/>
            </a:prstGeom>
          </p:spPr>
          <p:txBody>
            <a:bodyPr anchor="ctr" rtlCol="false" tIns="50800" lIns="50800" bIns="50800" rIns="50800"/>
            <a:lstStyle/>
            <a:p>
              <a:pPr algn="ctr">
                <a:lnSpc>
                  <a:spcPts val="3357"/>
                </a:lnSpc>
              </a:pPr>
            </a:p>
          </p:txBody>
        </p:sp>
      </p:grpSp>
      <p:sp>
        <p:nvSpPr>
          <p:cNvPr name="TextBox 19" id="19"/>
          <p:cNvSpPr txBox="true"/>
          <p:nvPr/>
        </p:nvSpPr>
        <p:spPr>
          <a:xfrm rot="0">
            <a:off x="675282" y="3220559"/>
            <a:ext cx="16937436" cy="3439192"/>
          </a:xfrm>
          <a:prstGeom prst="rect">
            <a:avLst/>
          </a:prstGeom>
        </p:spPr>
        <p:txBody>
          <a:bodyPr anchor="t" rtlCol="false" tIns="0" lIns="0" bIns="0" rIns="0">
            <a:spAutoFit/>
          </a:bodyPr>
          <a:lstStyle/>
          <a:p>
            <a:pPr algn="ctr">
              <a:lnSpc>
                <a:spcPts val="13613"/>
              </a:lnSpc>
              <a:spcBef>
                <a:spcPct val="0"/>
              </a:spcBef>
            </a:pPr>
            <a:r>
              <a:rPr lang="en-US" b="true" sz="9723">
                <a:solidFill>
                  <a:srgbClr val="FFFFFF"/>
                </a:solidFill>
                <a:latin typeface="Times New Roman Bold"/>
                <a:ea typeface="Times New Roman Bold"/>
                <a:cs typeface="Times New Roman Bold"/>
                <a:sym typeface="Times New Roman Bold"/>
              </a:rPr>
              <a:t>XIN CẢM ƠN QUÝ THẦY CÔ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DAHODihPQdk</dc:identifier>
  <dcterms:modified xsi:type="dcterms:W3CDTF">2011-08-01T06:04:30Z</dcterms:modified>
  <cp:revision>1</cp:revision>
  <dc:title>Blue Modern Technology Company Presentation</dc:title>
</cp:coreProperties>
</file>